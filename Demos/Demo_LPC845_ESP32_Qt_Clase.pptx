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presProps.xml" ContentType="application/vnd.openxmlformats-officedocument.presentationml.presProps+xml"/>
  <Override PartName="/ppt/theme/theme1.xml" ContentType="application/vnd.openxmlformats-officedocument.theme+xml"/>
  <Override PartName="/ppt/theme/theme3.xml" ContentType="application/vnd.openxmlformats-officedocument.theme+xml"/>
  <Override PartName="/ppt/slideLayouts/_rels/slideLayout2.xml.rels" ContentType="application/vnd.openxmlformats-package.relationships+xml"/>
  <Override PartName="/ppt/slideLayouts/_rels/slideLayout1.xml.rels" ContentType="application/vnd.openxmlformats-package.relationship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_rels/presentation.xml.rels" ContentType="application/vnd.openxmlformats-package.relationships+xml"/>
  <Override PartName="/ppt/notesMasters/_rels/notesMaster1.xml.rels" ContentType="application/vnd.openxmlformats-package.relationships+xml"/>
  <Override PartName="/ppt/notesMasters/notesMaster1.xml" ContentType="application/vnd.openxmlformats-officedocument.presentationml.notesMaster+xml"/>
  <Override PartName="/ppt/slides/_rels/slide9.xml.rels" ContentType="application/vnd.openxmlformats-package.relationships+xml"/>
  <Override PartName="/ppt/slides/_rels/slide11.xml.rels" ContentType="application/vnd.openxmlformats-package.relationships+xml"/>
  <Override PartName="/ppt/slides/_rels/slide13.xml.rels" ContentType="application/vnd.openxmlformats-package.relationships+xml"/>
  <Override PartName="/ppt/slides/_rels/slide12.xml.rels" ContentType="application/vnd.openxmlformats-package.relationships+xml"/>
  <Override PartName="/ppt/slides/_rels/slide14.xml.rels" ContentType="application/vnd.openxmlformats-package.relationships+xml"/>
  <Override PartName="/ppt/slides/_rels/slide15.xml.rels" ContentType="application/vnd.openxmlformats-package.relationships+xml"/>
  <Override PartName="/ppt/slides/_rels/slide1.xml.rels" ContentType="application/vnd.openxmlformats-package.relationships+xml"/>
  <Override PartName="/ppt/slides/_rels/slide2.xml.rels" ContentType="application/vnd.openxmlformats-package.relationships+xml"/>
  <Override PartName="/ppt/slides/_rels/slide3.xml.rels" ContentType="application/vnd.openxmlformats-package.relationships+xml"/>
  <Override PartName="/ppt/slides/_rels/slide4.xml.rels" ContentType="application/vnd.openxmlformats-package.relationships+xml"/>
  <Override PartName="/ppt/slides/_rels/slide5.xml.rels" ContentType="application/vnd.openxmlformats-package.relationships+xml"/>
  <Override PartName="/ppt/slides/_rels/slide6.xml.rels" ContentType="application/vnd.openxmlformats-package.relationships+xml"/>
  <Override PartName="/ppt/slides/_rels/slide7.xml.rels" ContentType="application/vnd.openxmlformats-package.relationships+xml"/>
  <Override PartName="/ppt/slides/_rels/slide10.xml.rels" ContentType="application/vnd.openxmlformats-package.relationships+xml"/>
  <Override PartName="/ppt/slides/_rels/slide8.xml.rels" ContentType="application/vnd.openxmlformats-package.relationships+xml"/>
  <Override PartName="/ppt/slides/slide13.xml" ContentType="application/vnd.openxmlformats-officedocument.presentationml.slide+xml"/>
  <Override PartName="/ppt/slides/slide12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10.xml" ContentType="application/vnd.openxmlformats-officedocument.presentationml.slide+xml"/>
  <Override PartName="/ppt/slides/slide8.xml" ContentType="application/vnd.openxmlformats-officedocument.presentationml.slide+xml"/>
  <Override PartName="/ppt/slides/slide11.xml" ContentType="application/vnd.openxmlformats-officedocument.presentationml.slide+xml"/>
  <Override PartName="/ppt/slides/slide9.xml" ContentType="application/vnd.openxmlformats-officedocument.presentationml.slide+xml"/>
  <Override PartName="/ppt/notesSlides/_rels/notesSlide9.xml.rels" ContentType="application/vnd.openxmlformats-package.relationships+xml"/>
  <Override PartName="/ppt/notesSlides/_rels/notesSlide6.xml.rels" ContentType="application/vnd.openxmlformats-package.relationships+xml"/>
  <Override PartName="/ppt/notesSlides/_rels/notesSlide13.xml.rels" ContentType="application/vnd.openxmlformats-package.relationships+xml"/>
  <Override PartName="/ppt/notesSlides/_rels/notesSlide12.xml.rels" ContentType="application/vnd.openxmlformats-package.relationships+xml"/>
  <Override PartName="/ppt/notesSlides/_rels/notesSlide5.xml.rels" ContentType="application/vnd.openxmlformats-package.relationships+xml"/>
  <Override PartName="/ppt/notesSlides/_rels/notesSlide8.xml.rels" ContentType="application/vnd.openxmlformats-package.relationships+xml"/>
  <Override PartName="/ppt/notesSlides/_rels/notesSlide7.xml.rels" ContentType="application/vnd.openxmlformats-package.relationships+xml"/>
  <Override PartName="/ppt/notesSlides/_rels/notesSlide14.xml.rels" ContentType="application/vnd.openxmlformats-package.relationships+xml"/>
  <Override PartName="/ppt/notesSlides/_rels/notesSlide1.xml.rels" ContentType="application/vnd.openxmlformats-package.relationships+xml"/>
  <Override PartName="/ppt/notesSlides/_rels/notesSlide15.xml.rels" ContentType="application/vnd.openxmlformats-package.relationships+xml"/>
  <Override PartName="/ppt/notesSlides/_rels/notesSlide2.xml.rels" ContentType="application/vnd.openxmlformats-package.relationships+xml"/>
  <Override PartName="/ppt/notesSlides/_rels/notesSlide3.xml.rels" ContentType="application/vnd.openxmlformats-package.relationships+xml"/>
  <Override PartName="/ppt/notesSlides/_rels/notesSlide10.xml.rels" ContentType="application/vnd.openxmlformats-package.relationships+xml"/>
  <Override PartName="/ppt/notesSlides/_rels/notesSlide4.xml.rels" ContentType="application/vnd.openxmlformats-package.relationships+xml"/>
  <Override PartName="/ppt/notesSlides/_rels/notesSlide11.xml.rels" ContentType="application/vnd.openxmlformats-package.relationships+xml"/>
  <Override PartName="/ppt/notesSlides/notesSlide13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1.xml" ContentType="application/vnd.openxmlformats-officedocument.presentationml.notes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notesMasterIdLst>
    <p:notesMasterId r:id="rId3"/>
  </p:notesMasterIdLst>
  <p:sldIdLst>
    <p:sldId id="256" r:id="rId4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8" r:id="rId16"/>
    <p:sldId id="269" r:id="rId17"/>
    <p:sldId id="270" r:id="rId18"/>
  </p:sldIdLst>
  <p:sldSz cx="12192000" cy="6858000"/>
  <p:notesSz cx="6858000" cy="12192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notesMaster" Target="notesMasters/notesMaster1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slide" Target="slides/slide7.xml"/><Relationship Id="rId11" Type="http://schemas.openxmlformats.org/officeDocument/2006/relationships/slide" Target="slides/slide8.xml"/><Relationship Id="rId12" Type="http://schemas.openxmlformats.org/officeDocument/2006/relationships/slide" Target="slides/slide9.xml"/><Relationship Id="rId13" Type="http://schemas.openxmlformats.org/officeDocument/2006/relationships/slide" Target="slides/slide10.xml"/><Relationship Id="rId14" Type="http://schemas.openxmlformats.org/officeDocument/2006/relationships/slide" Target="slides/slide11.xml"/><Relationship Id="rId15" Type="http://schemas.openxmlformats.org/officeDocument/2006/relationships/slide" Target="slides/slide12.xml"/><Relationship Id="rId16" Type="http://schemas.openxmlformats.org/officeDocument/2006/relationships/slide" Target="slides/slide13.xml"/><Relationship Id="rId17" Type="http://schemas.openxmlformats.org/officeDocument/2006/relationships/slide" Target="slides/slide14.xml"/><Relationship Id="rId18" Type="http://schemas.openxmlformats.org/officeDocument/2006/relationships/slide" Target="slides/slide15.xml"/><Relationship Id="rId19" Type="http://schemas.openxmlformats.org/officeDocument/2006/relationships/presProps" Target="presProps.xml"/>
</Relationships>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3.xml"/>
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laceHolder 1"/>
          <p:cNvSpPr>
            <a:spLocks noGrp="1"/>
          </p:cNvSpPr>
          <p:nvPr>
            <p:ph type="sldImg"/>
          </p:nvPr>
        </p:nvSpPr>
        <p:spPr>
          <a:xfrm>
            <a:off x="0" y="81252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r>
              <a:rPr b="0" lang="es-AR" sz="1800" strike="noStrike" u="none">
                <a:solidFill>
                  <a:schemeClr val="dk1"/>
                </a:solidFill>
                <a:effectLst/>
                <a:uFillTx/>
                <a:latin typeface="Aptos"/>
              </a:rPr>
              <a:t>Pulse para desplazar la diapositiva</a:t>
            </a:r>
            <a:endParaRPr b="0" lang="es-AR" sz="1800" strike="noStrike" u="non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  <p:sp>
        <p:nvSpPr>
          <p:cNvPr id="7" name="PlaceHolder 2"/>
          <p:cNvSpPr>
            <a:spLocks noGrp="1"/>
          </p:cNvSpPr>
          <p:nvPr>
            <p:ph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>
              <a:buNone/>
            </a:pPr>
            <a:r>
              <a:rPr b="0" lang="es-AR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las notas</a:t>
            </a:r>
            <a:endParaRPr b="0" lang="es-AR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>
              <a:buNone/>
            </a:pPr>
            <a:r>
              <a:rPr b="0" lang="es-AR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&lt;cabecera&gt;</a:t>
            </a:r>
            <a:endParaRPr b="0" lang="es-AR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" name="PlaceHolder 4"/>
          <p:cNvSpPr>
            <a:spLocks noGrp="1"/>
          </p:cNvSpPr>
          <p:nvPr>
            <p:ph type="dt" idx="2"/>
          </p:nvPr>
        </p:nvSpPr>
        <p:spPr>
          <a:xfrm>
            <a:off x="427896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r">
              <a:buNone/>
              <a:defRPr b="0" lang="es-AR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</a:pPr>
            <a:r>
              <a:rPr b="0" lang="es-AR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&lt;fecha/hora&gt;</a:t>
            </a:r>
            <a:endParaRPr b="0" lang="es-AR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" name="PlaceHolder 5"/>
          <p:cNvSpPr>
            <a:spLocks noGrp="1"/>
          </p:cNvSpPr>
          <p:nvPr>
            <p:ph type="ftr" idx="3"/>
          </p:nvPr>
        </p:nvSpPr>
        <p:spPr>
          <a:xfrm>
            <a:off x="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>
              <a:buNone/>
              <a:defRPr b="0" lang="es-AR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buNone/>
            </a:pPr>
            <a:r>
              <a:rPr b="0" lang="es-AR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&lt;pie de página&gt;</a:t>
            </a:r>
            <a:endParaRPr b="0" lang="es-AR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" name="PlaceHolder 6"/>
          <p:cNvSpPr>
            <a:spLocks noGrp="1"/>
          </p:cNvSpPr>
          <p:nvPr>
            <p:ph type="sldNum" idx="4"/>
          </p:nvPr>
        </p:nvSpPr>
        <p:spPr>
          <a:xfrm>
            <a:off x="427896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 algn="r">
              <a:buNone/>
              <a:defRPr b="0" lang="es-AR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</a:pPr>
            <a:fld id="{36044485-D94A-4604-A50D-8476C555748E}" type="slidenum">
              <a:rPr b="0" lang="es-AR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&lt;número&gt;</a:t>
            </a:fld>
            <a:endParaRPr b="0" lang="es-AR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</p:notesMaster>
</file>

<file path=ppt/notesSlides/_rels/notesSlide1.xml.rels><?xml version="1.0" encoding="UTF-8"?>
<Relationships xmlns="http://schemas.openxmlformats.org/package/2006/relationships"><Relationship Id="rId1" Type="http://schemas.openxmlformats.org/officeDocument/2006/relationships/slide" Target="../slides/slide1.xml"/><Relationship Id="rId2" Type="http://schemas.openxmlformats.org/officeDocument/2006/relationships/notesMaster" Target="../notesMasters/notesMaster1.xml"/>
</Relationships>
</file>

<file path=ppt/notesSlides/_rels/notesSlide2.xml.rels><?xml version="1.0" encoding="UTF-8"?>
<Relationships xmlns="http://schemas.openxmlformats.org/package/2006/relationships"><Relationship Id="rId1" Type="http://schemas.openxmlformats.org/officeDocument/2006/relationships/slide" Target="../slides/slide2.xml"/><Relationship Id="rId2" Type="http://schemas.openxmlformats.org/officeDocument/2006/relationships/notesMaster" Target="../notesMasters/notesMaster1.xml"/>
</Relationships>
</file>

<file path=ppt/notesSlides/_rels/notesSlide3.xml.rels><?xml version="1.0" encoding="UTF-8"?>
<Relationships xmlns="http://schemas.openxmlformats.org/package/2006/relationships"><Relationship Id="rId1" Type="http://schemas.openxmlformats.org/officeDocument/2006/relationships/slide" Target="../slides/slide3.xml"/><Relationship Id="rId2" Type="http://schemas.openxmlformats.org/officeDocument/2006/relationships/notesMaster" Target="../notesMasters/notesMaster1.xml"/>
</Relationships>
</file>

<file path=ppt/notesSlides/_rels/notesSlide4.xml.rels><?xml version="1.0" encoding="UTF-8"?>
<Relationships xmlns="http://schemas.openxmlformats.org/package/2006/relationships"><Relationship Id="rId1" Type="http://schemas.openxmlformats.org/officeDocument/2006/relationships/slide" Target="../slides/slide4.xml"/><Relationship Id="rId2" Type="http://schemas.openxmlformats.org/officeDocument/2006/relationships/notesMaster" Target="../notesMasters/notesMaster1.xml"/>
</Relationships>
</file>

<file path=ppt/notesSlides/_rels/notesSlide5.xml.rels><?xml version="1.0" encoding="UTF-8"?>
<Relationships xmlns="http://schemas.openxmlformats.org/package/2006/relationships"><Relationship Id="rId1" Type="http://schemas.openxmlformats.org/officeDocument/2006/relationships/slide" Target="../slides/slide5.xml"/><Relationship Id="rId2" Type="http://schemas.openxmlformats.org/officeDocument/2006/relationships/notesMaster" Target="../notesMasters/notesMaster1.xml"/>
</Relationships>
</file>

<file path=ppt/notesSlides/_rels/notesSlide6.xml.rels><?xml version="1.0" encoding="UTF-8"?>
<Relationships xmlns="http://schemas.openxmlformats.org/package/2006/relationships"><Relationship Id="rId1" Type="http://schemas.openxmlformats.org/officeDocument/2006/relationships/slide" Target="../slides/slide6.xml"/><Relationship Id="rId2" Type="http://schemas.openxmlformats.org/officeDocument/2006/relationships/notesMaster" Target="../notesMasters/notesMaster1.xml"/>
</Relationships>
</file>

<file path=ppt/notesSlides/_rels/notesSlide7.xml.rels><?xml version="1.0" encoding="UTF-8"?>
<Relationships xmlns="http://schemas.openxmlformats.org/package/2006/relationships"><Relationship Id="rId1" Type="http://schemas.openxmlformats.org/officeDocument/2006/relationships/slide" Target="../slides/slide7.xml"/><Relationship Id="rId2" Type="http://schemas.openxmlformats.org/officeDocument/2006/relationships/notesMaster" Target="../notesMasters/notesMaster1.xml"/>
</Relationships>
</file>

<file path=ppt/notesSlides/_rels/notesSlide8.xml.rels><?xml version="1.0" encoding="UTF-8"?>
<Relationships xmlns="http://schemas.openxmlformats.org/package/2006/relationships"><Relationship Id="rId1" Type="http://schemas.openxmlformats.org/officeDocument/2006/relationships/slide" Target="../slides/slide8.xml"/><Relationship Id="rId2" Type="http://schemas.openxmlformats.org/officeDocument/2006/relationships/notesMaster" Target="../notesMasters/notesMaster1.xml"/>
</Relationships>
</file>

<file path=ppt/notesSlides/_rels/notesSlide9.xml.rels><?xml version="1.0" encoding="UTF-8"?>
<Relationships xmlns="http://schemas.openxmlformats.org/package/2006/relationships"><Relationship Id="rId1" Type="http://schemas.openxmlformats.org/officeDocument/2006/relationships/slide" Target="../slides/slide9.xml"/><Relationship Id="rId2" Type="http://schemas.openxmlformats.org/officeDocument/2006/relationships/notesMaster" Target="../notesMasters/notesMaster1.xml"/>
</Relationships>
</file>

<file path=ppt/notesSlides/_rels/notesSlide10.xml.rels><?xml version="1.0" encoding="UTF-8"?>
<Relationships xmlns="http://schemas.openxmlformats.org/package/2006/relationships"><Relationship Id="rId1" Type="http://schemas.openxmlformats.org/officeDocument/2006/relationships/slide" Target="../slides/slide10.xml"/><Relationship Id="rId2" Type="http://schemas.openxmlformats.org/officeDocument/2006/relationships/notesMaster" Target="../notesMasters/notesMaster1.xml"/>
</Relationships>
</file>

<file path=ppt/notesSlides/_rels/notesSlide11.xml.rels><?xml version="1.0" encoding="UTF-8"?>
<Relationships xmlns="http://schemas.openxmlformats.org/package/2006/relationships"><Relationship Id="rId1" Type="http://schemas.openxmlformats.org/officeDocument/2006/relationships/slide" Target="../slides/slide11.xml"/><Relationship Id="rId2" Type="http://schemas.openxmlformats.org/officeDocument/2006/relationships/notesMaster" Target="../notesMasters/notesMaster1.xml"/>
</Relationships>
</file>

<file path=ppt/notesSlides/_rels/notesSlide12.xml.rels><?xml version="1.0" encoding="UTF-8"?>
<Relationships xmlns="http://schemas.openxmlformats.org/package/2006/relationships"><Relationship Id="rId1" Type="http://schemas.openxmlformats.org/officeDocument/2006/relationships/slide" Target="../slides/slide12.xml"/><Relationship Id="rId2" Type="http://schemas.openxmlformats.org/officeDocument/2006/relationships/notesMaster" Target="../notesMasters/notesMaster1.xml"/>
</Relationships>
</file>

<file path=ppt/notesSlides/_rels/notesSlide13.xml.rels><?xml version="1.0" encoding="UTF-8"?>
<Relationships xmlns="http://schemas.openxmlformats.org/package/2006/relationships"><Relationship Id="rId1" Type="http://schemas.openxmlformats.org/officeDocument/2006/relationships/slide" Target="../slides/slide13.xml"/><Relationship Id="rId2" Type="http://schemas.openxmlformats.org/officeDocument/2006/relationships/notesMaster" Target="../notesMasters/notesMaster1.xml"/>
</Relationships>
</file>

<file path=ppt/notesSlides/_rels/notesSlide14.xml.rels><?xml version="1.0" encoding="UTF-8"?>
<Relationships xmlns="http://schemas.openxmlformats.org/package/2006/relationships"><Relationship Id="rId1" Type="http://schemas.openxmlformats.org/officeDocument/2006/relationships/slide" Target="../slides/slide14.xml"/><Relationship Id="rId2" Type="http://schemas.openxmlformats.org/officeDocument/2006/relationships/notesMaster" Target="../notesMasters/notesMaster1.xml"/>
</Relationships>
</file>

<file path=ppt/notesSlides/_rels/notesSlide15.xml.rels><?xml version="1.0" encoding="UTF-8"?>
<Relationships xmlns="http://schemas.openxmlformats.org/package/2006/relationships"><Relationship Id="rId1" Type="http://schemas.openxmlformats.org/officeDocument/2006/relationships/slide" Target="../slides/slide15.xml"/><Relationship Id="rId2" Type="http://schemas.openxmlformats.org/officeDocument/2006/relationships/notesMaster" Target="../notesMasters/notesMaster1.xml"/>
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7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468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</a:pPr>
            <a:endParaRPr b="0" lang="es-A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69" name="PlaceHolder 3"/>
          <p:cNvSpPr>
            <a:spLocks noGrp="1"/>
          </p:cNvSpPr>
          <p:nvPr>
            <p:ph type="sldNum" idx="20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1B331210-3AD4-428B-B1F7-0692B087E01B}" type="slidenum">
              <a: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&lt;número&gt;</a:t>
            </a:fld>
            <a:endParaRPr b="0" lang="es-AR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0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471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</a:pPr>
            <a:endParaRPr b="0" lang="es-A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72" name="PlaceHolder 3"/>
          <p:cNvSpPr>
            <a:spLocks noGrp="1"/>
          </p:cNvSpPr>
          <p:nvPr>
            <p:ph type="sldNum" idx="21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CA88F98E-6BB0-42B0-90C8-C8B70C7BAC9F}" type="slidenum">
              <a: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&lt;número&gt;</a:t>
            </a:fld>
            <a:endParaRPr b="0" lang="es-AR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3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474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</a:pPr>
            <a:endParaRPr b="0" lang="es-A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75" name="PlaceHolder 3"/>
          <p:cNvSpPr>
            <a:spLocks noGrp="1"/>
          </p:cNvSpPr>
          <p:nvPr>
            <p:ph type="sldNum" idx="22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93846177-93FC-46D2-80D7-7D03CD174690}" type="slidenum">
              <a: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&lt;número&gt;</a:t>
            </a:fld>
            <a:endParaRPr b="0" lang="es-AR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6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477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</a:pPr>
            <a:endParaRPr b="0" lang="es-A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78" name="PlaceHolder 3"/>
          <p:cNvSpPr>
            <a:spLocks noGrp="1"/>
          </p:cNvSpPr>
          <p:nvPr>
            <p:ph type="sldNum" idx="23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FAEEBD4F-FC8B-4B04-B6F9-9D176E1F15DB}" type="slidenum">
              <a: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&lt;número&gt;</a:t>
            </a:fld>
            <a:endParaRPr b="0" lang="es-AR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9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480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</a:pPr>
            <a:endParaRPr b="0" lang="es-A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81" name="PlaceHolder 3"/>
          <p:cNvSpPr>
            <a:spLocks noGrp="1"/>
          </p:cNvSpPr>
          <p:nvPr>
            <p:ph type="sldNum" idx="24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812533FC-F5E1-4FF1-A70F-758ABCB9E21D}" type="slidenum">
              <a: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&lt;número&gt;</a:t>
            </a:fld>
            <a:endParaRPr b="0" lang="es-AR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2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483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</a:pPr>
            <a:endParaRPr b="0" lang="es-A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84" name="PlaceHolder 3"/>
          <p:cNvSpPr>
            <a:spLocks noGrp="1"/>
          </p:cNvSpPr>
          <p:nvPr>
            <p:ph type="sldNum" idx="25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A955CAD8-E194-4B8D-94BB-F3DCB8CE0C48}" type="slidenum">
              <a: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&lt;número&gt;</a:t>
            </a:fld>
            <a:endParaRPr b="0" lang="es-AR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5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486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</a:pPr>
            <a:endParaRPr b="0" lang="es-A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87" name="PlaceHolder 3"/>
          <p:cNvSpPr>
            <a:spLocks noGrp="1"/>
          </p:cNvSpPr>
          <p:nvPr>
            <p:ph type="sldNum" idx="26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AAA899AA-0221-47AF-8003-ACB87876E443}" type="slidenum">
              <a: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&lt;número&gt;</a:t>
            </a:fld>
            <a:endParaRPr b="0" lang="es-AR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8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489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</a:pPr>
            <a:endParaRPr b="0" lang="es-A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90" name="PlaceHolder 3"/>
          <p:cNvSpPr>
            <a:spLocks noGrp="1"/>
          </p:cNvSpPr>
          <p:nvPr>
            <p:ph type="sldNum" idx="27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6EA8E366-81DB-4268-A62D-C5C0888D33AA}" type="slidenum">
              <a: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&lt;número&gt;</a:t>
            </a:fld>
            <a:endParaRPr b="0" lang="es-AR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492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</a:pPr>
            <a:endParaRPr b="0" lang="es-A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93" name="PlaceHolder 3"/>
          <p:cNvSpPr>
            <a:spLocks noGrp="1"/>
          </p:cNvSpPr>
          <p:nvPr>
            <p:ph type="sldNum" idx="28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8E683526-224D-4D6B-ABAA-40996ACE7346}" type="slidenum">
              <a: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&lt;número&gt;</a:t>
            </a:fld>
            <a:endParaRPr b="0" lang="es-AR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4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495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</a:pPr>
            <a:endParaRPr b="0" lang="es-A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96" name="PlaceHolder 3"/>
          <p:cNvSpPr>
            <a:spLocks noGrp="1"/>
          </p:cNvSpPr>
          <p:nvPr>
            <p:ph type="sldNum" idx="29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AEF35E6B-7D1D-4C37-A318-3B9518A0CD37}" type="slidenum">
              <a: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&lt;número&gt;</a:t>
            </a:fld>
            <a:endParaRPr b="0" lang="es-AR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7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498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</a:pPr>
            <a:endParaRPr b="0" lang="es-A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99" name="PlaceHolder 3"/>
          <p:cNvSpPr>
            <a:spLocks noGrp="1"/>
          </p:cNvSpPr>
          <p:nvPr>
            <p:ph type="sldNum" idx="30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E867F884-47E5-4B7B-A30C-C19C714EA754}" type="slidenum">
              <a: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&lt;número&gt;</a:t>
            </a:fld>
            <a:endParaRPr b="0" lang="es-AR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0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501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</a:pPr>
            <a:endParaRPr b="0" lang="es-A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02" name="PlaceHolder 3"/>
          <p:cNvSpPr>
            <a:spLocks noGrp="1"/>
          </p:cNvSpPr>
          <p:nvPr>
            <p:ph type="sldNum" idx="31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5A0589B6-20C2-40B6-A074-75130DD6BDAB}" type="slidenum">
              <a: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&lt;número&gt;</a:t>
            </a:fld>
            <a:endParaRPr b="0" lang="es-AR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3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504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</a:pPr>
            <a:endParaRPr b="0" lang="es-A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05" name="PlaceHolder 3"/>
          <p:cNvSpPr>
            <a:spLocks noGrp="1"/>
          </p:cNvSpPr>
          <p:nvPr>
            <p:ph type="sldNum" idx="32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185B6001-C4B4-47F1-9D88-40C95B4010EA}" type="slidenum">
              <a: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&lt;número&gt;</a:t>
            </a:fld>
            <a:endParaRPr b="0" lang="es-AR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6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507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</a:pPr>
            <a:endParaRPr b="0" lang="es-A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08" name="PlaceHolder 3"/>
          <p:cNvSpPr>
            <a:spLocks noGrp="1"/>
          </p:cNvSpPr>
          <p:nvPr>
            <p:ph type="sldNum" idx="33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8C3C8D69-A6FF-4AFB-A991-1BDCFE3E1BA2}" type="slidenum">
              <a: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&lt;número&gt;</a:t>
            </a:fld>
            <a:endParaRPr b="0" lang="es-AR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9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510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</a:pPr>
            <a:endParaRPr b="0" lang="es-A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11" name="PlaceHolder 3"/>
          <p:cNvSpPr>
            <a:spLocks noGrp="1"/>
          </p:cNvSpPr>
          <p:nvPr>
            <p:ph type="sldNum" idx="34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08804C83-2157-4B17-A156-C8A6112529CD}" type="slidenum">
              <a: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&lt;número&gt;</a:t>
            </a:fld>
            <a:endParaRPr b="0" lang="es-AR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DEFAUL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MASTER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Shape 0"/>
          <p:cNvSpPr/>
          <p:nvPr/>
        </p:nvSpPr>
        <p:spPr>
          <a:xfrm>
            <a:off x="0" y="0"/>
            <a:ext cx="12191400" cy="145800"/>
          </a:xfrm>
          <a:prstGeom prst="rect">
            <a:avLst/>
          </a:prstGeom>
          <a:solidFill>
            <a:srgbClr val="123a50"/>
          </a:solidFill>
          <a:ln w="12700">
            <a:solidFill>
              <a:srgbClr val="123a5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s-AR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" name="Text 1"/>
          <p:cNvSpPr/>
          <p:nvPr/>
        </p:nvSpPr>
        <p:spPr>
          <a:xfrm>
            <a:off x="320040" y="6556320"/>
            <a:ext cx="4114440" cy="164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680" strike="noStrike" u="none">
                <a:solidFill>
                  <a:srgbClr val="87939c"/>
                </a:solidFill>
                <a:effectLst/>
                <a:uFillTx/>
                <a:latin typeface="Aptos"/>
                <a:ea typeface="Aptos"/>
              </a:rPr>
              <a:t>Demo LPC845 · ESP32 · Qt</a:t>
            </a:r>
            <a:endParaRPr b="0" lang="es-AR" sz="68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" name="Text 2"/>
          <p:cNvSpPr/>
          <p:nvPr/>
        </p:nvSpPr>
        <p:spPr>
          <a:xfrm>
            <a:off x="9646920" y="6556320"/>
            <a:ext cx="2194200" cy="164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680" strike="noStrike" u="none">
                <a:solidFill>
                  <a:srgbClr val="87939c"/>
                </a:solidFill>
                <a:effectLst/>
                <a:uFillTx/>
                <a:latin typeface="Aptos"/>
                <a:ea typeface="Aptos"/>
              </a:rPr>
              <a:t>Fuente: proyectos entregados</a:t>
            </a:r>
            <a:endParaRPr b="0" lang="es-AR" sz="68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" name="PlaceHolder 1"/>
          <p:cNvSpPr>
            <a:spLocks noGrp="1"/>
          </p:cNvSpPr>
          <p:nvPr>
            <p:ph type="sldNum" idx="1"/>
          </p:nvPr>
        </p:nvSpPr>
        <p:spPr>
          <a:xfrm>
            <a:off x="11868840" y="6556320"/>
            <a:ext cx="799560" cy="2995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en-US" sz="680" strike="noStrike" u="none">
                <a:solidFill>
                  <a:srgbClr val="87939c"/>
                </a:solidFill>
                <a:effectLst/>
                <a:uFillTx/>
                <a:latin typeface="Aptos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fld id="{89E43A03-5B7E-4BA0-B2F0-F17202DA5D52}" type="slidenum">
              <a:rPr b="0" lang="en-US" sz="680" strike="noStrike" u="none">
                <a:solidFill>
                  <a:srgbClr val="87939c"/>
                </a:solidFill>
                <a:effectLst/>
                <a:uFillTx/>
                <a:latin typeface="Aptos"/>
              </a:rPr>
              <a:t>&lt;número&gt;</a:t>
            </a:fld>
            <a:endParaRPr b="0" lang="es-AR" sz="68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" name="PlaceHolder 2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s-AR" sz="1800" strike="noStrike" u="none">
                <a:solidFill>
                  <a:schemeClr val="dk1"/>
                </a:solidFill>
                <a:effectLst/>
                <a:uFillTx/>
                <a:latin typeface="Aptos"/>
              </a:rPr>
              <a:t>Pulse para editar el formato del texto de título</a:t>
            </a:r>
            <a:endParaRPr b="0" lang="es-AR" sz="1800" strike="noStrike" u="non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  <p:sp>
        <p:nvSpPr>
          <p:cNvPr id="5" name="PlaceHolder 3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AR" sz="3200" strike="noStrike" u="none">
                <a:solidFill>
                  <a:schemeClr val="dk1"/>
                </a:solidFill>
                <a:effectLst/>
                <a:uFillTx/>
                <a:latin typeface="Aptos"/>
              </a:rPr>
              <a:t>Pulse para editar el formato de texto del esquema</a:t>
            </a:r>
            <a:endParaRPr b="0" lang="es-AR" sz="3200" strike="noStrike" u="non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AR" sz="2400" strike="noStrike" u="none">
                <a:solidFill>
                  <a:schemeClr val="dk1"/>
                </a:solidFill>
                <a:effectLst/>
                <a:uFillTx/>
                <a:latin typeface="Aptos"/>
              </a:rPr>
              <a:t>Segundo nivel del esquema</a:t>
            </a:r>
            <a:endParaRPr b="0" lang="es-AR" sz="2400" strike="noStrike" u="non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AR" sz="2000" strike="noStrike" u="none">
                <a:solidFill>
                  <a:schemeClr val="dk1"/>
                </a:solidFill>
                <a:effectLst/>
                <a:uFillTx/>
                <a:latin typeface="Aptos"/>
              </a:rPr>
              <a:t>Tercer nivel del esquema</a:t>
            </a:r>
            <a:endParaRPr b="0" lang="es-AR" sz="2000" strike="noStrike" u="non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AR" sz="2000" strike="noStrike" u="none">
                <a:solidFill>
                  <a:schemeClr val="dk1"/>
                </a:solidFill>
                <a:effectLst/>
                <a:uFillTx/>
                <a:latin typeface="Aptos"/>
              </a:rPr>
              <a:t>Cuarto nivel del esquema</a:t>
            </a:r>
            <a:endParaRPr b="0" lang="es-AR" sz="2000" strike="noStrike" u="non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AR" sz="2000" strike="noStrike" u="none">
                <a:solidFill>
                  <a:schemeClr val="dk1"/>
                </a:solidFill>
                <a:effectLst/>
                <a:uFillTx/>
                <a:latin typeface="Aptos"/>
              </a:rPr>
              <a:t>Quinto nivel del esquema</a:t>
            </a:r>
            <a:endParaRPr b="0" lang="es-AR" sz="2000" strike="noStrike" u="non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AR" sz="2000" strike="noStrike" u="none">
                <a:solidFill>
                  <a:schemeClr val="dk1"/>
                </a:solidFill>
                <a:effectLst/>
                <a:uFillTx/>
                <a:latin typeface="Aptos"/>
              </a:rPr>
              <a:t>Sexto nivel del esquema</a:t>
            </a:r>
            <a:endParaRPr b="0" lang="es-AR" sz="2000" strike="noStrike" u="non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AR" sz="2000" strike="noStrike" u="none">
                <a:solidFill>
                  <a:schemeClr val="dk1"/>
                </a:solidFill>
                <a:effectLst/>
                <a:uFillTx/>
                <a:latin typeface="Aptos"/>
              </a:rPr>
              <a:t>Séptimo nivel del esquema</a:t>
            </a:r>
            <a:endParaRPr b="0" lang="es-AR" sz="2000" strike="noStrike" u="non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
</Relationships>
</file>

<file path=ppt/slides/_rels/slide1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
</Relationships>
</file>

<file path=ppt/slides/_rels/slide1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
</Relationships>
</file>

<file path=ppt/slides/_rels/slide1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
</Relationships>
</file>

<file path=ppt/slides/_rels/slide1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
</Relationships>
</file>

<file path=ppt/slides/_rels/slide1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 0"/>
          <p:cNvSpPr/>
          <p:nvPr/>
        </p:nvSpPr>
        <p:spPr>
          <a:xfrm>
            <a:off x="658440" y="621720"/>
            <a:ext cx="676620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3100" strike="noStrike" u="none">
                <a:solidFill>
                  <a:srgbClr val="172b36"/>
                </a:solidFill>
                <a:effectLst/>
                <a:uFillTx/>
                <a:latin typeface="Aptos"/>
              </a:rPr>
              <a:t>Demo extremo a extremo</a:t>
            </a:r>
            <a:endParaRPr b="0" lang="es-AR" sz="3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" name="Text 1"/>
          <p:cNvSpPr/>
          <p:nvPr/>
        </p:nvSpPr>
        <p:spPr>
          <a:xfrm>
            <a:off x="667440" y="1225440"/>
            <a:ext cx="7131960" cy="402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000" strike="noStrike" u="none">
                <a:solidFill>
                  <a:srgbClr val="123a50"/>
                </a:solidFill>
                <a:effectLst/>
                <a:uFillTx/>
                <a:latin typeface="Aptos"/>
              </a:rPr>
              <a:t>LPC845  ↔  ESP32  ↔  aplicación Qt</a:t>
            </a:r>
            <a:endParaRPr b="0" lang="es-AR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" name="Text 2"/>
          <p:cNvSpPr/>
          <p:nvPr/>
        </p:nvSpPr>
        <p:spPr>
          <a:xfrm>
            <a:off x="667440" y="1764720"/>
            <a:ext cx="1069812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200" strike="noStrike" u="none">
                <a:solidFill>
                  <a:srgbClr val="5d6b74"/>
                </a:solidFill>
                <a:effectLst/>
                <a:uFillTx/>
                <a:latin typeface="Aptos"/>
              </a:rPr>
              <a:t>Adquisición analógica · UART · Wi‑Fi/TCP · checksum · interfaz gráfica · control remoto de LEDs</a:t>
            </a:r>
            <a:endParaRPr b="0" lang="es-AR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" name="Shape 3"/>
          <p:cNvSpPr/>
          <p:nvPr/>
        </p:nvSpPr>
        <p:spPr>
          <a:xfrm>
            <a:off x="777240" y="2788920"/>
            <a:ext cx="2788560" cy="1508400"/>
          </a:xfrm>
          <a:prstGeom prst="roundRect">
            <a:avLst>
              <a:gd name="adj" fmla="val 4848"/>
            </a:avLst>
          </a:prstGeom>
          <a:solidFill>
            <a:srgbClr val="fff2e6"/>
          </a:solidFill>
          <a:ln w="12700">
            <a:solidFill>
              <a:srgbClr val="f28c2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s-A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" name="Shape 4"/>
          <p:cNvSpPr/>
          <p:nvPr/>
        </p:nvSpPr>
        <p:spPr>
          <a:xfrm>
            <a:off x="941760" y="2944440"/>
            <a:ext cx="767880" cy="228240"/>
          </a:xfrm>
          <a:prstGeom prst="roundRect">
            <a:avLst>
              <a:gd name="adj" fmla="val 16667"/>
            </a:avLst>
          </a:prstGeom>
          <a:solidFill>
            <a:srgbClr val="f28c28"/>
          </a:solidFill>
          <a:ln w="12700">
            <a:solidFill>
              <a:srgbClr val="f28c2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s-A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" name="Text 5"/>
          <p:cNvSpPr/>
          <p:nvPr/>
        </p:nvSpPr>
        <p:spPr>
          <a:xfrm>
            <a:off x="978480" y="2985480"/>
            <a:ext cx="694440" cy="118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730" strike="noStrike" u="none">
                <a:solidFill>
                  <a:srgbClr val="ffffff"/>
                </a:solidFill>
                <a:effectLst/>
                <a:uFillTx/>
                <a:latin typeface="Aptos"/>
              </a:rPr>
              <a:t>MCU</a:t>
            </a:r>
            <a:endParaRPr b="0" lang="es-AR" sz="73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" name="Text 6"/>
          <p:cNvSpPr/>
          <p:nvPr/>
        </p:nvSpPr>
        <p:spPr>
          <a:xfrm>
            <a:off x="941760" y="3337560"/>
            <a:ext cx="245952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400" strike="noStrike" u="none">
                <a:solidFill>
                  <a:srgbClr val="172b36"/>
                </a:solidFill>
                <a:effectLst/>
                <a:uFillTx/>
                <a:latin typeface="Aptos"/>
              </a:rPr>
              <a:t>LPC845</a:t>
            </a:r>
            <a:endParaRPr b="0" lang="es-A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" name="Text 7"/>
          <p:cNvSpPr/>
          <p:nvPr/>
        </p:nvSpPr>
        <p:spPr>
          <a:xfrm>
            <a:off x="941760" y="3703320"/>
            <a:ext cx="245952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850" strike="noStrike" u="none">
                <a:solidFill>
                  <a:srgbClr val="5d6b74"/>
                </a:solidFill>
                <a:effectLst/>
                <a:uFillTx/>
                <a:latin typeface="Aptos"/>
              </a:rPr>
              <a:t>Mide un potenciómetro y ejecuta comandos sobre LEDs</a:t>
            </a:r>
            <a:endParaRPr b="0" lang="es-AR" sz="8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" name="Shape 8"/>
          <p:cNvSpPr/>
          <p:nvPr/>
        </p:nvSpPr>
        <p:spPr>
          <a:xfrm>
            <a:off x="4681800" y="2788920"/>
            <a:ext cx="2788560" cy="1508400"/>
          </a:xfrm>
          <a:prstGeom prst="roundRect">
            <a:avLst>
              <a:gd name="adj" fmla="val 4848"/>
            </a:avLst>
          </a:prstGeom>
          <a:solidFill>
            <a:srgbClr val="e9f7f4"/>
          </a:solidFill>
          <a:ln w="12700">
            <a:solidFill>
              <a:srgbClr val="0b8b75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s-A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" name="Shape 9"/>
          <p:cNvSpPr/>
          <p:nvPr/>
        </p:nvSpPr>
        <p:spPr>
          <a:xfrm>
            <a:off x="4846320" y="2944440"/>
            <a:ext cx="767880" cy="228240"/>
          </a:xfrm>
          <a:prstGeom prst="roundRect">
            <a:avLst>
              <a:gd name="adj" fmla="val 16667"/>
            </a:avLst>
          </a:prstGeom>
          <a:solidFill>
            <a:srgbClr val="0b8b75"/>
          </a:solidFill>
          <a:ln w="12700">
            <a:solidFill>
              <a:srgbClr val="0b8b75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s-AR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2" name="Text 10"/>
          <p:cNvSpPr/>
          <p:nvPr/>
        </p:nvSpPr>
        <p:spPr>
          <a:xfrm>
            <a:off x="4883040" y="2985480"/>
            <a:ext cx="694440" cy="118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730" strike="noStrike" u="none">
                <a:solidFill>
                  <a:srgbClr val="ffffff"/>
                </a:solidFill>
                <a:effectLst/>
                <a:uFillTx/>
                <a:latin typeface="Aptos"/>
              </a:rPr>
              <a:t>BRIDGE</a:t>
            </a:r>
            <a:endParaRPr b="0" lang="es-AR" sz="73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" name="Text 11"/>
          <p:cNvSpPr/>
          <p:nvPr/>
        </p:nvSpPr>
        <p:spPr>
          <a:xfrm>
            <a:off x="4846320" y="3337560"/>
            <a:ext cx="245952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400" strike="noStrike" u="none">
                <a:solidFill>
                  <a:srgbClr val="172b36"/>
                </a:solidFill>
                <a:effectLst/>
                <a:uFillTx/>
                <a:latin typeface="Aptos"/>
              </a:rPr>
              <a:t>ESP32</a:t>
            </a:r>
            <a:endParaRPr b="0" lang="es-A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" name="Text 12"/>
          <p:cNvSpPr/>
          <p:nvPr/>
        </p:nvSpPr>
        <p:spPr>
          <a:xfrm>
            <a:off x="4846320" y="3703320"/>
            <a:ext cx="245952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850" strike="noStrike" u="none">
                <a:solidFill>
                  <a:srgbClr val="5d6b74"/>
                </a:solidFill>
                <a:effectLst/>
                <a:uFillTx/>
                <a:latin typeface="Aptos"/>
              </a:rPr>
              <a:t>Bridge transparente entre UART y TCP</a:t>
            </a:r>
            <a:endParaRPr b="0" lang="es-AR" sz="8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" name="Shape 13"/>
          <p:cNvSpPr/>
          <p:nvPr/>
        </p:nvSpPr>
        <p:spPr>
          <a:xfrm>
            <a:off x="8577000" y="2788920"/>
            <a:ext cx="2788560" cy="1508400"/>
          </a:xfrm>
          <a:prstGeom prst="roundRect">
            <a:avLst>
              <a:gd name="adj" fmla="val 4848"/>
            </a:avLst>
          </a:prstGeom>
          <a:solidFill>
            <a:srgbClr val="eaf1ff"/>
          </a:solidFill>
          <a:ln w="12700">
            <a:solidFill>
              <a:srgbClr val="2f6b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s-A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" name="Shape 14"/>
          <p:cNvSpPr/>
          <p:nvPr/>
        </p:nvSpPr>
        <p:spPr>
          <a:xfrm>
            <a:off x="8741520" y="2944440"/>
            <a:ext cx="767880" cy="228240"/>
          </a:xfrm>
          <a:prstGeom prst="roundRect">
            <a:avLst>
              <a:gd name="adj" fmla="val 16667"/>
            </a:avLst>
          </a:prstGeom>
          <a:solidFill>
            <a:srgbClr val="2f6bff"/>
          </a:solidFill>
          <a:ln w="12700">
            <a:solidFill>
              <a:srgbClr val="2f6b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s-AR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7" name="Text 15"/>
          <p:cNvSpPr/>
          <p:nvPr/>
        </p:nvSpPr>
        <p:spPr>
          <a:xfrm>
            <a:off x="8778240" y="2985480"/>
            <a:ext cx="694440" cy="118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730" strike="noStrike" u="none">
                <a:solidFill>
                  <a:srgbClr val="ffffff"/>
                </a:solidFill>
                <a:effectLst/>
                <a:uFillTx/>
                <a:latin typeface="Aptos"/>
              </a:rPr>
              <a:t>GUI</a:t>
            </a:r>
            <a:endParaRPr b="0" lang="es-AR" sz="73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" name="Text 16"/>
          <p:cNvSpPr/>
          <p:nvPr/>
        </p:nvSpPr>
        <p:spPr>
          <a:xfrm>
            <a:off x="8741520" y="3337560"/>
            <a:ext cx="245952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400" strike="noStrike" u="none">
                <a:solidFill>
                  <a:srgbClr val="172b36"/>
                </a:solidFill>
                <a:effectLst/>
                <a:uFillTx/>
                <a:latin typeface="Aptos"/>
              </a:rPr>
              <a:t>Qt / PC</a:t>
            </a:r>
            <a:endParaRPr b="0" lang="es-A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" name="Text 17"/>
          <p:cNvSpPr/>
          <p:nvPr/>
        </p:nvSpPr>
        <p:spPr>
          <a:xfrm>
            <a:off x="8741520" y="3703320"/>
            <a:ext cx="245952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850" strike="noStrike" u="none">
                <a:solidFill>
                  <a:srgbClr val="5d6b74"/>
                </a:solidFill>
                <a:effectLst/>
                <a:uFillTx/>
                <a:latin typeface="Aptos"/>
              </a:rPr>
              <a:t>Valida trama, muestra mV y devuelve comandos</a:t>
            </a:r>
            <a:endParaRPr b="0" lang="es-AR" sz="8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" name="Shape 18"/>
          <p:cNvSpPr/>
          <p:nvPr/>
        </p:nvSpPr>
        <p:spPr>
          <a:xfrm>
            <a:off x="3584160" y="3520440"/>
            <a:ext cx="987840" cy="360"/>
          </a:xfrm>
          <a:prstGeom prst="line">
            <a:avLst/>
          </a:prstGeom>
          <a:ln w="30480">
            <a:solidFill>
              <a:srgbClr val="f28c28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s-A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" name="Shape 19"/>
          <p:cNvSpPr/>
          <p:nvPr/>
        </p:nvSpPr>
        <p:spPr>
          <a:xfrm flipH="1">
            <a:off x="3584160" y="3767040"/>
            <a:ext cx="987840" cy="360"/>
          </a:xfrm>
          <a:prstGeom prst="line">
            <a:avLst/>
          </a:prstGeom>
          <a:ln w="30480">
            <a:solidFill>
              <a:srgbClr val="0b8b75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s-A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" name="Shape 20"/>
          <p:cNvSpPr/>
          <p:nvPr/>
        </p:nvSpPr>
        <p:spPr>
          <a:xfrm>
            <a:off x="7479720" y="3520440"/>
            <a:ext cx="987480" cy="360"/>
          </a:xfrm>
          <a:prstGeom prst="line">
            <a:avLst/>
          </a:prstGeom>
          <a:ln w="30480">
            <a:solidFill>
              <a:srgbClr val="0b8b75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s-A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" name="Shape 21"/>
          <p:cNvSpPr/>
          <p:nvPr/>
        </p:nvSpPr>
        <p:spPr>
          <a:xfrm flipH="1">
            <a:off x="7479720" y="3767040"/>
            <a:ext cx="987480" cy="360"/>
          </a:xfrm>
          <a:prstGeom prst="line">
            <a:avLst/>
          </a:prstGeom>
          <a:ln w="30480">
            <a:solidFill>
              <a:srgbClr val="2f6bff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s-A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" name="Text 22"/>
          <p:cNvSpPr/>
          <p:nvPr/>
        </p:nvSpPr>
        <p:spPr>
          <a:xfrm>
            <a:off x="3675960" y="4142160"/>
            <a:ext cx="804240" cy="209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820" strike="noStrike" u="none">
                <a:solidFill>
                  <a:srgbClr val="5d6b74"/>
                </a:solidFill>
                <a:effectLst/>
                <a:uFillTx/>
                <a:latin typeface="Aptos"/>
              </a:rPr>
              <a:t>UART 9600</a:t>
            </a:r>
            <a:endParaRPr b="0" lang="es-AR" sz="82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" name="Text 23"/>
          <p:cNvSpPr/>
          <p:nvPr/>
        </p:nvSpPr>
        <p:spPr>
          <a:xfrm>
            <a:off x="7626240" y="4142160"/>
            <a:ext cx="767880" cy="209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820" strike="noStrike" u="none">
                <a:solidFill>
                  <a:srgbClr val="5d6b74"/>
                </a:solidFill>
                <a:effectLst/>
                <a:uFillTx/>
                <a:latin typeface="Aptos"/>
              </a:rPr>
              <a:t>TCP 10234</a:t>
            </a:r>
            <a:endParaRPr b="0" lang="es-AR" sz="82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6" name="Text 24"/>
          <p:cNvSpPr/>
          <p:nvPr/>
        </p:nvSpPr>
        <p:spPr>
          <a:xfrm>
            <a:off x="2103120" y="5056560"/>
            <a:ext cx="7954920" cy="420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800" strike="noStrike" u="none">
                <a:solidFill>
                  <a:srgbClr val="0b8b75"/>
                </a:solidFill>
                <a:effectLst/>
                <a:uFillTx/>
                <a:latin typeface="Aptos"/>
              </a:rPr>
              <a:t>Tres proyectos distintos trabajando como un único sistema.</a:t>
            </a:r>
            <a:endParaRPr b="0" lang="es-A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7" name="Text 25"/>
          <p:cNvSpPr/>
          <p:nvPr/>
        </p:nvSpPr>
        <p:spPr>
          <a:xfrm>
            <a:off x="1097280" y="5623560"/>
            <a:ext cx="996660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50" strike="noStrike" u="none">
                <a:solidFill>
                  <a:srgbClr val="73808a"/>
                </a:solidFill>
                <a:effectLst/>
                <a:uFillTx/>
                <a:latin typeface="Aptos"/>
              </a:rPr>
              <a:t>Proyecto LPC845: MQTT_Client (branch master) · Qt: NodeMCUclient · ESP32: Server_Bridge_UART</a:t>
            </a:r>
            <a:endParaRPr b="0" lang="es-AR" sz="9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" name="PlaceHolder 1"/>
          <p:cNvSpPr>
            <a:spLocks noGrp="1"/>
          </p:cNvSpPr>
          <p:nvPr>
            <p:ph type="sldNum" idx="5"/>
          </p:nvPr>
        </p:nvSpPr>
        <p:spPr>
          <a:xfrm>
            <a:off x="11868840" y="6556320"/>
            <a:ext cx="799560" cy="2995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en-US" sz="680" strike="noStrike" u="none">
                <a:solidFill>
                  <a:srgbClr val="87939c"/>
                </a:solidFill>
                <a:effectLst/>
                <a:uFillTx/>
                <a:latin typeface="Aptos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fld id="{54D1847F-6580-40A9-B8EA-BECBF6E728DC}" type="slidenum">
              <a:rPr b="0" lang="en-US" sz="680" strike="noStrike" u="none">
                <a:solidFill>
                  <a:srgbClr val="87939c"/>
                </a:solidFill>
                <a:effectLst/>
                <a:uFillTx/>
                <a:latin typeface="Aptos"/>
              </a:rPr>
              <a:t>&lt;número&gt;</a:t>
            </a:fld>
            <a:endParaRPr b="0" lang="es-AR" sz="68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Text 0"/>
          <p:cNvSpPr/>
          <p:nvPr/>
        </p:nvSpPr>
        <p:spPr>
          <a:xfrm>
            <a:off x="567000" y="384120"/>
            <a:ext cx="1101816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150" strike="noStrike" u="none">
                <a:solidFill>
                  <a:srgbClr val="172b36"/>
                </a:solidFill>
                <a:effectLst/>
                <a:uFillTx/>
                <a:latin typeface="Aptos Display"/>
                <a:ea typeface="Aptos Display"/>
              </a:rPr>
              <a:t>¿Qué demuestra la demo?</a:t>
            </a:r>
            <a:endParaRPr b="0" lang="es-AR" sz="21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0" name="Text 1"/>
          <p:cNvSpPr/>
          <p:nvPr/>
        </p:nvSpPr>
        <p:spPr>
          <a:xfrm>
            <a:off x="576000" y="804600"/>
            <a:ext cx="10926720" cy="237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20" strike="noStrike" u="none">
                <a:solidFill>
                  <a:srgbClr val="73808a"/>
                </a:solidFill>
                <a:effectLst/>
                <a:uFillTx/>
                <a:latin typeface="Aptos"/>
              </a:rPr>
              <a:t>Una cadena completa de adquisición, transporte, validación y actuación.</a:t>
            </a:r>
            <a:endParaRPr b="0" lang="es-AR" sz="92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1" name="Shape 2"/>
          <p:cNvSpPr/>
          <p:nvPr/>
        </p:nvSpPr>
        <p:spPr>
          <a:xfrm>
            <a:off x="685800" y="1481400"/>
            <a:ext cx="1874160" cy="3309840"/>
          </a:xfrm>
          <a:prstGeom prst="roundRect">
            <a:avLst>
              <a:gd name="adj" fmla="val 3902"/>
            </a:avLst>
          </a:prstGeom>
          <a:solidFill>
            <a:srgbClr val="fff2e6"/>
          </a:solidFill>
          <a:ln w="12700">
            <a:solidFill>
              <a:srgbClr val="f28c2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s-A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2" name="Shape 3"/>
          <p:cNvSpPr/>
          <p:nvPr/>
        </p:nvSpPr>
        <p:spPr>
          <a:xfrm>
            <a:off x="1307520" y="1764720"/>
            <a:ext cx="621360" cy="621360"/>
          </a:xfrm>
          <a:prstGeom prst="ellipse">
            <a:avLst/>
          </a:prstGeom>
          <a:solidFill>
            <a:srgbClr val="f28c28"/>
          </a:solidFill>
          <a:ln w="12700">
            <a:solidFill>
              <a:srgbClr val="f28c2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s-A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3" name="Text 4"/>
          <p:cNvSpPr/>
          <p:nvPr/>
        </p:nvSpPr>
        <p:spPr>
          <a:xfrm>
            <a:off x="1307520" y="1920240"/>
            <a:ext cx="621360" cy="18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00" strike="noStrike" u="none">
                <a:solidFill>
                  <a:srgbClr val="ffffff"/>
                </a:solidFill>
                <a:effectLst/>
                <a:uFillTx/>
                <a:latin typeface="Aptos"/>
              </a:rPr>
              <a:t>1</a:t>
            </a:r>
            <a:endParaRPr b="0" lang="es-AR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4" name="Text 5"/>
          <p:cNvSpPr/>
          <p:nvPr/>
        </p:nvSpPr>
        <p:spPr>
          <a:xfrm>
            <a:off x="850320" y="2615040"/>
            <a:ext cx="1545120" cy="282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600" strike="noStrike" u="none">
                <a:solidFill>
                  <a:srgbClr val="172b36"/>
                </a:solidFill>
                <a:effectLst/>
                <a:uFillTx/>
                <a:latin typeface="Aptos"/>
              </a:rPr>
              <a:t>Adquirir</a:t>
            </a:r>
            <a:endParaRPr b="0" lang="es-AR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5" name="Text 6"/>
          <p:cNvSpPr/>
          <p:nvPr/>
        </p:nvSpPr>
        <p:spPr>
          <a:xfrm>
            <a:off x="868680" y="3136320"/>
            <a:ext cx="1508400" cy="1051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" rIns="360" tIns="360" bIns="360" anchor="ctr">
            <a:norm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40" strike="noStrike" u="none">
                <a:solidFill>
                  <a:srgbClr val="5d6b74"/>
                </a:solidFill>
                <a:effectLst/>
                <a:uFillTx/>
                <a:latin typeface="Aptos"/>
              </a:rPr>
              <a:t>El LPC845 convierte la tensión del potenciómetro con su ADC.</a:t>
            </a:r>
            <a:endParaRPr b="0" lang="es-AR" sz="104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6" name="Shape 7"/>
          <p:cNvSpPr/>
          <p:nvPr/>
        </p:nvSpPr>
        <p:spPr>
          <a:xfrm>
            <a:off x="2926080" y="1481400"/>
            <a:ext cx="1874160" cy="3309840"/>
          </a:xfrm>
          <a:prstGeom prst="roundRect">
            <a:avLst>
              <a:gd name="adj" fmla="val 3902"/>
            </a:avLst>
          </a:prstGeom>
          <a:solidFill>
            <a:srgbClr val="e9f7f4"/>
          </a:solidFill>
          <a:ln w="12700">
            <a:solidFill>
              <a:srgbClr val="0b8b75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s-A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7" name="Shape 8"/>
          <p:cNvSpPr/>
          <p:nvPr/>
        </p:nvSpPr>
        <p:spPr>
          <a:xfrm>
            <a:off x="3547800" y="1764720"/>
            <a:ext cx="621360" cy="621360"/>
          </a:xfrm>
          <a:prstGeom prst="ellipse">
            <a:avLst/>
          </a:prstGeom>
          <a:solidFill>
            <a:srgbClr val="0b8b75"/>
          </a:solidFill>
          <a:ln w="12700">
            <a:solidFill>
              <a:srgbClr val="0b8b75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s-AR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8" name="Text 9"/>
          <p:cNvSpPr/>
          <p:nvPr/>
        </p:nvSpPr>
        <p:spPr>
          <a:xfrm>
            <a:off x="3547800" y="1920240"/>
            <a:ext cx="621360" cy="18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00" strike="noStrike" u="none">
                <a:solidFill>
                  <a:srgbClr val="ffffff"/>
                </a:solidFill>
                <a:effectLst/>
                <a:uFillTx/>
                <a:latin typeface="Aptos"/>
              </a:rPr>
              <a:t>2</a:t>
            </a:r>
            <a:endParaRPr b="0" lang="es-AR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9" name="Text 10"/>
          <p:cNvSpPr/>
          <p:nvPr/>
        </p:nvSpPr>
        <p:spPr>
          <a:xfrm>
            <a:off x="3090600" y="2615040"/>
            <a:ext cx="1545120" cy="282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600" strike="noStrike" u="none">
                <a:solidFill>
                  <a:srgbClr val="172b36"/>
                </a:solidFill>
                <a:effectLst/>
                <a:uFillTx/>
                <a:latin typeface="Aptos"/>
              </a:rPr>
              <a:t>Transportar</a:t>
            </a:r>
            <a:endParaRPr b="0" lang="es-AR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0" name="Text 11"/>
          <p:cNvSpPr/>
          <p:nvPr/>
        </p:nvSpPr>
        <p:spPr>
          <a:xfrm>
            <a:off x="3108960" y="3136320"/>
            <a:ext cx="1508400" cy="1051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" rIns="360" tIns="360" bIns="360" anchor="ctr">
            <a:norm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40" strike="noStrike" u="none">
                <a:solidFill>
                  <a:srgbClr val="5d6b74"/>
                </a:solidFill>
                <a:effectLst/>
                <a:uFillTx/>
                <a:latin typeface="Aptos"/>
              </a:rPr>
              <a:t>El ESP32 mueve bytes entre UART y una conexión TCP.</a:t>
            </a:r>
            <a:endParaRPr b="0" lang="es-AR" sz="104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1" name="Shape 12"/>
          <p:cNvSpPr/>
          <p:nvPr/>
        </p:nvSpPr>
        <p:spPr>
          <a:xfrm>
            <a:off x="5166360" y="1481400"/>
            <a:ext cx="1874160" cy="3309840"/>
          </a:xfrm>
          <a:prstGeom prst="roundRect">
            <a:avLst>
              <a:gd name="adj" fmla="val 3902"/>
            </a:avLst>
          </a:prstGeom>
          <a:solidFill>
            <a:srgbClr val="eaf1ff"/>
          </a:solidFill>
          <a:ln w="12700">
            <a:solidFill>
              <a:srgbClr val="2f6b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s-A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2" name="Shape 13"/>
          <p:cNvSpPr/>
          <p:nvPr/>
        </p:nvSpPr>
        <p:spPr>
          <a:xfrm>
            <a:off x="5788080" y="1764720"/>
            <a:ext cx="621360" cy="621360"/>
          </a:xfrm>
          <a:prstGeom prst="ellipse">
            <a:avLst/>
          </a:prstGeom>
          <a:solidFill>
            <a:srgbClr val="2f6bff"/>
          </a:solidFill>
          <a:ln w="12700">
            <a:solidFill>
              <a:srgbClr val="2f6b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s-AR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3" name="Text 14"/>
          <p:cNvSpPr/>
          <p:nvPr/>
        </p:nvSpPr>
        <p:spPr>
          <a:xfrm>
            <a:off x="5788080" y="1920240"/>
            <a:ext cx="621360" cy="18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00" strike="noStrike" u="none">
                <a:solidFill>
                  <a:srgbClr val="ffffff"/>
                </a:solidFill>
                <a:effectLst/>
                <a:uFillTx/>
                <a:latin typeface="Aptos"/>
              </a:rPr>
              <a:t>3</a:t>
            </a:r>
            <a:endParaRPr b="0" lang="es-AR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4" name="Text 15"/>
          <p:cNvSpPr/>
          <p:nvPr/>
        </p:nvSpPr>
        <p:spPr>
          <a:xfrm>
            <a:off x="5330880" y="2615040"/>
            <a:ext cx="1545120" cy="282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600" strike="noStrike" u="none">
                <a:solidFill>
                  <a:srgbClr val="172b36"/>
                </a:solidFill>
                <a:effectLst/>
                <a:uFillTx/>
                <a:latin typeface="Aptos"/>
              </a:rPr>
              <a:t>Validar</a:t>
            </a:r>
            <a:endParaRPr b="0" lang="es-AR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5" name="Text 16"/>
          <p:cNvSpPr/>
          <p:nvPr/>
        </p:nvSpPr>
        <p:spPr>
          <a:xfrm>
            <a:off x="5349240" y="3136320"/>
            <a:ext cx="1508400" cy="1051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" rIns="360" tIns="360" bIns="360" anchor="ctr">
            <a:norm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40" strike="noStrike" u="none">
                <a:solidFill>
                  <a:srgbClr val="5d6b74"/>
                </a:solidFill>
                <a:effectLst/>
                <a:uFillTx/>
                <a:latin typeface="Aptos"/>
              </a:rPr>
              <a:t>Qt calcula el XOR y compara el checksum recibido.</a:t>
            </a:r>
            <a:endParaRPr b="0" lang="es-AR" sz="104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6" name="Shape 17"/>
          <p:cNvSpPr/>
          <p:nvPr/>
        </p:nvSpPr>
        <p:spPr>
          <a:xfrm>
            <a:off x="7406640" y="1481400"/>
            <a:ext cx="1874160" cy="3309840"/>
          </a:xfrm>
          <a:prstGeom prst="roundRect">
            <a:avLst>
              <a:gd name="adj" fmla="val 3902"/>
            </a:avLst>
          </a:prstGeom>
          <a:solidFill>
            <a:srgbClr val="eaf7ee"/>
          </a:solidFill>
          <a:ln w="12700">
            <a:solidFill>
              <a:srgbClr val="2da44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s-A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7" name="Shape 18"/>
          <p:cNvSpPr/>
          <p:nvPr/>
        </p:nvSpPr>
        <p:spPr>
          <a:xfrm>
            <a:off x="8028360" y="1764720"/>
            <a:ext cx="621360" cy="621360"/>
          </a:xfrm>
          <a:prstGeom prst="ellipse">
            <a:avLst/>
          </a:prstGeom>
          <a:solidFill>
            <a:srgbClr val="2da44e"/>
          </a:solidFill>
          <a:ln w="12700">
            <a:solidFill>
              <a:srgbClr val="2da44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s-AR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8" name="Text 19"/>
          <p:cNvSpPr/>
          <p:nvPr/>
        </p:nvSpPr>
        <p:spPr>
          <a:xfrm>
            <a:off x="8028360" y="1920240"/>
            <a:ext cx="621360" cy="18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00" strike="noStrike" u="none">
                <a:solidFill>
                  <a:srgbClr val="ffffff"/>
                </a:solidFill>
                <a:effectLst/>
                <a:uFillTx/>
                <a:latin typeface="Aptos"/>
              </a:rPr>
              <a:t>4</a:t>
            </a:r>
            <a:endParaRPr b="0" lang="es-AR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9" name="Text 20"/>
          <p:cNvSpPr/>
          <p:nvPr/>
        </p:nvSpPr>
        <p:spPr>
          <a:xfrm>
            <a:off x="7571160" y="2615040"/>
            <a:ext cx="1545120" cy="282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600" strike="noStrike" u="none">
                <a:solidFill>
                  <a:srgbClr val="172b36"/>
                </a:solidFill>
                <a:effectLst/>
                <a:uFillTx/>
                <a:latin typeface="Aptos"/>
              </a:rPr>
              <a:t>Visualizar</a:t>
            </a:r>
            <a:endParaRPr b="0" lang="es-AR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0" name="Text 21"/>
          <p:cNvSpPr/>
          <p:nvPr/>
        </p:nvSpPr>
        <p:spPr>
          <a:xfrm>
            <a:off x="7589520" y="3136320"/>
            <a:ext cx="1508400" cy="1051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" rIns="360" tIns="360" bIns="360" anchor="ctr">
            <a:norm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40" strike="noStrike" u="none">
                <a:solidFill>
                  <a:srgbClr val="5d6b74"/>
                </a:solidFill>
                <a:effectLst/>
                <a:uFillTx/>
                <a:latin typeface="Aptos"/>
              </a:rPr>
              <a:t>La PC muestra el valor en mV y un indicador de estado.</a:t>
            </a:r>
            <a:endParaRPr b="0" lang="es-AR" sz="104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1" name="Shape 22"/>
          <p:cNvSpPr/>
          <p:nvPr/>
        </p:nvSpPr>
        <p:spPr>
          <a:xfrm>
            <a:off x="9646920" y="1481400"/>
            <a:ext cx="1874160" cy="3309840"/>
          </a:xfrm>
          <a:prstGeom prst="roundRect">
            <a:avLst>
              <a:gd name="adj" fmla="val 3902"/>
            </a:avLst>
          </a:prstGeom>
          <a:solidFill>
            <a:srgbClr val="fcebec"/>
          </a:solidFill>
          <a:ln w="12700">
            <a:solidFill>
              <a:srgbClr val="d94c4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s-A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2" name="Shape 23"/>
          <p:cNvSpPr/>
          <p:nvPr/>
        </p:nvSpPr>
        <p:spPr>
          <a:xfrm>
            <a:off x="10268640" y="1764720"/>
            <a:ext cx="621360" cy="621360"/>
          </a:xfrm>
          <a:prstGeom prst="ellipse">
            <a:avLst/>
          </a:prstGeom>
          <a:solidFill>
            <a:srgbClr val="d94c4c"/>
          </a:solidFill>
          <a:ln w="12700">
            <a:solidFill>
              <a:srgbClr val="d94c4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s-AR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3" name="Text 24"/>
          <p:cNvSpPr/>
          <p:nvPr/>
        </p:nvSpPr>
        <p:spPr>
          <a:xfrm>
            <a:off x="10268640" y="1920240"/>
            <a:ext cx="621360" cy="18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00" strike="noStrike" u="none">
                <a:solidFill>
                  <a:srgbClr val="ffffff"/>
                </a:solidFill>
                <a:effectLst/>
                <a:uFillTx/>
                <a:latin typeface="Aptos"/>
              </a:rPr>
              <a:t>5</a:t>
            </a:r>
            <a:endParaRPr b="0" lang="es-AR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4" name="Text 25"/>
          <p:cNvSpPr/>
          <p:nvPr/>
        </p:nvSpPr>
        <p:spPr>
          <a:xfrm>
            <a:off x="9811440" y="2615040"/>
            <a:ext cx="1545120" cy="282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600" strike="noStrike" u="none">
                <a:solidFill>
                  <a:srgbClr val="172b36"/>
                </a:solidFill>
                <a:effectLst/>
                <a:uFillTx/>
                <a:latin typeface="Aptos"/>
              </a:rPr>
              <a:t>Actuar</a:t>
            </a:r>
            <a:endParaRPr b="0" lang="es-AR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5" name="Text 26"/>
          <p:cNvSpPr/>
          <p:nvPr/>
        </p:nvSpPr>
        <p:spPr>
          <a:xfrm>
            <a:off x="9829800" y="3136320"/>
            <a:ext cx="1508400" cy="1051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" rIns="360" tIns="360" bIns="360" anchor="ctr">
            <a:norm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40" strike="noStrike" u="none">
                <a:solidFill>
                  <a:srgbClr val="5d6b74"/>
                </a:solidFill>
                <a:effectLst/>
                <a:uFillTx/>
                <a:latin typeface="Aptos"/>
              </a:rPr>
              <a:t>Qt envía órdenes de LEDs que vuelven hasta el LPC845.</a:t>
            </a:r>
            <a:endParaRPr b="0" lang="es-AR" sz="104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6" name="Text 27"/>
          <p:cNvSpPr/>
          <p:nvPr/>
        </p:nvSpPr>
        <p:spPr>
          <a:xfrm>
            <a:off x="1234440" y="5376600"/>
            <a:ext cx="9692280" cy="493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650" strike="noStrike" u="none">
                <a:solidFill>
                  <a:srgbClr val="123a50"/>
                </a:solidFill>
                <a:effectLst/>
                <a:uFillTx/>
                <a:latin typeface="Aptos"/>
              </a:rPr>
              <a:t>La demo cierra el lazo: una variable física llega a la PC y la PC modifica el hardware remoto.</a:t>
            </a:r>
            <a:endParaRPr b="0" lang="es-AR" sz="16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7" name="PlaceHolder 1"/>
          <p:cNvSpPr>
            <a:spLocks noGrp="1"/>
          </p:cNvSpPr>
          <p:nvPr>
            <p:ph type="sldNum" idx="6"/>
          </p:nvPr>
        </p:nvSpPr>
        <p:spPr>
          <a:xfrm>
            <a:off x="11868840" y="6556320"/>
            <a:ext cx="799560" cy="2995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en-US" sz="680" strike="noStrike" u="none">
                <a:solidFill>
                  <a:srgbClr val="87939c"/>
                </a:solidFill>
                <a:effectLst/>
                <a:uFillTx/>
                <a:latin typeface="Aptos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fld id="{EA2BCE65-2E18-47AD-9568-E0BE2EA8ACE0}" type="slidenum">
              <a:rPr b="0" lang="en-US" sz="680" strike="noStrike" u="none">
                <a:solidFill>
                  <a:srgbClr val="87939c"/>
                </a:solidFill>
                <a:effectLst/>
                <a:uFillTx/>
                <a:latin typeface="Aptos"/>
              </a:rPr>
              <a:t>&lt;número&gt;</a:t>
            </a:fld>
            <a:endParaRPr b="0" lang="es-AR" sz="68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Text 0"/>
          <p:cNvSpPr/>
          <p:nvPr/>
        </p:nvSpPr>
        <p:spPr>
          <a:xfrm>
            <a:off x="567000" y="384120"/>
            <a:ext cx="1101816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150" strike="noStrike" u="none">
                <a:solidFill>
                  <a:srgbClr val="172b36"/>
                </a:solidFill>
                <a:effectLst/>
                <a:uFillTx/>
                <a:latin typeface="Aptos Display"/>
                <a:ea typeface="Aptos Display"/>
              </a:rPr>
              <a:t>Arquitectura completa</a:t>
            </a:r>
            <a:endParaRPr b="0" lang="es-AR" sz="21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9" name="Text 1"/>
          <p:cNvSpPr/>
          <p:nvPr/>
        </p:nvSpPr>
        <p:spPr>
          <a:xfrm>
            <a:off x="576000" y="804600"/>
            <a:ext cx="10926720" cy="237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20" strike="noStrike" u="none">
                <a:solidFill>
                  <a:srgbClr val="73808a"/>
                </a:solidFill>
                <a:effectLst/>
                <a:uFillTx/>
                <a:latin typeface="Aptos"/>
              </a:rPr>
              <a:t>El ESP32 desacopla la aplicación de PC del microcontrolador que adquiere y actúa.</a:t>
            </a:r>
            <a:endParaRPr b="0" lang="es-AR" sz="92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0" name="Shape 2"/>
          <p:cNvSpPr/>
          <p:nvPr/>
        </p:nvSpPr>
        <p:spPr>
          <a:xfrm>
            <a:off x="502920" y="1417320"/>
            <a:ext cx="2788560" cy="1919880"/>
          </a:xfrm>
          <a:prstGeom prst="roundRect">
            <a:avLst>
              <a:gd name="adj" fmla="val 3810"/>
            </a:avLst>
          </a:prstGeom>
          <a:solidFill>
            <a:srgbClr val="fff2e6"/>
          </a:solidFill>
          <a:ln w="12700">
            <a:solidFill>
              <a:srgbClr val="f28c2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s-A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1" name="Shape 3"/>
          <p:cNvSpPr/>
          <p:nvPr/>
        </p:nvSpPr>
        <p:spPr>
          <a:xfrm>
            <a:off x="667440" y="1572840"/>
            <a:ext cx="767880" cy="228240"/>
          </a:xfrm>
          <a:prstGeom prst="roundRect">
            <a:avLst>
              <a:gd name="adj" fmla="val 16667"/>
            </a:avLst>
          </a:prstGeom>
          <a:solidFill>
            <a:srgbClr val="f28c28"/>
          </a:solidFill>
          <a:ln w="12700">
            <a:solidFill>
              <a:srgbClr val="f28c2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s-A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2" name="Text 4"/>
          <p:cNvSpPr/>
          <p:nvPr/>
        </p:nvSpPr>
        <p:spPr>
          <a:xfrm>
            <a:off x="704160" y="1613880"/>
            <a:ext cx="694440" cy="118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730" strike="noStrike" u="none">
                <a:solidFill>
                  <a:srgbClr val="ffffff"/>
                </a:solidFill>
                <a:effectLst/>
                <a:uFillTx/>
                <a:latin typeface="Aptos"/>
              </a:rPr>
              <a:t>BARE METAL</a:t>
            </a:r>
            <a:endParaRPr b="0" lang="es-AR" sz="73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3" name="Text 5"/>
          <p:cNvSpPr/>
          <p:nvPr/>
        </p:nvSpPr>
        <p:spPr>
          <a:xfrm>
            <a:off x="667440" y="1965960"/>
            <a:ext cx="245952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400" strike="noStrike" u="none">
                <a:solidFill>
                  <a:srgbClr val="172b36"/>
                </a:solidFill>
                <a:effectLst/>
                <a:uFillTx/>
                <a:latin typeface="Aptos"/>
              </a:rPr>
              <a:t>LPC845</a:t>
            </a:r>
            <a:endParaRPr b="0" lang="es-A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4" name="Text 6"/>
          <p:cNvSpPr/>
          <p:nvPr/>
        </p:nvSpPr>
        <p:spPr>
          <a:xfrm>
            <a:off x="667440" y="2331720"/>
            <a:ext cx="245952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 lnSpcReduction="9999"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850" strike="noStrike" u="none">
                <a:solidFill>
                  <a:srgbClr val="5d6b74"/>
                </a:solidFill>
                <a:effectLst/>
                <a:uFillTx/>
                <a:latin typeface="Aptos"/>
              </a:rPr>
              <a:t>ADC0 · PIO0_7</a:t>
            </a:r>
            <a:endParaRPr b="0" lang="es-AR" sz="8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850" strike="noStrike" u="none">
                <a:solidFill>
                  <a:srgbClr val="5d6b74"/>
                </a:solidFill>
                <a:effectLst/>
                <a:uFillTx/>
                <a:latin typeface="Aptos"/>
              </a:rPr>
              <a:t>UART1 · P0.16 / P0.17</a:t>
            </a:r>
            <a:endParaRPr b="0" lang="es-AR" sz="8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850" strike="noStrike" u="none">
                <a:solidFill>
                  <a:srgbClr val="5d6b74"/>
                </a:solidFill>
                <a:effectLst/>
                <a:uFillTx/>
                <a:latin typeface="Aptos"/>
              </a:rPr>
              <a:t>LEDs RGB</a:t>
            </a:r>
            <a:endParaRPr b="0" lang="es-AR" sz="8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5" name="Shape 7"/>
          <p:cNvSpPr/>
          <p:nvPr/>
        </p:nvSpPr>
        <p:spPr>
          <a:xfrm>
            <a:off x="4681800" y="1417320"/>
            <a:ext cx="2788560" cy="1919880"/>
          </a:xfrm>
          <a:prstGeom prst="roundRect">
            <a:avLst>
              <a:gd name="adj" fmla="val 3810"/>
            </a:avLst>
          </a:prstGeom>
          <a:solidFill>
            <a:srgbClr val="e9f7f4"/>
          </a:solidFill>
          <a:ln w="12700">
            <a:solidFill>
              <a:srgbClr val="0b8b75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s-A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6" name="Shape 8"/>
          <p:cNvSpPr/>
          <p:nvPr/>
        </p:nvSpPr>
        <p:spPr>
          <a:xfrm>
            <a:off x="4846320" y="1572840"/>
            <a:ext cx="767880" cy="228240"/>
          </a:xfrm>
          <a:prstGeom prst="roundRect">
            <a:avLst>
              <a:gd name="adj" fmla="val 16667"/>
            </a:avLst>
          </a:prstGeom>
          <a:solidFill>
            <a:srgbClr val="0b8b75"/>
          </a:solidFill>
          <a:ln w="12700">
            <a:solidFill>
              <a:srgbClr val="0b8b75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s-AR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7" name="Text 9"/>
          <p:cNvSpPr/>
          <p:nvPr/>
        </p:nvSpPr>
        <p:spPr>
          <a:xfrm>
            <a:off x="4883040" y="1613880"/>
            <a:ext cx="694440" cy="118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730" strike="noStrike" u="none">
                <a:solidFill>
                  <a:srgbClr val="ffffff"/>
                </a:solidFill>
                <a:effectLst/>
                <a:uFillTx/>
                <a:latin typeface="Aptos"/>
              </a:rPr>
              <a:t>ESP-IDF</a:t>
            </a:r>
            <a:endParaRPr b="0" lang="es-AR" sz="73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8" name="Text 10"/>
          <p:cNvSpPr/>
          <p:nvPr/>
        </p:nvSpPr>
        <p:spPr>
          <a:xfrm>
            <a:off x="4846320" y="1965960"/>
            <a:ext cx="245952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400" strike="noStrike" u="none">
                <a:solidFill>
                  <a:srgbClr val="172b36"/>
                </a:solidFill>
                <a:effectLst/>
                <a:uFillTx/>
                <a:latin typeface="Aptos"/>
              </a:rPr>
              <a:t>ESP32</a:t>
            </a:r>
            <a:endParaRPr b="0" lang="es-A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9" name="Text 11"/>
          <p:cNvSpPr/>
          <p:nvPr/>
        </p:nvSpPr>
        <p:spPr>
          <a:xfrm>
            <a:off x="4846320" y="2331720"/>
            <a:ext cx="245952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 lnSpcReduction="9999"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850" strike="noStrike" u="none">
                <a:solidFill>
                  <a:srgbClr val="5d6b74"/>
                </a:solidFill>
                <a:effectLst/>
                <a:uFillTx/>
                <a:latin typeface="Aptos"/>
              </a:rPr>
              <a:t>Wi‑Fi STA</a:t>
            </a:r>
            <a:endParaRPr b="0" lang="es-AR" sz="8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850" strike="noStrike" u="none">
                <a:solidFill>
                  <a:srgbClr val="5d6b74"/>
                </a:solidFill>
                <a:effectLst/>
                <a:uFillTx/>
                <a:latin typeface="Aptos"/>
              </a:rPr>
              <a:t>TCP server :10234</a:t>
            </a:r>
            <a:endParaRPr b="0" lang="es-AR" sz="8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850" strike="noStrike" u="none">
                <a:solidFill>
                  <a:srgbClr val="5d6b74"/>
                </a:solidFill>
                <a:effectLst/>
                <a:uFillTx/>
                <a:latin typeface="Aptos"/>
              </a:rPr>
              <a:t>UART1 GPIO17 / GPIO16</a:t>
            </a:r>
            <a:endParaRPr b="0" lang="es-AR" sz="8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0" name="Shape 12"/>
          <p:cNvSpPr/>
          <p:nvPr/>
        </p:nvSpPr>
        <p:spPr>
          <a:xfrm>
            <a:off x="8869680" y="1417320"/>
            <a:ext cx="2788560" cy="1919880"/>
          </a:xfrm>
          <a:prstGeom prst="roundRect">
            <a:avLst>
              <a:gd name="adj" fmla="val 3810"/>
            </a:avLst>
          </a:prstGeom>
          <a:solidFill>
            <a:srgbClr val="eaf1ff"/>
          </a:solidFill>
          <a:ln w="12700">
            <a:solidFill>
              <a:srgbClr val="2f6b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s-A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1" name="Shape 13"/>
          <p:cNvSpPr/>
          <p:nvPr/>
        </p:nvSpPr>
        <p:spPr>
          <a:xfrm>
            <a:off x="9034200" y="1572840"/>
            <a:ext cx="767880" cy="228240"/>
          </a:xfrm>
          <a:prstGeom prst="roundRect">
            <a:avLst>
              <a:gd name="adj" fmla="val 16667"/>
            </a:avLst>
          </a:prstGeom>
          <a:solidFill>
            <a:srgbClr val="2f6bff"/>
          </a:solidFill>
          <a:ln w="12700">
            <a:solidFill>
              <a:srgbClr val="2f6b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s-AR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2" name="Text 14"/>
          <p:cNvSpPr/>
          <p:nvPr/>
        </p:nvSpPr>
        <p:spPr>
          <a:xfrm>
            <a:off x="9070920" y="1613880"/>
            <a:ext cx="694440" cy="118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730" strike="noStrike" u="none">
                <a:solidFill>
                  <a:srgbClr val="ffffff"/>
                </a:solidFill>
                <a:effectLst/>
                <a:uFillTx/>
                <a:latin typeface="Aptos"/>
              </a:rPr>
              <a:t>PC</a:t>
            </a:r>
            <a:endParaRPr b="0" lang="es-AR" sz="73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3" name="Text 15"/>
          <p:cNvSpPr/>
          <p:nvPr/>
        </p:nvSpPr>
        <p:spPr>
          <a:xfrm>
            <a:off x="9034200" y="1965960"/>
            <a:ext cx="245952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400" strike="noStrike" u="none">
                <a:solidFill>
                  <a:srgbClr val="172b36"/>
                </a:solidFill>
                <a:effectLst/>
                <a:uFillTx/>
                <a:latin typeface="Aptos"/>
              </a:rPr>
              <a:t>Aplicación Qt</a:t>
            </a:r>
            <a:endParaRPr b="0" lang="es-A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4" name="Text 16"/>
          <p:cNvSpPr/>
          <p:nvPr/>
        </p:nvSpPr>
        <p:spPr>
          <a:xfrm>
            <a:off x="9034200" y="2331720"/>
            <a:ext cx="245952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 lnSpcReduction="9999"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850" strike="noStrike" u="none">
                <a:solidFill>
                  <a:srgbClr val="5d6b74"/>
                </a:solidFill>
                <a:effectLst/>
                <a:uFillTx/>
                <a:latin typeface="Aptos"/>
              </a:rPr>
              <a:t>QTcpSocket</a:t>
            </a:r>
            <a:endParaRPr b="0" lang="es-AR" sz="8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850" strike="noStrike" u="none">
                <a:solidFill>
                  <a:srgbClr val="5d6b74"/>
                </a:solidFill>
                <a:effectLst/>
                <a:uFillTx/>
                <a:latin typeface="Aptos"/>
              </a:rPr>
              <a:t>192.168.7.100:10234</a:t>
            </a:r>
            <a:endParaRPr b="0" lang="es-AR" sz="8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850" strike="noStrike" u="none">
                <a:solidFill>
                  <a:srgbClr val="5d6b74"/>
                </a:solidFill>
                <a:effectLst/>
                <a:uFillTx/>
                <a:latin typeface="Aptos"/>
              </a:rPr>
              <a:t>LCD + LED virtual + log</a:t>
            </a:r>
            <a:endParaRPr b="0" lang="es-AR" sz="8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5" name="Shape 17"/>
          <p:cNvSpPr/>
          <p:nvPr/>
        </p:nvSpPr>
        <p:spPr>
          <a:xfrm>
            <a:off x="3337560" y="2057400"/>
            <a:ext cx="1234440" cy="360"/>
          </a:xfrm>
          <a:prstGeom prst="line">
            <a:avLst/>
          </a:prstGeom>
          <a:ln w="31750">
            <a:solidFill>
              <a:srgbClr val="f28c28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s-A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6" name="Shape 18"/>
          <p:cNvSpPr/>
          <p:nvPr/>
        </p:nvSpPr>
        <p:spPr>
          <a:xfrm flipH="1">
            <a:off x="3337560" y="2651760"/>
            <a:ext cx="1234440" cy="360"/>
          </a:xfrm>
          <a:prstGeom prst="line">
            <a:avLst/>
          </a:prstGeom>
          <a:ln w="31750">
            <a:solidFill>
              <a:srgbClr val="0b8b75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s-A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7" name="Shape 19"/>
          <p:cNvSpPr/>
          <p:nvPr/>
        </p:nvSpPr>
        <p:spPr>
          <a:xfrm>
            <a:off x="7516080" y="2057400"/>
            <a:ext cx="1234440" cy="360"/>
          </a:xfrm>
          <a:prstGeom prst="line">
            <a:avLst/>
          </a:prstGeom>
          <a:ln w="31750">
            <a:solidFill>
              <a:srgbClr val="0b8b75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s-A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8" name="Shape 20"/>
          <p:cNvSpPr/>
          <p:nvPr/>
        </p:nvSpPr>
        <p:spPr>
          <a:xfrm flipH="1">
            <a:off x="7516080" y="2651760"/>
            <a:ext cx="1234440" cy="360"/>
          </a:xfrm>
          <a:prstGeom prst="line">
            <a:avLst/>
          </a:prstGeom>
          <a:ln w="31750">
            <a:solidFill>
              <a:srgbClr val="2f6bff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s-A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9" name="Shape 21"/>
          <p:cNvSpPr/>
          <p:nvPr/>
        </p:nvSpPr>
        <p:spPr>
          <a:xfrm>
            <a:off x="3657600" y="3054240"/>
            <a:ext cx="658080" cy="228240"/>
          </a:xfrm>
          <a:prstGeom prst="roundRect">
            <a:avLst>
              <a:gd name="adj" fmla="val 16667"/>
            </a:avLst>
          </a:prstGeom>
          <a:solidFill>
            <a:srgbClr val="f28c28"/>
          </a:solidFill>
          <a:ln w="12700">
            <a:solidFill>
              <a:srgbClr val="f28c2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s-A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0" name="Text 22"/>
          <p:cNvSpPr/>
          <p:nvPr/>
        </p:nvSpPr>
        <p:spPr>
          <a:xfrm>
            <a:off x="3694320" y="3095280"/>
            <a:ext cx="585000" cy="118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730" strike="noStrike" u="none">
                <a:solidFill>
                  <a:srgbClr val="ffffff"/>
                </a:solidFill>
                <a:effectLst/>
                <a:uFillTx/>
                <a:latin typeface="Aptos"/>
              </a:rPr>
              <a:t>UART</a:t>
            </a:r>
            <a:endParaRPr b="0" lang="es-AR" sz="73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1" name="Shape 23"/>
          <p:cNvSpPr/>
          <p:nvPr/>
        </p:nvSpPr>
        <p:spPr>
          <a:xfrm>
            <a:off x="7854840" y="3054240"/>
            <a:ext cx="658080" cy="228240"/>
          </a:xfrm>
          <a:prstGeom prst="roundRect">
            <a:avLst>
              <a:gd name="adj" fmla="val 16667"/>
            </a:avLst>
          </a:prstGeom>
          <a:solidFill>
            <a:srgbClr val="2f6bff"/>
          </a:solidFill>
          <a:ln w="12700">
            <a:solidFill>
              <a:srgbClr val="2f6b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s-AR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2" name="Text 24"/>
          <p:cNvSpPr/>
          <p:nvPr/>
        </p:nvSpPr>
        <p:spPr>
          <a:xfrm>
            <a:off x="7891200" y="3095280"/>
            <a:ext cx="585000" cy="118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730" strike="noStrike" u="none">
                <a:solidFill>
                  <a:srgbClr val="ffffff"/>
                </a:solidFill>
                <a:effectLst/>
                <a:uFillTx/>
                <a:latin typeface="Aptos"/>
              </a:rPr>
              <a:t>TCP</a:t>
            </a:r>
            <a:endParaRPr b="0" lang="es-AR" sz="73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3" name="Shape 25"/>
          <p:cNvSpPr/>
          <p:nvPr/>
        </p:nvSpPr>
        <p:spPr>
          <a:xfrm>
            <a:off x="1024200" y="4069080"/>
            <a:ext cx="10103760" cy="114264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12700">
            <a:solidFill>
              <a:srgbClr val="d8e0e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s-A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4" name="Text 26"/>
          <p:cNvSpPr/>
          <p:nvPr/>
        </p:nvSpPr>
        <p:spPr>
          <a:xfrm>
            <a:off x="1280160" y="4297680"/>
            <a:ext cx="141696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00" strike="noStrike" u="none">
                <a:solidFill>
                  <a:srgbClr val="123a50"/>
                </a:solidFill>
                <a:effectLst/>
                <a:uFillTx/>
                <a:latin typeface="Aptos"/>
              </a:rPr>
              <a:t>Camino de datos</a:t>
            </a:r>
            <a:endParaRPr b="0" lang="es-AR" sz="1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5" name="Text 27"/>
          <p:cNvSpPr/>
          <p:nvPr/>
        </p:nvSpPr>
        <p:spPr>
          <a:xfrm>
            <a:off x="2724840" y="4279320"/>
            <a:ext cx="7954920" cy="264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80" strike="noStrike" u="none">
                <a:solidFill>
                  <a:srgbClr val="172b36"/>
                </a:solidFill>
                <a:effectLst/>
                <a:uFillTx/>
                <a:latin typeface="Aptos"/>
              </a:rPr>
              <a:t>Potenciómetro → ADC → trama UART → ESP32 → TCP/Wi‑Fi → Qt → validación → display</a:t>
            </a:r>
            <a:endParaRPr b="0" lang="es-AR" sz="128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6" name="Text 28"/>
          <p:cNvSpPr/>
          <p:nvPr/>
        </p:nvSpPr>
        <p:spPr>
          <a:xfrm>
            <a:off x="1280160" y="4718160"/>
            <a:ext cx="141696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00" strike="noStrike" u="none">
                <a:solidFill>
                  <a:srgbClr val="123a50"/>
                </a:solidFill>
                <a:effectLst/>
                <a:uFillTx/>
                <a:latin typeface="Aptos"/>
              </a:rPr>
              <a:t>Camino de control</a:t>
            </a:r>
            <a:endParaRPr b="0" lang="es-AR" sz="1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7" name="Text 29"/>
          <p:cNvSpPr/>
          <p:nvPr/>
        </p:nvSpPr>
        <p:spPr>
          <a:xfrm>
            <a:off x="2724840" y="4700160"/>
            <a:ext cx="7954920" cy="264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80" strike="noStrike" u="none">
                <a:solidFill>
                  <a:srgbClr val="172b36"/>
                </a:solidFill>
                <a:effectLst/>
                <a:uFillTx/>
                <a:latin typeface="Aptos"/>
              </a:rPr>
              <a:t>Qt → comandos TCP → ESP32 → UART → máquina de estados → LEDs del LPC845</a:t>
            </a:r>
            <a:endParaRPr b="0" lang="es-AR" sz="128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8" name="Text 30"/>
          <p:cNvSpPr/>
          <p:nvPr/>
        </p:nvSpPr>
        <p:spPr>
          <a:xfrm>
            <a:off x="1920240" y="5632560"/>
            <a:ext cx="8320680" cy="328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550" strike="noStrike" u="none">
                <a:solidFill>
                  <a:srgbClr val="0b8b75"/>
                </a:solidFill>
                <a:effectLst/>
                <a:uFillTx/>
                <a:latin typeface="Aptos"/>
              </a:rPr>
              <a:t>El ESP32 no interpreta el protocolo de aplicación: sólo transporta bytes.</a:t>
            </a:r>
            <a:endParaRPr b="0" lang="es-AR" sz="15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9" name="PlaceHolder 1"/>
          <p:cNvSpPr>
            <a:spLocks noGrp="1"/>
          </p:cNvSpPr>
          <p:nvPr>
            <p:ph type="sldNum" idx="7"/>
          </p:nvPr>
        </p:nvSpPr>
        <p:spPr>
          <a:xfrm>
            <a:off x="11868840" y="6556320"/>
            <a:ext cx="799560" cy="2995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en-US" sz="680" strike="noStrike" u="none">
                <a:solidFill>
                  <a:srgbClr val="87939c"/>
                </a:solidFill>
                <a:effectLst/>
                <a:uFillTx/>
                <a:latin typeface="Aptos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fld id="{4FDA5DA4-47B9-4CA2-840E-1BED43BF6CD7}" type="slidenum">
              <a:rPr b="0" lang="en-US" sz="680" strike="noStrike" u="none">
                <a:solidFill>
                  <a:srgbClr val="87939c"/>
                </a:solidFill>
                <a:effectLst/>
                <a:uFillTx/>
                <a:latin typeface="Aptos"/>
              </a:rPr>
              <a:t>&lt;número&gt;</a:t>
            </a:fld>
            <a:endParaRPr b="0" lang="es-AR" sz="68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Text 0"/>
          <p:cNvSpPr/>
          <p:nvPr/>
        </p:nvSpPr>
        <p:spPr>
          <a:xfrm>
            <a:off x="567000" y="384120"/>
            <a:ext cx="1101816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150" strike="noStrike" u="none">
                <a:solidFill>
                  <a:srgbClr val="172b36"/>
                </a:solidFill>
                <a:effectLst/>
                <a:uFillTx/>
                <a:latin typeface="Aptos Display"/>
                <a:ea typeface="Aptos Display"/>
              </a:rPr>
              <a:t>LPC845: adquisición y generación de la trama</a:t>
            </a:r>
            <a:endParaRPr b="0" lang="es-AR" sz="21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1" name="Text 1"/>
          <p:cNvSpPr/>
          <p:nvPr/>
        </p:nvSpPr>
        <p:spPr>
          <a:xfrm>
            <a:off x="576000" y="804600"/>
            <a:ext cx="10926720" cy="237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20" strike="noStrike" u="none">
                <a:solidFill>
                  <a:srgbClr val="73808a"/>
                </a:solidFill>
                <a:effectLst/>
                <a:uFillTx/>
                <a:latin typeface="Aptos"/>
              </a:rPr>
              <a:t>El branch master activo mide una entrada analógica y transmite el valor en milivoltios.</a:t>
            </a:r>
            <a:endParaRPr b="0" lang="es-AR" sz="92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2" name="Shape 2"/>
          <p:cNvSpPr/>
          <p:nvPr/>
        </p:nvSpPr>
        <p:spPr>
          <a:xfrm>
            <a:off x="658440" y="1298520"/>
            <a:ext cx="438480" cy="438480"/>
          </a:xfrm>
          <a:prstGeom prst="ellipse">
            <a:avLst/>
          </a:prstGeom>
          <a:solidFill>
            <a:srgbClr val="f28c28"/>
          </a:solidFill>
          <a:ln w="12700">
            <a:solidFill>
              <a:srgbClr val="f28c2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s-A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3" name="Text 3"/>
          <p:cNvSpPr/>
          <p:nvPr/>
        </p:nvSpPr>
        <p:spPr>
          <a:xfrm>
            <a:off x="658440" y="1417320"/>
            <a:ext cx="438480" cy="145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920" strike="noStrike" u="none">
                <a:solidFill>
                  <a:srgbClr val="ffffff"/>
                </a:solidFill>
                <a:effectLst/>
                <a:uFillTx/>
                <a:latin typeface="Aptos"/>
              </a:rPr>
              <a:t>1</a:t>
            </a:r>
            <a:endParaRPr b="0" lang="es-AR" sz="92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4" name="Text 4"/>
          <p:cNvSpPr/>
          <p:nvPr/>
        </p:nvSpPr>
        <p:spPr>
          <a:xfrm>
            <a:off x="1261800" y="1325880"/>
            <a:ext cx="127980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30" strike="noStrike" u="none">
                <a:solidFill>
                  <a:srgbClr val="172b36"/>
                </a:solidFill>
                <a:effectLst/>
                <a:uFillTx/>
                <a:latin typeface="Aptos"/>
              </a:rPr>
              <a:t>CTIMER0</a:t>
            </a:r>
            <a:endParaRPr b="0" lang="es-AR" sz="113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5" name="Text 5"/>
          <p:cNvSpPr/>
          <p:nvPr/>
        </p:nvSpPr>
        <p:spPr>
          <a:xfrm>
            <a:off x="2487240" y="1325880"/>
            <a:ext cx="3977280" cy="392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50" strike="noStrike" u="none">
                <a:solidFill>
                  <a:srgbClr val="5d6b74"/>
                </a:solidFill>
                <a:effectLst/>
                <a:uFillTx/>
                <a:latin typeface="Aptos"/>
              </a:rPr>
              <a:t>Interrumpe cada 1 ms y dispara ADC canal 0 (PIO0_7).</a:t>
            </a:r>
            <a:endParaRPr b="0" lang="es-AR" sz="10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6" name="Shape 6"/>
          <p:cNvSpPr/>
          <p:nvPr/>
        </p:nvSpPr>
        <p:spPr>
          <a:xfrm>
            <a:off x="877680" y="1755360"/>
            <a:ext cx="360" cy="356760"/>
          </a:xfrm>
          <a:prstGeom prst="line">
            <a:avLst/>
          </a:prstGeom>
          <a:ln w="17780">
            <a:solidFill>
              <a:srgbClr val="bac5c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s-A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7" name="Shape 7"/>
          <p:cNvSpPr/>
          <p:nvPr/>
        </p:nvSpPr>
        <p:spPr>
          <a:xfrm>
            <a:off x="658440" y="2130480"/>
            <a:ext cx="438480" cy="438480"/>
          </a:xfrm>
          <a:prstGeom prst="ellipse">
            <a:avLst/>
          </a:prstGeom>
          <a:solidFill>
            <a:srgbClr val="f28c28"/>
          </a:solidFill>
          <a:ln w="12700">
            <a:solidFill>
              <a:srgbClr val="f28c2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s-A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8" name="Text 8"/>
          <p:cNvSpPr/>
          <p:nvPr/>
        </p:nvSpPr>
        <p:spPr>
          <a:xfrm>
            <a:off x="658440" y="2249280"/>
            <a:ext cx="438480" cy="145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920" strike="noStrike" u="none">
                <a:solidFill>
                  <a:srgbClr val="ffffff"/>
                </a:solidFill>
                <a:effectLst/>
                <a:uFillTx/>
                <a:latin typeface="Aptos"/>
              </a:rPr>
              <a:t>2</a:t>
            </a:r>
            <a:endParaRPr b="0" lang="es-AR" sz="92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9" name="Text 9"/>
          <p:cNvSpPr/>
          <p:nvPr/>
        </p:nvSpPr>
        <p:spPr>
          <a:xfrm>
            <a:off x="1261800" y="2157840"/>
            <a:ext cx="127980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30" strike="noStrike" u="none">
                <a:solidFill>
                  <a:srgbClr val="172b36"/>
                </a:solidFill>
                <a:effectLst/>
                <a:uFillTx/>
                <a:latin typeface="Aptos"/>
              </a:rPr>
              <a:t>ADC</a:t>
            </a:r>
            <a:endParaRPr b="0" lang="es-AR" sz="113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0" name="Text 10"/>
          <p:cNvSpPr/>
          <p:nvPr/>
        </p:nvSpPr>
        <p:spPr>
          <a:xfrm>
            <a:off x="2487240" y="2157840"/>
            <a:ext cx="3977280" cy="392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50" strike="noStrike" u="none">
                <a:solidFill>
                  <a:srgbClr val="5d6b74"/>
                </a:solidFill>
                <a:effectLst/>
                <a:uFillTx/>
                <a:latin typeface="Aptos"/>
              </a:rPr>
              <a:t>La ISR guarda una muestra de 12 bits: 0…4095.</a:t>
            </a:r>
            <a:endParaRPr b="0" lang="es-AR" sz="10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1" name="Shape 11"/>
          <p:cNvSpPr/>
          <p:nvPr/>
        </p:nvSpPr>
        <p:spPr>
          <a:xfrm>
            <a:off x="877680" y="2587680"/>
            <a:ext cx="360" cy="356400"/>
          </a:xfrm>
          <a:prstGeom prst="line">
            <a:avLst/>
          </a:prstGeom>
          <a:ln w="17780">
            <a:solidFill>
              <a:srgbClr val="bac5c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s-A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2" name="Shape 12"/>
          <p:cNvSpPr/>
          <p:nvPr/>
        </p:nvSpPr>
        <p:spPr>
          <a:xfrm>
            <a:off x="658440" y="2962800"/>
            <a:ext cx="438480" cy="438480"/>
          </a:xfrm>
          <a:prstGeom prst="ellipse">
            <a:avLst/>
          </a:prstGeom>
          <a:solidFill>
            <a:srgbClr val="0b8b75"/>
          </a:solidFill>
          <a:ln w="12700">
            <a:solidFill>
              <a:srgbClr val="0b8b75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s-AR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3" name="Text 13"/>
          <p:cNvSpPr/>
          <p:nvPr/>
        </p:nvSpPr>
        <p:spPr>
          <a:xfrm>
            <a:off x="658440" y="3081600"/>
            <a:ext cx="438480" cy="145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920" strike="noStrike" u="none">
                <a:solidFill>
                  <a:srgbClr val="ffffff"/>
                </a:solidFill>
                <a:effectLst/>
                <a:uFillTx/>
                <a:latin typeface="Aptos"/>
              </a:rPr>
              <a:t>3</a:t>
            </a:r>
            <a:endParaRPr b="0" lang="es-AR" sz="92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4" name="Text 14"/>
          <p:cNvSpPr/>
          <p:nvPr/>
        </p:nvSpPr>
        <p:spPr>
          <a:xfrm>
            <a:off x="1261800" y="2990160"/>
            <a:ext cx="127980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30" strike="noStrike" u="none">
                <a:solidFill>
                  <a:srgbClr val="172b36"/>
                </a:solidFill>
                <a:effectLst/>
                <a:uFillTx/>
                <a:latin typeface="Aptos"/>
              </a:rPr>
              <a:t>Timer SW</a:t>
            </a:r>
            <a:endParaRPr b="0" lang="es-AR" sz="113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5" name="Text 15"/>
          <p:cNvSpPr/>
          <p:nvPr/>
        </p:nvSpPr>
        <p:spPr>
          <a:xfrm>
            <a:off x="2487240" y="2990160"/>
            <a:ext cx="3977280" cy="392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50" strike="noStrike" u="none">
                <a:solidFill>
                  <a:srgbClr val="5d6b74"/>
                </a:solidFill>
                <a:effectLst/>
                <a:uFillTx/>
                <a:latin typeface="Aptos"/>
              </a:rPr>
              <a:t>Cada ~2 s con la configuración actual llama a EnviarVoltaje().</a:t>
            </a:r>
            <a:endParaRPr b="0" lang="es-AR" sz="10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6" name="Shape 16"/>
          <p:cNvSpPr/>
          <p:nvPr/>
        </p:nvSpPr>
        <p:spPr>
          <a:xfrm>
            <a:off x="877680" y="3419640"/>
            <a:ext cx="360" cy="356760"/>
          </a:xfrm>
          <a:prstGeom prst="line">
            <a:avLst/>
          </a:prstGeom>
          <a:ln w="17780">
            <a:solidFill>
              <a:srgbClr val="bac5c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s-A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7" name="Shape 17"/>
          <p:cNvSpPr/>
          <p:nvPr/>
        </p:nvSpPr>
        <p:spPr>
          <a:xfrm>
            <a:off x="658440" y="3794760"/>
            <a:ext cx="438480" cy="438480"/>
          </a:xfrm>
          <a:prstGeom prst="ellipse">
            <a:avLst/>
          </a:prstGeom>
          <a:solidFill>
            <a:srgbClr val="0b8b75"/>
          </a:solidFill>
          <a:ln w="12700">
            <a:solidFill>
              <a:srgbClr val="0b8b75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s-AR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8" name="Text 18"/>
          <p:cNvSpPr/>
          <p:nvPr/>
        </p:nvSpPr>
        <p:spPr>
          <a:xfrm>
            <a:off x="658440" y="3913560"/>
            <a:ext cx="438480" cy="145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920" strike="noStrike" u="none">
                <a:solidFill>
                  <a:srgbClr val="ffffff"/>
                </a:solidFill>
                <a:effectLst/>
                <a:uFillTx/>
                <a:latin typeface="Aptos"/>
              </a:rPr>
              <a:t>4</a:t>
            </a:r>
            <a:endParaRPr b="0" lang="es-AR" sz="92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9" name="Text 19"/>
          <p:cNvSpPr/>
          <p:nvPr/>
        </p:nvSpPr>
        <p:spPr>
          <a:xfrm>
            <a:off x="1261800" y="3822120"/>
            <a:ext cx="127980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30" strike="noStrike" u="none">
                <a:solidFill>
                  <a:srgbClr val="172b36"/>
                </a:solidFill>
                <a:effectLst/>
                <a:uFillTx/>
                <a:latin typeface="Aptos"/>
              </a:rPr>
              <a:t>Escalado</a:t>
            </a:r>
            <a:endParaRPr b="0" lang="es-AR" sz="113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0" name="Text 20"/>
          <p:cNvSpPr/>
          <p:nvPr/>
        </p:nvSpPr>
        <p:spPr>
          <a:xfrm>
            <a:off x="2487240" y="3822120"/>
            <a:ext cx="3977280" cy="392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50" strike="noStrike" u="none">
                <a:solidFill>
                  <a:srgbClr val="5d6b74"/>
                </a:solidFill>
                <a:effectLst/>
                <a:uFillTx/>
                <a:latin typeface="Aptos"/>
              </a:rPr>
              <a:t>mV = cuentas × 3300 / 4095.</a:t>
            </a:r>
            <a:endParaRPr b="0" lang="es-AR" sz="10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1" name="Shape 21"/>
          <p:cNvSpPr/>
          <p:nvPr/>
        </p:nvSpPr>
        <p:spPr>
          <a:xfrm>
            <a:off x="877680" y="4251960"/>
            <a:ext cx="360" cy="356400"/>
          </a:xfrm>
          <a:prstGeom prst="line">
            <a:avLst/>
          </a:prstGeom>
          <a:ln w="17780">
            <a:solidFill>
              <a:srgbClr val="bac5c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s-A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2" name="Shape 22"/>
          <p:cNvSpPr/>
          <p:nvPr/>
        </p:nvSpPr>
        <p:spPr>
          <a:xfrm>
            <a:off x="658440" y="4626720"/>
            <a:ext cx="438480" cy="438480"/>
          </a:xfrm>
          <a:prstGeom prst="ellipse">
            <a:avLst/>
          </a:prstGeom>
          <a:solidFill>
            <a:srgbClr val="0b8b75"/>
          </a:solidFill>
          <a:ln w="12700">
            <a:solidFill>
              <a:srgbClr val="0b8b75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s-AR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3" name="Text 23"/>
          <p:cNvSpPr/>
          <p:nvPr/>
        </p:nvSpPr>
        <p:spPr>
          <a:xfrm>
            <a:off x="658440" y="4745880"/>
            <a:ext cx="438480" cy="145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920" strike="noStrike" u="none">
                <a:solidFill>
                  <a:srgbClr val="ffffff"/>
                </a:solidFill>
                <a:effectLst/>
                <a:uFillTx/>
                <a:latin typeface="Aptos"/>
              </a:rPr>
              <a:t>5</a:t>
            </a:r>
            <a:endParaRPr b="0" lang="es-AR" sz="92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4" name="Text 24"/>
          <p:cNvSpPr/>
          <p:nvPr/>
        </p:nvSpPr>
        <p:spPr>
          <a:xfrm>
            <a:off x="1261800" y="4654440"/>
            <a:ext cx="127980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30" strike="noStrike" u="none">
                <a:solidFill>
                  <a:srgbClr val="172b36"/>
                </a:solidFill>
                <a:effectLst/>
                <a:uFillTx/>
                <a:latin typeface="Aptos"/>
              </a:rPr>
              <a:t>UART1</a:t>
            </a:r>
            <a:endParaRPr b="0" lang="es-AR" sz="113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5" name="Text 25"/>
          <p:cNvSpPr/>
          <p:nvPr/>
        </p:nvSpPr>
        <p:spPr>
          <a:xfrm>
            <a:off x="2487240" y="4654440"/>
            <a:ext cx="3977280" cy="392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50" strike="noStrike" u="none">
                <a:solidFill>
                  <a:srgbClr val="5d6b74"/>
                </a:solidFill>
                <a:effectLst/>
                <a:uFillTx/>
                <a:latin typeface="Aptos"/>
              </a:rPr>
              <a:t>Envía la trama a 9600 bps, 8N1.</a:t>
            </a:r>
            <a:endParaRPr b="0" lang="es-AR" sz="10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6" name="Shape 26"/>
          <p:cNvSpPr/>
          <p:nvPr/>
        </p:nvSpPr>
        <p:spPr>
          <a:xfrm>
            <a:off x="6858000" y="1353240"/>
            <a:ext cx="4736160" cy="1992960"/>
          </a:xfrm>
          <a:prstGeom prst="roundRect">
            <a:avLst>
              <a:gd name="adj" fmla="val 3670"/>
            </a:avLst>
          </a:prstGeom>
          <a:solidFill>
            <a:srgbClr val="0b1420"/>
          </a:solidFill>
          <a:ln w="12700">
            <a:solidFill>
              <a:srgbClr val="0b142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s-AR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7" name="Text 27"/>
          <p:cNvSpPr/>
          <p:nvPr/>
        </p:nvSpPr>
        <p:spPr>
          <a:xfrm>
            <a:off x="7095600" y="1554480"/>
            <a:ext cx="1508400" cy="209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00" strike="noStrike" u="none">
                <a:solidFill>
                  <a:srgbClr val="8dd8c8"/>
                </a:solidFill>
                <a:effectLst/>
                <a:uFillTx/>
                <a:latin typeface="Courier New"/>
                <a:ea typeface="Courier New"/>
              </a:rPr>
              <a:t>EnviarVoltaje()</a:t>
            </a:r>
            <a:endParaRPr b="0" lang="es-AR" sz="1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8" name="Text 28"/>
          <p:cNvSpPr/>
          <p:nvPr/>
        </p:nvSpPr>
        <p:spPr>
          <a:xfrm>
            <a:off x="7095600" y="1847160"/>
            <a:ext cx="4160160" cy="1188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" rIns="360" tIns="360" bIns="36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trike="noStrike" u="none">
                <a:solidFill>
                  <a:srgbClr val="e6edf3"/>
                </a:solidFill>
                <a:effectLst/>
                <a:uFillTx/>
                <a:latin typeface="Courier New"/>
                <a:ea typeface="Courier New"/>
              </a:rPr>
              <a:t>lectura = ADC_GetCuentas();</a:t>
            </a:r>
            <a:endParaRPr b="0" lang="es-AR" sz="1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trike="noStrike" u="none">
                <a:solidFill>
                  <a:srgbClr val="e6edf3"/>
                </a:solidFill>
                <a:effectLst/>
                <a:uFillTx/>
                <a:latin typeface="Courier New"/>
                <a:ea typeface="Courier New"/>
              </a:rPr>
              <a:t>lectura = lectura * 3300 / 4095;</a:t>
            </a:r>
            <a:endParaRPr b="0" lang="es-AR" sz="1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trike="noStrike" u="none">
                <a:solidFill>
                  <a:srgbClr val="e6edf3"/>
                </a:solidFill>
                <a:effectLst/>
                <a:uFillTx/>
                <a:latin typeface="Courier New"/>
                <a:ea typeface="Courier New"/>
              </a:rPr>
              <a:t>sprintf(aux, "&gt;D,%4d,", lectura);</a:t>
            </a:r>
            <a:endParaRPr b="0" lang="es-AR" sz="1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trike="noStrike" u="none">
                <a:solidFill>
                  <a:srgbClr val="e6edf3"/>
                </a:solidFill>
                <a:effectLst/>
                <a:uFillTx/>
                <a:latin typeface="Courier New"/>
                <a:ea typeface="Courier New"/>
              </a:rPr>
              <a:t>chk = XOR(aux);</a:t>
            </a:r>
            <a:endParaRPr b="0" lang="es-AR" sz="1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trike="noStrike" u="none">
                <a:solidFill>
                  <a:srgbClr val="e6edf3"/>
                </a:solidFill>
                <a:effectLst/>
                <a:uFillTx/>
                <a:latin typeface="Courier New"/>
                <a:ea typeface="Courier New"/>
              </a:rPr>
              <a:t>UART1_Send(aux + chk + "&lt;");</a:t>
            </a:r>
            <a:endParaRPr b="0" lang="es-AR" sz="1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9" name="Shape 29"/>
          <p:cNvSpPr/>
          <p:nvPr/>
        </p:nvSpPr>
        <p:spPr>
          <a:xfrm>
            <a:off x="6858000" y="3694320"/>
            <a:ext cx="4736160" cy="1481040"/>
          </a:xfrm>
          <a:prstGeom prst="roundRect">
            <a:avLst>
              <a:gd name="adj" fmla="val 4938"/>
            </a:avLst>
          </a:prstGeom>
          <a:solidFill>
            <a:srgbClr val="fff2e6"/>
          </a:solidFill>
          <a:ln w="12700">
            <a:solidFill>
              <a:srgbClr val="f28c2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s-A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0" name="Text 30"/>
          <p:cNvSpPr/>
          <p:nvPr/>
        </p:nvSpPr>
        <p:spPr>
          <a:xfrm>
            <a:off x="7113960" y="3940920"/>
            <a:ext cx="2377080" cy="237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00" strike="noStrike" u="none">
                <a:solidFill>
                  <a:srgbClr val="172b36"/>
                </a:solidFill>
                <a:effectLst/>
                <a:uFillTx/>
                <a:latin typeface="Aptos"/>
              </a:rPr>
              <a:t>Ejemplo para 1234 mV</a:t>
            </a:r>
            <a:endParaRPr b="0" lang="es-AR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1" name="Text 31"/>
          <p:cNvSpPr/>
          <p:nvPr/>
        </p:nvSpPr>
        <p:spPr>
          <a:xfrm>
            <a:off x="7113960" y="4407480"/>
            <a:ext cx="2514240" cy="328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900" strike="noStrike" u="none">
                <a:solidFill>
                  <a:srgbClr val="f28c28"/>
                </a:solidFill>
                <a:effectLst/>
                <a:uFillTx/>
                <a:latin typeface="Courier New"/>
                <a:ea typeface="Courier New"/>
              </a:rPr>
              <a:t>&gt;D,1234,~&lt;</a:t>
            </a:r>
            <a:endParaRPr b="0" lang="es-AR" sz="19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2" name="Text 32"/>
          <p:cNvSpPr/>
          <p:nvPr/>
        </p:nvSpPr>
        <p:spPr>
          <a:xfrm>
            <a:off x="7113960" y="4800600"/>
            <a:ext cx="4023000" cy="20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20" strike="noStrike" u="none">
                <a:solidFill>
                  <a:srgbClr val="5d6b74"/>
                </a:solidFill>
                <a:effectLst/>
                <a:uFillTx/>
                <a:latin typeface="Aptos"/>
              </a:rPr>
              <a:t>XOR de "&gt;D,1234," = 0x7E = ~</a:t>
            </a:r>
            <a:endParaRPr b="0" lang="es-AR" sz="92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3" name="Shape 33"/>
          <p:cNvSpPr/>
          <p:nvPr/>
        </p:nvSpPr>
        <p:spPr>
          <a:xfrm>
            <a:off x="6858000" y="5413320"/>
            <a:ext cx="4736160" cy="511560"/>
          </a:xfrm>
          <a:prstGeom prst="roundRect">
            <a:avLst>
              <a:gd name="adj" fmla="val 14286"/>
            </a:avLst>
          </a:prstGeom>
          <a:solidFill>
            <a:srgbClr val="eaf1ff"/>
          </a:solidFill>
          <a:ln w="12700">
            <a:solidFill>
              <a:srgbClr val="2f6b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s-A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4" name="Text 34"/>
          <p:cNvSpPr/>
          <p:nvPr/>
        </p:nvSpPr>
        <p:spPr>
          <a:xfrm>
            <a:off x="7059240" y="5541120"/>
            <a:ext cx="434304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 fontScale="92500" lnSpcReduction="9999"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870" strike="noStrike" u="none">
                <a:solidFill>
                  <a:srgbClr val="123a50"/>
                </a:solidFill>
                <a:effectLst/>
                <a:uFillTx/>
                <a:latin typeface="Aptos"/>
              </a:rPr>
              <a:t>Nota: el nombre histórico MQTT_Client no implica MQTT en esta demo; el flujo activo es UART + TCP bridge.</a:t>
            </a:r>
            <a:endParaRPr b="0" lang="es-AR" sz="87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5" name="PlaceHolder 1"/>
          <p:cNvSpPr>
            <a:spLocks noGrp="1"/>
          </p:cNvSpPr>
          <p:nvPr>
            <p:ph type="sldNum" idx="8"/>
          </p:nvPr>
        </p:nvSpPr>
        <p:spPr>
          <a:xfrm>
            <a:off x="11868840" y="6556320"/>
            <a:ext cx="799560" cy="2995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en-US" sz="680" strike="noStrike" u="none">
                <a:solidFill>
                  <a:srgbClr val="87939c"/>
                </a:solidFill>
                <a:effectLst/>
                <a:uFillTx/>
                <a:latin typeface="Aptos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fld id="{C8717B23-476B-4E6D-A4B0-ED2C776CB6E6}" type="slidenum">
              <a:rPr b="0" lang="en-US" sz="680" strike="noStrike" u="none">
                <a:solidFill>
                  <a:srgbClr val="87939c"/>
                </a:solidFill>
                <a:effectLst/>
                <a:uFillTx/>
                <a:latin typeface="Aptos"/>
              </a:rPr>
              <a:t>&lt;número&gt;</a:t>
            </a:fld>
            <a:endParaRPr b="0" lang="es-AR" sz="68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Text 0"/>
          <p:cNvSpPr/>
          <p:nvPr/>
        </p:nvSpPr>
        <p:spPr>
          <a:xfrm>
            <a:off x="567000" y="384120"/>
            <a:ext cx="1101816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150" strike="noStrike" u="none">
                <a:solidFill>
                  <a:srgbClr val="172b36"/>
                </a:solidFill>
                <a:effectLst/>
                <a:uFillTx/>
                <a:latin typeface="Aptos Display"/>
                <a:ea typeface="Aptos Display"/>
              </a:rPr>
              <a:t>LPC845: recepción de comandos</a:t>
            </a:r>
            <a:endParaRPr b="0" lang="es-AR" sz="21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7" name="Text 1"/>
          <p:cNvSpPr/>
          <p:nvPr/>
        </p:nvSpPr>
        <p:spPr>
          <a:xfrm>
            <a:off x="576000" y="804600"/>
            <a:ext cx="10926720" cy="237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20" strike="noStrike" u="none">
                <a:solidFill>
                  <a:srgbClr val="73808a"/>
                </a:solidFill>
                <a:effectLst/>
                <a:uFillTx/>
                <a:latin typeface="Aptos"/>
              </a:rPr>
              <a:t>Una máquina de estados procesa byte a byte los comandos que llegan por UART.</a:t>
            </a:r>
            <a:endParaRPr b="0" lang="es-AR" sz="92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8" name="Shape 2"/>
          <p:cNvSpPr/>
          <p:nvPr/>
        </p:nvSpPr>
        <p:spPr>
          <a:xfrm>
            <a:off x="530280" y="1417320"/>
            <a:ext cx="804240" cy="694440"/>
          </a:xfrm>
          <a:prstGeom prst="roundRect">
            <a:avLst>
              <a:gd name="adj" fmla="val 10526"/>
            </a:avLst>
          </a:prstGeom>
          <a:solidFill>
            <a:srgbClr val="ffffff"/>
          </a:solidFill>
          <a:ln w="12700">
            <a:solidFill>
              <a:srgbClr val="d8e0e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s-A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9" name="Text 3"/>
          <p:cNvSpPr/>
          <p:nvPr/>
        </p:nvSpPr>
        <p:spPr>
          <a:xfrm>
            <a:off x="567000" y="1554480"/>
            <a:ext cx="731160" cy="20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20" strike="noStrike" u="none">
                <a:solidFill>
                  <a:srgbClr val="172b36"/>
                </a:solidFill>
                <a:effectLst/>
                <a:uFillTx/>
                <a:latin typeface="Courier New"/>
                <a:ea typeface="Courier New"/>
              </a:rPr>
              <a:t>&gt;</a:t>
            </a:r>
            <a:endParaRPr b="0" lang="es-AR" sz="112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0" name="Text 4"/>
          <p:cNvSpPr/>
          <p:nvPr/>
        </p:nvSpPr>
        <p:spPr>
          <a:xfrm>
            <a:off x="567000" y="1847160"/>
            <a:ext cx="731160" cy="127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690" strike="noStrike" u="none">
                <a:solidFill>
                  <a:srgbClr val="5d6b74"/>
                </a:solidFill>
                <a:effectLst/>
                <a:uFillTx/>
                <a:latin typeface="Aptos"/>
              </a:rPr>
              <a:t>Inicio</a:t>
            </a:r>
            <a:endParaRPr b="0" lang="es-AR" sz="69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1" name="Shape 5"/>
          <p:cNvSpPr/>
          <p:nvPr/>
        </p:nvSpPr>
        <p:spPr>
          <a:xfrm>
            <a:off x="1380600" y="1773720"/>
            <a:ext cx="228600" cy="360"/>
          </a:xfrm>
          <a:prstGeom prst="line">
            <a:avLst/>
          </a:prstGeom>
          <a:ln w="15240">
            <a:solidFill>
              <a:srgbClr val="aeb9c1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s-A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2" name="Shape 6"/>
          <p:cNvSpPr/>
          <p:nvPr/>
        </p:nvSpPr>
        <p:spPr>
          <a:xfrm>
            <a:off x="1664280" y="1417320"/>
            <a:ext cx="804240" cy="694440"/>
          </a:xfrm>
          <a:prstGeom prst="roundRect">
            <a:avLst>
              <a:gd name="adj" fmla="val 10526"/>
            </a:avLst>
          </a:prstGeom>
          <a:solidFill>
            <a:srgbClr val="ffffff"/>
          </a:solidFill>
          <a:ln w="12700">
            <a:solidFill>
              <a:srgbClr val="d8e0e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s-A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3" name="Text 7"/>
          <p:cNvSpPr/>
          <p:nvPr/>
        </p:nvSpPr>
        <p:spPr>
          <a:xfrm>
            <a:off x="1700640" y="1554480"/>
            <a:ext cx="731160" cy="20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20" strike="noStrike" u="none">
                <a:solidFill>
                  <a:srgbClr val="172b36"/>
                </a:solidFill>
                <a:effectLst/>
                <a:uFillTx/>
                <a:latin typeface="Courier New"/>
                <a:ea typeface="Courier New"/>
              </a:rPr>
              <a:t>L</a:t>
            </a:r>
            <a:endParaRPr b="0" lang="es-AR" sz="112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4" name="Text 8"/>
          <p:cNvSpPr/>
          <p:nvPr/>
        </p:nvSpPr>
        <p:spPr>
          <a:xfrm>
            <a:off x="1700640" y="1847160"/>
            <a:ext cx="731160" cy="127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690" strike="noStrike" u="none">
                <a:solidFill>
                  <a:srgbClr val="5d6b74"/>
                </a:solidFill>
                <a:effectLst/>
                <a:uFillTx/>
                <a:latin typeface="Aptos"/>
              </a:rPr>
              <a:t>LED</a:t>
            </a:r>
            <a:endParaRPr b="0" lang="es-AR" sz="69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5" name="Shape 9"/>
          <p:cNvSpPr/>
          <p:nvPr/>
        </p:nvSpPr>
        <p:spPr>
          <a:xfrm>
            <a:off x="2514600" y="1773720"/>
            <a:ext cx="228600" cy="360"/>
          </a:xfrm>
          <a:prstGeom prst="line">
            <a:avLst/>
          </a:prstGeom>
          <a:ln w="15240">
            <a:solidFill>
              <a:srgbClr val="aeb9c1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s-A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6" name="Shape 10"/>
          <p:cNvSpPr/>
          <p:nvPr/>
        </p:nvSpPr>
        <p:spPr>
          <a:xfrm>
            <a:off x="2797920" y="1417320"/>
            <a:ext cx="804240" cy="694440"/>
          </a:xfrm>
          <a:prstGeom prst="roundRect">
            <a:avLst>
              <a:gd name="adj" fmla="val 10526"/>
            </a:avLst>
          </a:prstGeom>
          <a:solidFill>
            <a:srgbClr val="ffffff"/>
          </a:solidFill>
          <a:ln w="12700">
            <a:solidFill>
              <a:srgbClr val="d8e0e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s-A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7" name="Text 11"/>
          <p:cNvSpPr/>
          <p:nvPr/>
        </p:nvSpPr>
        <p:spPr>
          <a:xfrm>
            <a:off x="2834640" y="1554480"/>
            <a:ext cx="731160" cy="20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20" strike="noStrike" u="none">
                <a:solidFill>
                  <a:srgbClr val="172b36"/>
                </a:solidFill>
                <a:effectLst/>
                <a:uFillTx/>
                <a:latin typeface="Courier New"/>
                <a:ea typeface="Courier New"/>
              </a:rPr>
              <a:t>,</a:t>
            </a:r>
            <a:endParaRPr b="0" lang="es-AR" sz="112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8" name="Text 12"/>
          <p:cNvSpPr/>
          <p:nvPr/>
        </p:nvSpPr>
        <p:spPr>
          <a:xfrm>
            <a:off x="2834640" y="1847160"/>
            <a:ext cx="731160" cy="127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690" strike="noStrike" u="none">
                <a:solidFill>
                  <a:srgbClr val="5d6b74"/>
                </a:solidFill>
                <a:effectLst/>
                <a:uFillTx/>
                <a:latin typeface="Aptos"/>
              </a:rPr>
              <a:t>Sep.</a:t>
            </a:r>
            <a:endParaRPr b="0" lang="es-AR" sz="69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9" name="Shape 13"/>
          <p:cNvSpPr/>
          <p:nvPr/>
        </p:nvSpPr>
        <p:spPr>
          <a:xfrm>
            <a:off x="3648240" y="1773720"/>
            <a:ext cx="228600" cy="360"/>
          </a:xfrm>
          <a:prstGeom prst="line">
            <a:avLst/>
          </a:prstGeom>
          <a:ln w="15240">
            <a:solidFill>
              <a:srgbClr val="aeb9c1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s-A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0" name="Shape 14"/>
          <p:cNvSpPr/>
          <p:nvPr/>
        </p:nvSpPr>
        <p:spPr>
          <a:xfrm>
            <a:off x="3931920" y="1417320"/>
            <a:ext cx="1096920" cy="694440"/>
          </a:xfrm>
          <a:prstGeom prst="roundRect">
            <a:avLst>
              <a:gd name="adj" fmla="val 10526"/>
            </a:avLst>
          </a:prstGeom>
          <a:solidFill>
            <a:srgbClr val="fff2e6"/>
          </a:solidFill>
          <a:ln w="12700">
            <a:solidFill>
              <a:srgbClr val="f28c2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s-A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1" name="Text 15"/>
          <p:cNvSpPr/>
          <p:nvPr/>
        </p:nvSpPr>
        <p:spPr>
          <a:xfrm>
            <a:off x="3968640" y="1554480"/>
            <a:ext cx="1023840" cy="20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20" strike="noStrike" u="none">
                <a:solidFill>
                  <a:srgbClr val="172b36"/>
                </a:solidFill>
                <a:effectLst/>
                <a:uFillTx/>
                <a:latin typeface="Courier New"/>
                <a:ea typeface="Courier New"/>
              </a:rPr>
              <a:t>R/G/B</a:t>
            </a:r>
            <a:endParaRPr b="0" lang="es-AR" sz="112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2" name="Text 16"/>
          <p:cNvSpPr/>
          <p:nvPr/>
        </p:nvSpPr>
        <p:spPr>
          <a:xfrm>
            <a:off x="3968640" y="1847160"/>
            <a:ext cx="1023840" cy="127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690" strike="noStrike" u="none">
                <a:solidFill>
                  <a:srgbClr val="5d6b74"/>
                </a:solidFill>
                <a:effectLst/>
                <a:uFillTx/>
                <a:latin typeface="Aptos"/>
              </a:rPr>
              <a:t>Color</a:t>
            </a:r>
            <a:endParaRPr b="0" lang="es-AR" sz="69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3" name="Shape 17"/>
          <p:cNvSpPr/>
          <p:nvPr/>
        </p:nvSpPr>
        <p:spPr>
          <a:xfrm>
            <a:off x="5074920" y="1773720"/>
            <a:ext cx="228600" cy="360"/>
          </a:xfrm>
          <a:prstGeom prst="line">
            <a:avLst/>
          </a:prstGeom>
          <a:ln w="15240">
            <a:solidFill>
              <a:srgbClr val="aeb9c1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s-A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4" name="Shape 18"/>
          <p:cNvSpPr/>
          <p:nvPr/>
        </p:nvSpPr>
        <p:spPr>
          <a:xfrm>
            <a:off x="5358240" y="1417320"/>
            <a:ext cx="804240" cy="694440"/>
          </a:xfrm>
          <a:prstGeom prst="roundRect">
            <a:avLst>
              <a:gd name="adj" fmla="val 10526"/>
            </a:avLst>
          </a:prstGeom>
          <a:solidFill>
            <a:srgbClr val="ffffff"/>
          </a:solidFill>
          <a:ln w="12700">
            <a:solidFill>
              <a:srgbClr val="d8e0e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s-A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5" name="Text 19"/>
          <p:cNvSpPr/>
          <p:nvPr/>
        </p:nvSpPr>
        <p:spPr>
          <a:xfrm>
            <a:off x="5394960" y="1554480"/>
            <a:ext cx="731160" cy="20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20" strike="noStrike" u="none">
                <a:solidFill>
                  <a:srgbClr val="172b36"/>
                </a:solidFill>
                <a:effectLst/>
                <a:uFillTx/>
                <a:latin typeface="Courier New"/>
                <a:ea typeface="Courier New"/>
              </a:rPr>
              <a:t>,</a:t>
            </a:r>
            <a:endParaRPr b="0" lang="es-AR" sz="112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6" name="Text 20"/>
          <p:cNvSpPr/>
          <p:nvPr/>
        </p:nvSpPr>
        <p:spPr>
          <a:xfrm>
            <a:off x="5394960" y="1847160"/>
            <a:ext cx="731160" cy="127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690" strike="noStrike" u="none">
                <a:solidFill>
                  <a:srgbClr val="5d6b74"/>
                </a:solidFill>
                <a:effectLst/>
                <a:uFillTx/>
                <a:latin typeface="Aptos"/>
              </a:rPr>
              <a:t>Sep.</a:t>
            </a:r>
            <a:endParaRPr b="0" lang="es-AR" sz="69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7" name="Shape 21"/>
          <p:cNvSpPr/>
          <p:nvPr/>
        </p:nvSpPr>
        <p:spPr>
          <a:xfrm>
            <a:off x="6208560" y="1773720"/>
            <a:ext cx="228600" cy="360"/>
          </a:xfrm>
          <a:prstGeom prst="line">
            <a:avLst/>
          </a:prstGeom>
          <a:ln w="15240">
            <a:solidFill>
              <a:srgbClr val="aeb9c1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s-A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8" name="Shape 22"/>
          <p:cNvSpPr/>
          <p:nvPr/>
        </p:nvSpPr>
        <p:spPr>
          <a:xfrm>
            <a:off x="6492240" y="1417320"/>
            <a:ext cx="804240" cy="694440"/>
          </a:xfrm>
          <a:prstGeom prst="roundRect">
            <a:avLst>
              <a:gd name="adj" fmla="val 10526"/>
            </a:avLst>
          </a:prstGeom>
          <a:solidFill>
            <a:srgbClr val="ffffff"/>
          </a:solidFill>
          <a:ln w="12700">
            <a:solidFill>
              <a:srgbClr val="d8e0e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s-A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9" name="Text 23"/>
          <p:cNvSpPr/>
          <p:nvPr/>
        </p:nvSpPr>
        <p:spPr>
          <a:xfrm>
            <a:off x="6528960" y="1554480"/>
            <a:ext cx="731160" cy="20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20" strike="noStrike" u="none">
                <a:solidFill>
                  <a:srgbClr val="172b36"/>
                </a:solidFill>
                <a:effectLst/>
                <a:uFillTx/>
                <a:latin typeface="Courier New"/>
                <a:ea typeface="Courier New"/>
              </a:rPr>
              <a:t>0/1</a:t>
            </a:r>
            <a:endParaRPr b="0" lang="es-AR" sz="112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0" name="Text 24"/>
          <p:cNvSpPr/>
          <p:nvPr/>
        </p:nvSpPr>
        <p:spPr>
          <a:xfrm>
            <a:off x="6528960" y="1847160"/>
            <a:ext cx="731160" cy="127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690" strike="noStrike" u="none">
                <a:solidFill>
                  <a:srgbClr val="5d6b74"/>
                </a:solidFill>
                <a:effectLst/>
                <a:uFillTx/>
                <a:latin typeface="Aptos"/>
              </a:rPr>
              <a:t>Estado</a:t>
            </a:r>
            <a:endParaRPr b="0" lang="es-AR" sz="69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1" name="Shape 25"/>
          <p:cNvSpPr/>
          <p:nvPr/>
        </p:nvSpPr>
        <p:spPr>
          <a:xfrm>
            <a:off x="7342560" y="1773720"/>
            <a:ext cx="228600" cy="360"/>
          </a:xfrm>
          <a:prstGeom prst="line">
            <a:avLst/>
          </a:prstGeom>
          <a:ln w="15240">
            <a:solidFill>
              <a:srgbClr val="aeb9c1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s-A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2" name="Shape 26"/>
          <p:cNvSpPr/>
          <p:nvPr/>
        </p:nvSpPr>
        <p:spPr>
          <a:xfrm>
            <a:off x="7626240" y="1417320"/>
            <a:ext cx="804240" cy="694440"/>
          </a:xfrm>
          <a:prstGeom prst="roundRect">
            <a:avLst>
              <a:gd name="adj" fmla="val 10526"/>
            </a:avLst>
          </a:prstGeom>
          <a:solidFill>
            <a:srgbClr val="ffffff"/>
          </a:solidFill>
          <a:ln w="12700">
            <a:solidFill>
              <a:srgbClr val="d8e0e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s-A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3" name="Text 27"/>
          <p:cNvSpPr/>
          <p:nvPr/>
        </p:nvSpPr>
        <p:spPr>
          <a:xfrm>
            <a:off x="7662600" y="1554480"/>
            <a:ext cx="731160" cy="20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20" strike="noStrike" u="none">
                <a:solidFill>
                  <a:srgbClr val="172b36"/>
                </a:solidFill>
                <a:effectLst/>
                <a:uFillTx/>
                <a:latin typeface="Courier New"/>
                <a:ea typeface="Courier New"/>
              </a:rPr>
              <a:t>,</a:t>
            </a:r>
            <a:endParaRPr b="0" lang="es-AR" sz="112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4" name="Text 28"/>
          <p:cNvSpPr/>
          <p:nvPr/>
        </p:nvSpPr>
        <p:spPr>
          <a:xfrm>
            <a:off x="7662600" y="1847160"/>
            <a:ext cx="731160" cy="127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690" strike="noStrike" u="none">
                <a:solidFill>
                  <a:srgbClr val="5d6b74"/>
                </a:solidFill>
                <a:effectLst/>
                <a:uFillTx/>
                <a:latin typeface="Aptos"/>
              </a:rPr>
              <a:t>Sep.</a:t>
            </a:r>
            <a:endParaRPr b="0" lang="es-AR" sz="69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5" name="Shape 29"/>
          <p:cNvSpPr/>
          <p:nvPr/>
        </p:nvSpPr>
        <p:spPr>
          <a:xfrm>
            <a:off x="8476200" y="1773720"/>
            <a:ext cx="228600" cy="360"/>
          </a:xfrm>
          <a:prstGeom prst="line">
            <a:avLst/>
          </a:prstGeom>
          <a:ln w="15240">
            <a:solidFill>
              <a:srgbClr val="aeb9c1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s-A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6" name="Shape 30"/>
          <p:cNvSpPr/>
          <p:nvPr/>
        </p:nvSpPr>
        <p:spPr>
          <a:xfrm>
            <a:off x="8759880" y="1417320"/>
            <a:ext cx="804240" cy="694440"/>
          </a:xfrm>
          <a:prstGeom prst="roundRect">
            <a:avLst>
              <a:gd name="adj" fmla="val 10526"/>
            </a:avLst>
          </a:prstGeom>
          <a:solidFill>
            <a:srgbClr val="fcebec"/>
          </a:solidFill>
          <a:ln w="12700">
            <a:solidFill>
              <a:srgbClr val="d94c4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s-A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7" name="Text 31"/>
          <p:cNvSpPr/>
          <p:nvPr/>
        </p:nvSpPr>
        <p:spPr>
          <a:xfrm>
            <a:off x="8796600" y="1554480"/>
            <a:ext cx="731160" cy="20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20" strike="noStrike" u="none">
                <a:solidFill>
                  <a:srgbClr val="172b36"/>
                </a:solidFill>
                <a:effectLst/>
                <a:uFillTx/>
                <a:latin typeface="Courier New"/>
                <a:ea typeface="Courier New"/>
              </a:rPr>
              <a:t>CHK</a:t>
            </a:r>
            <a:endParaRPr b="0" lang="es-AR" sz="112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8" name="Text 32"/>
          <p:cNvSpPr/>
          <p:nvPr/>
        </p:nvSpPr>
        <p:spPr>
          <a:xfrm>
            <a:off x="8796600" y="1847160"/>
            <a:ext cx="731160" cy="127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690" strike="noStrike" u="none">
                <a:solidFill>
                  <a:srgbClr val="5d6b74"/>
                </a:solidFill>
                <a:effectLst/>
                <a:uFillTx/>
                <a:latin typeface="Aptos"/>
              </a:rPr>
              <a:t>XOR</a:t>
            </a:r>
            <a:endParaRPr b="0" lang="es-AR" sz="69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9" name="Shape 33"/>
          <p:cNvSpPr/>
          <p:nvPr/>
        </p:nvSpPr>
        <p:spPr>
          <a:xfrm>
            <a:off x="9610200" y="1773720"/>
            <a:ext cx="228600" cy="360"/>
          </a:xfrm>
          <a:prstGeom prst="line">
            <a:avLst/>
          </a:prstGeom>
          <a:ln w="15240">
            <a:solidFill>
              <a:srgbClr val="aeb9c1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s-A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0" name="Shape 34"/>
          <p:cNvSpPr/>
          <p:nvPr/>
        </p:nvSpPr>
        <p:spPr>
          <a:xfrm>
            <a:off x="9893880" y="1417320"/>
            <a:ext cx="804240" cy="694440"/>
          </a:xfrm>
          <a:prstGeom prst="roundRect">
            <a:avLst>
              <a:gd name="adj" fmla="val 10526"/>
            </a:avLst>
          </a:prstGeom>
          <a:solidFill>
            <a:srgbClr val="ffffff"/>
          </a:solidFill>
          <a:ln w="12700">
            <a:solidFill>
              <a:srgbClr val="d8e0e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s-A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1" name="Text 35"/>
          <p:cNvSpPr/>
          <p:nvPr/>
        </p:nvSpPr>
        <p:spPr>
          <a:xfrm>
            <a:off x="9930240" y="1554480"/>
            <a:ext cx="731160" cy="20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20" strike="noStrike" u="none">
                <a:solidFill>
                  <a:srgbClr val="172b36"/>
                </a:solidFill>
                <a:effectLst/>
                <a:uFillTx/>
                <a:latin typeface="Courier New"/>
                <a:ea typeface="Courier New"/>
              </a:rPr>
              <a:t>&lt;</a:t>
            </a:r>
            <a:endParaRPr b="0" lang="es-AR" sz="112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2" name="Text 36"/>
          <p:cNvSpPr/>
          <p:nvPr/>
        </p:nvSpPr>
        <p:spPr>
          <a:xfrm>
            <a:off x="9930240" y="1847160"/>
            <a:ext cx="731160" cy="127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690" strike="noStrike" u="none">
                <a:solidFill>
                  <a:srgbClr val="5d6b74"/>
                </a:solidFill>
                <a:effectLst/>
                <a:uFillTx/>
                <a:latin typeface="Aptos"/>
              </a:rPr>
              <a:t>Fin</a:t>
            </a:r>
            <a:endParaRPr b="0" lang="es-AR" sz="69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3" name="Shape 37"/>
          <p:cNvSpPr/>
          <p:nvPr/>
        </p:nvSpPr>
        <p:spPr>
          <a:xfrm>
            <a:off x="694800" y="2788920"/>
            <a:ext cx="5166000" cy="2148480"/>
          </a:xfrm>
          <a:prstGeom prst="roundRect">
            <a:avLst>
              <a:gd name="adj" fmla="val 3404"/>
            </a:avLst>
          </a:prstGeom>
          <a:solidFill>
            <a:srgbClr val="eaf7ee"/>
          </a:solidFill>
          <a:ln w="12700">
            <a:solidFill>
              <a:srgbClr val="2da44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s-A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4" name="Text 38"/>
          <p:cNvSpPr/>
          <p:nvPr/>
        </p:nvSpPr>
        <p:spPr>
          <a:xfrm>
            <a:off x="932760" y="3063240"/>
            <a:ext cx="246852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600" strike="noStrike" u="none">
                <a:solidFill>
                  <a:srgbClr val="172b36"/>
                </a:solidFill>
                <a:effectLst/>
                <a:uFillTx/>
                <a:latin typeface="Aptos"/>
              </a:rPr>
              <a:t>Cuando la trama es válida</a:t>
            </a:r>
            <a:endParaRPr b="0" lang="es-AR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5" name="Text 39"/>
          <p:cNvSpPr/>
          <p:nvPr/>
        </p:nvSpPr>
        <p:spPr>
          <a:xfrm>
            <a:off x="914400" y="3502080"/>
            <a:ext cx="4534920" cy="1096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080" rIns="1080" tIns="1080" bIns="1080" anchor="ctr">
            <a:normAutofit/>
          </a:bodyPr>
          <a:p>
            <a:pPr marL="177840" indent="-177840" defTabSz="914400">
              <a:lnSpc>
                <a:spcPct val="100000"/>
              </a:lnSpc>
              <a:buClr>
                <a:srgbClr val="172b36"/>
              </a:buClr>
              <a:buFont typeface="Symbol" charset="2"/>
              <a:buChar char=""/>
            </a:pPr>
            <a:r>
              <a:rPr b="0" lang="en-US" sz="1120" strike="noStrike" u="none">
                <a:solidFill>
                  <a:srgbClr val="172b36"/>
                </a:solidFill>
                <a:effectLst/>
                <a:uFillTx/>
                <a:latin typeface="Aptos"/>
              </a:rPr>
              <a:t>Aplica ON/OFF sobre el LED rojo, verde o azul.</a:t>
            </a:r>
            <a:endParaRPr b="0" lang="es-AR" sz="112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7840" indent="-177840" defTabSz="914400">
              <a:lnSpc>
                <a:spcPct val="100000"/>
              </a:lnSpc>
              <a:buClr>
                <a:srgbClr val="172b36"/>
              </a:buClr>
              <a:buFont typeface="Symbol" charset="2"/>
              <a:buChar char=""/>
            </a:pPr>
            <a:r>
              <a:rPr b="0" lang="en-US" sz="1120" strike="noStrike" u="none">
                <a:solidFill>
                  <a:srgbClr val="172b36"/>
                </a:solidFill>
                <a:effectLst/>
                <a:uFillTx/>
                <a:latin typeface="Aptos"/>
              </a:rPr>
              <a:t>Las salidas son activas en bajo: LED_ON = 0.</a:t>
            </a:r>
            <a:endParaRPr b="0" lang="es-AR" sz="112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7840" indent="-177840" defTabSz="914400">
              <a:lnSpc>
                <a:spcPct val="100000"/>
              </a:lnSpc>
              <a:buClr>
                <a:srgbClr val="172b36"/>
              </a:buClr>
              <a:buFont typeface="Symbol" charset="2"/>
              <a:buChar char=""/>
            </a:pPr>
            <a:r>
              <a:rPr b="0" lang="en-US" sz="1120" strike="noStrike" u="none">
                <a:solidFill>
                  <a:srgbClr val="172b36"/>
                </a:solidFill>
                <a:effectLst/>
                <a:uFillTx/>
                <a:latin typeface="Aptos"/>
              </a:rPr>
              <a:t>Envía un ACK simple: &gt;R,OK&lt; · &gt;G,OK&lt; · &gt;B,OK&lt;.</a:t>
            </a:r>
            <a:endParaRPr b="0" lang="es-AR" sz="112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6" name="Shape 40"/>
          <p:cNvSpPr/>
          <p:nvPr/>
        </p:nvSpPr>
        <p:spPr>
          <a:xfrm>
            <a:off x="6309360" y="2788920"/>
            <a:ext cx="5166000" cy="2148480"/>
          </a:xfrm>
          <a:prstGeom prst="roundRect">
            <a:avLst>
              <a:gd name="adj" fmla="val 3404"/>
            </a:avLst>
          </a:prstGeom>
          <a:solidFill>
            <a:srgbClr val="eaf1ff"/>
          </a:solidFill>
          <a:ln w="12700">
            <a:solidFill>
              <a:srgbClr val="2f6b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s-A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7" name="Text 41"/>
          <p:cNvSpPr/>
          <p:nvPr/>
        </p:nvSpPr>
        <p:spPr>
          <a:xfrm>
            <a:off x="6565320" y="3063240"/>
            <a:ext cx="237708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600" strike="noStrike" u="none">
                <a:solidFill>
                  <a:srgbClr val="172b36"/>
                </a:solidFill>
                <a:effectLst/>
                <a:uFillTx/>
                <a:latin typeface="Aptos"/>
              </a:rPr>
              <a:t>Comandos que usa Qt</a:t>
            </a:r>
            <a:endParaRPr b="0" lang="es-AR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8" name="Text 42"/>
          <p:cNvSpPr/>
          <p:nvPr/>
        </p:nvSpPr>
        <p:spPr>
          <a:xfrm>
            <a:off x="6565320" y="3566160"/>
            <a:ext cx="1279800" cy="219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000" strike="noStrike" u="none">
                <a:solidFill>
                  <a:srgbClr val="2da44e"/>
                </a:solidFill>
                <a:effectLst/>
                <a:uFillTx/>
                <a:latin typeface="Aptos"/>
              </a:rPr>
              <a:t>Checksum OK</a:t>
            </a:r>
            <a:endParaRPr b="0" lang="es-AR" sz="1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9" name="Text 43"/>
          <p:cNvSpPr/>
          <p:nvPr/>
        </p:nvSpPr>
        <p:spPr>
          <a:xfrm>
            <a:off x="7818120" y="3511440"/>
            <a:ext cx="3245760" cy="566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70" strike="noStrike" u="none">
                <a:solidFill>
                  <a:srgbClr val="172b36"/>
                </a:solidFill>
                <a:effectLst/>
                <a:uFillTx/>
                <a:latin typeface="Courier New"/>
                <a:ea typeface="Courier New"/>
              </a:rPr>
              <a:t>&gt;L,R,0,&lt;&lt;    → rojo OFF</a:t>
            </a:r>
            <a:endParaRPr b="0" lang="es-AR" sz="107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70" strike="noStrike" u="none">
                <a:solidFill>
                  <a:srgbClr val="172b36"/>
                </a:solidFill>
                <a:effectLst/>
                <a:uFillTx/>
                <a:latin typeface="Courier New"/>
                <a:ea typeface="Courier New"/>
              </a:rPr>
              <a:t>&gt;L,G,1,(&lt;    → verde ON</a:t>
            </a:r>
            <a:endParaRPr b="0" lang="es-AR" sz="107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0" name="Text 44"/>
          <p:cNvSpPr/>
          <p:nvPr/>
        </p:nvSpPr>
        <p:spPr>
          <a:xfrm>
            <a:off x="6565320" y="4233600"/>
            <a:ext cx="1279800" cy="219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000" strike="noStrike" u="none">
                <a:solidFill>
                  <a:srgbClr val="d94c4c"/>
                </a:solidFill>
                <a:effectLst/>
                <a:uFillTx/>
                <a:latin typeface="Aptos"/>
              </a:rPr>
              <a:t>Checksum ERROR</a:t>
            </a:r>
            <a:endParaRPr b="0" lang="es-AR" sz="1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1" name="Text 45"/>
          <p:cNvSpPr/>
          <p:nvPr/>
        </p:nvSpPr>
        <p:spPr>
          <a:xfrm>
            <a:off x="7818120" y="4178880"/>
            <a:ext cx="3245760" cy="566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70" strike="noStrike" u="none">
                <a:solidFill>
                  <a:srgbClr val="172b36"/>
                </a:solidFill>
                <a:effectLst/>
                <a:uFillTx/>
                <a:latin typeface="Courier New"/>
                <a:ea typeface="Courier New"/>
              </a:rPr>
              <a:t>&gt;L,G,0,)&lt;    → verde OFF</a:t>
            </a:r>
            <a:endParaRPr b="0" lang="es-AR" sz="107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70" strike="noStrike" u="none">
                <a:solidFill>
                  <a:srgbClr val="172b36"/>
                </a:solidFill>
                <a:effectLst/>
                <a:uFillTx/>
                <a:latin typeface="Courier New"/>
                <a:ea typeface="Courier New"/>
              </a:rPr>
              <a:t>&gt;L,R,1,=&lt;    → rojo ON</a:t>
            </a:r>
            <a:endParaRPr b="0" lang="es-AR" sz="107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2" name="Text 46"/>
          <p:cNvSpPr/>
          <p:nvPr/>
        </p:nvSpPr>
        <p:spPr>
          <a:xfrm>
            <a:off x="1463040" y="5413320"/>
            <a:ext cx="9235080" cy="328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20" strike="noStrike" u="none">
                <a:solidFill>
                  <a:srgbClr val="123a50"/>
                </a:solidFill>
                <a:effectLst/>
                <a:uFillTx/>
                <a:latin typeface="Aptos"/>
              </a:rPr>
              <a:t>El checksum es también un byte de la trama; por eso a veces “parece” un carácter especial.</a:t>
            </a:r>
            <a:endParaRPr b="0" lang="es-AR" sz="132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3" name="PlaceHolder 1"/>
          <p:cNvSpPr>
            <a:spLocks noGrp="1"/>
          </p:cNvSpPr>
          <p:nvPr>
            <p:ph type="sldNum" idx="9"/>
          </p:nvPr>
        </p:nvSpPr>
        <p:spPr>
          <a:xfrm>
            <a:off x="11868840" y="6556320"/>
            <a:ext cx="799560" cy="2995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en-US" sz="680" strike="noStrike" u="none">
                <a:solidFill>
                  <a:srgbClr val="87939c"/>
                </a:solidFill>
                <a:effectLst/>
                <a:uFillTx/>
                <a:latin typeface="Aptos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fld id="{CAA5EE13-B837-4B84-9D30-CF6DD095CA63}" type="slidenum">
              <a:rPr b="0" lang="en-US" sz="680" strike="noStrike" u="none">
                <a:solidFill>
                  <a:srgbClr val="87939c"/>
                </a:solidFill>
                <a:effectLst/>
                <a:uFillTx/>
                <a:latin typeface="Aptos"/>
              </a:rPr>
              <a:t>&lt;número&gt;</a:t>
            </a:fld>
            <a:endParaRPr b="0" lang="es-AR" sz="68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Text 0"/>
          <p:cNvSpPr/>
          <p:nvPr/>
        </p:nvSpPr>
        <p:spPr>
          <a:xfrm>
            <a:off x="567000" y="384120"/>
            <a:ext cx="1101816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150" strike="noStrike" u="none">
                <a:solidFill>
                  <a:srgbClr val="172b36"/>
                </a:solidFill>
                <a:effectLst/>
                <a:uFillTx/>
                <a:latin typeface="Aptos Display"/>
                <a:ea typeface="Aptos Display"/>
              </a:rPr>
              <a:t>ESP32: bridge UART ↔ TCP</a:t>
            </a:r>
            <a:endParaRPr b="0" lang="es-AR" sz="21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5" name="Text 1"/>
          <p:cNvSpPr/>
          <p:nvPr/>
        </p:nvSpPr>
        <p:spPr>
          <a:xfrm>
            <a:off x="576000" y="804600"/>
            <a:ext cx="10926720" cy="237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20" strike="noStrike" u="none">
                <a:solidFill>
                  <a:srgbClr val="73808a"/>
                </a:solidFill>
                <a:effectLst/>
                <a:uFillTx/>
                <a:latin typeface="Aptos"/>
              </a:rPr>
              <a:t>Su tarea es deliberadamente simple: transportar el stream en ambos sentidos.</a:t>
            </a:r>
            <a:endParaRPr b="0" lang="es-AR" sz="92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6" name="Shape 2"/>
          <p:cNvSpPr/>
          <p:nvPr/>
        </p:nvSpPr>
        <p:spPr>
          <a:xfrm>
            <a:off x="694800" y="1481400"/>
            <a:ext cx="2431800" cy="1572480"/>
          </a:xfrm>
          <a:prstGeom prst="roundRect">
            <a:avLst>
              <a:gd name="adj" fmla="val 4651"/>
            </a:avLst>
          </a:prstGeom>
          <a:solidFill>
            <a:srgbClr val="fff2e6"/>
          </a:solidFill>
          <a:ln w="12700">
            <a:solidFill>
              <a:srgbClr val="f28c2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s-A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7" name="Shape 3"/>
          <p:cNvSpPr/>
          <p:nvPr/>
        </p:nvSpPr>
        <p:spPr>
          <a:xfrm>
            <a:off x="859680" y="1636920"/>
            <a:ext cx="767880" cy="228240"/>
          </a:xfrm>
          <a:prstGeom prst="roundRect">
            <a:avLst>
              <a:gd name="adj" fmla="val 16667"/>
            </a:avLst>
          </a:prstGeom>
          <a:solidFill>
            <a:srgbClr val="f28c28"/>
          </a:solidFill>
          <a:ln w="12700">
            <a:solidFill>
              <a:srgbClr val="f28c2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s-A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8" name="Text 4"/>
          <p:cNvSpPr/>
          <p:nvPr/>
        </p:nvSpPr>
        <p:spPr>
          <a:xfrm>
            <a:off x="896040" y="1677960"/>
            <a:ext cx="694440" cy="118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730" strike="noStrike" u="none">
                <a:solidFill>
                  <a:srgbClr val="ffffff"/>
                </a:solidFill>
                <a:effectLst/>
                <a:uFillTx/>
                <a:latin typeface="Aptos"/>
              </a:rPr>
              <a:t>SERIE</a:t>
            </a:r>
            <a:endParaRPr b="0" lang="es-AR" sz="73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9" name="Text 5"/>
          <p:cNvSpPr/>
          <p:nvPr/>
        </p:nvSpPr>
        <p:spPr>
          <a:xfrm>
            <a:off x="859680" y="2030040"/>
            <a:ext cx="210276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400" strike="noStrike" u="none">
                <a:solidFill>
                  <a:srgbClr val="172b36"/>
                </a:solidFill>
                <a:effectLst/>
                <a:uFillTx/>
                <a:latin typeface="Aptos"/>
              </a:rPr>
              <a:t>UART1</a:t>
            </a:r>
            <a:endParaRPr b="0" lang="es-A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0" name="Text 6"/>
          <p:cNvSpPr/>
          <p:nvPr/>
        </p:nvSpPr>
        <p:spPr>
          <a:xfrm>
            <a:off x="859680" y="2395800"/>
            <a:ext cx="210276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 lnSpcReduction="9999"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850" strike="noStrike" u="none">
                <a:solidFill>
                  <a:srgbClr val="5d6b74"/>
                </a:solidFill>
                <a:effectLst/>
                <a:uFillTx/>
                <a:latin typeface="Aptos"/>
              </a:rPr>
              <a:t>GPIO17 TX</a:t>
            </a:r>
            <a:endParaRPr b="0" lang="es-AR" sz="8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850" strike="noStrike" u="none">
                <a:solidFill>
                  <a:srgbClr val="5d6b74"/>
                </a:solidFill>
                <a:effectLst/>
                <a:uFillTx/>
                <a:latin typeface="Aptos"/>
              </a:rPr>
              <a:t>GPIO16 RX</a:t>
            </a:r>
            <a:endParaRPr b="0" lang="es-AR" sz="8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850" strike="noStrike" u="none">
                <a:solidFill>
                  <a:srgbClr val="5d6b74"/>
                </a:solidFill>
                <a:effectLst/>
                <a:uFillTx/>
                <a:latin typeface="Aptos"/>
              </a:rPr>
              <a:t>9600 · 8N1</a:t>
            </a:r>
            <a:endParaRPr b="0" lang="es-AR" sz="8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1" name="Shape 7"/>
          <p:cNvSpPr/>
          <p:nvPr/>
        </p:nvSpPr>
        <p:spPr>
          <a:xfrm>
            <a:off x="4864680" y="1481400"/>
            <a:ext cx="2431800" cy="1572480"/>
          </a:xfrm>
          <a:prstGeom prst="roundRect">
            <a:avLst>
              <a:gd name="adj" fmla="val 4651"/>
            </a:avLst>
          </a:prstGeom>
          <a:solidFill>
            <a:srgbClr val="e9f7f4"/>
          </a:solidFill>
          <a:ln w="12700">
            <a:solidFill>
              <a:srgbClr val="0b8b75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s-A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2" name="Shape 8"/>
          <p:cNvSpPr/>
          <p:nvPr/>
        </p:nvSpPr>
        <p:spPr>
          <a:xfrm>
            <a:off x="5029200" y="1636920"/>
            <a:ext cx="767880" cy="228240"/>
          </a:xfrm>
          <a:prstGeom prst="roundRect">
            <a:avLst>
              <a:gd name="adj" fmla="val 16667"/>
            </a:avLst>
          </a:prstGeom>
          <a:solidFill>
            <a:srgbClr val="0b8b75"/>
          </a:solidFill>
          <a:ln w="12700">
            <a:solidFill>
              <a:srgbClr val="0b8b75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s-AR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93" name="Text 9"/>
          <p:cNvSpPr/>
          <p:nvPr/>
        </p:nvSpPr>
        <p:spPr>
          <a:xfrm>
            <a:off x="5065920" y="1677960"/>
            <a:ext cx="694440" cy="118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730" strike="noStrike" u="none">
                <a:solidFill>
                  <a:srgbClr val="ffffff"/>
                </a:solidFill>
                <a:effectLst/>
                <a:uFillTx/>
                <a:latin typeface="Aptos"/>
              </a:rPr>
              <a:t>BRIDGE</a:t>
            </a:r>
            <a:endParaRPr b="0" lang="es-AR" sz="73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4" name="Text 10"/>
          <p:cNvSpPr/>
          <p:nvPr/>
        </p:nvSpPr>
        <p:spPr>
          <a:xfrm>
            <a:off x="5029200" y="2030040"/>
            <a:ext cx="210276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400" strike="noStrike" u="none">
                <a:solidFill>
                  <a:srgbClr val="172b36"/>
                </a:solidFill>
                <a:effectLst/>
                <a:uFillTx/>
                <a:latin typeface="Aptos"/>
              </a:rPr>
              <a:t>ESP32</a:t>
            </a:r>
            <a:endParaRPr b="0" lang="es-A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5" name="Text 11"/>
          <p:cNvSpPr/>
          <p:nvPr/>
        </p:nvSpPr>
        <p:spPr>
          <a:xfrm>
            <a:off x="5029200" y="2395800"/>
            <a:ext cx="210276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850" strike="noStrike" u="none">
                <a:solidFill>
                  <a:srgbClr val="5d6b74"/>
                </a:solidFill>
                <a:effectLst/>
                <a:uFillTx/>
                <a:latin typeface="Aptos"/>
              </a:rPr>
              <a:t>Dos tareas FreeRTOS</a:t>
            </a:r>
            <a:endParaRPr b="0" lang="es-AR" sz="8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850" strike="noStrike" u="none">
                <a:solidFill>
                  <a:srgbClr val="5d6b74"/>
                </a:solidFill>
                <a:effectLst/>
                <a:uFillTx/>
                <a:latin typeface="Aptos"/>
              </a:rPr>
              <a:t>y un socket cliente</a:t>
            </a:r>
            <a:endParaRPr b="0" lang="es-AR" sz="8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6" name="Shape 12"/>
          <p:cNvSpPr/>
          <p:nvPr/>
        </p:nvSpPr>
        <p:spPr>
          <a:xfrm>
            <a:off x="9052560" y="1481400"/>
            <a:ext cx="2431800" cy="1572480"/>
          </a:xfrm>
          <a:prstGeom prst="roundRect">
            <a:avLst>
              <a:gd name="adj" fmla="val 4651"/>
            </a:avLst>
          </a:prstGeom>
          <a:solidFill>
            <a:srgbClr val="eaf1ff"/>
          </a:solidFill>
          <a:ln w="12700">
            <a:solidFill>
              <a:srgbClr val="2f6b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s-A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7" name="Shape 13"/>
          <p:cNvSpPr/>
          <p:nvPr/>
        </p:nvSpPr>
        <p:spPr>
          <a:xfrm>
            <a:off x="9217080" y="1636920"/>
            <a:ext cx="767880" cy="228240"/>
          </a:xfrm>
          <a:prstGeom prst="roundRect">
            <a:avLst>
              <a:gd name="adj" fmla="val 16667"/>
            </a:avLst>
          </a:prstGeom>
          <a:solidFill>
            <a:srgbClr val="2f6bff"/>
          </a:solidFill>
          <a:ln w="12700">
            <a:solidFill>
              <a:srgbClr val="2f6b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s-AR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98" name="Text 14"/>
          <p:cNvSpPr/>
          <p:nvPr/>
        </p:nvSpPr>
        <p:spPr>
          <a:xfrm>
            <a:off x="9253800" y="1677960"/>
            <a:ext cx="694440" cy="118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730" strike="noStrike" u="none">
                <a:solidFill>
                  <a:srgbClr val="ffffff"/>
                </a:solidFill>
                <a:effectLst/>
                <a:uFillTx/>
                <a:latin typeface="Aptos"/>
              </a:rPr>
              <a:t>RED</a:t>
            </a:r>
            <a:endParaRPr b="0" lang="es-AR" sz="73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9" name="Text 15"/>
          <p:cNvSpPr/>
          <p:nvPr/>
        </p:nvSpPr>
        <p:spPr>
          <a:xfrm>
            <a:off x="9217080" y="2030040"/>
            <a:ext cx="210276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400" strike="noStrike" u="none">
                <a:solidFill>
                  <a:srgbClr val="172b36"/>
                </a:solidFill>
                <a:effectLst/>
                <a:uFillTx/>
                <a:latin typeface="Aptos"/>
              </a:rPr>
              <a:t>TCP</a:t>
            </a:r>
            <a:endParaRPr b="0" lang="es-A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0" name="Text 16"/>
          <p:cNvSpPr/>
          <p:nvPr/>
        </p:nvSpPr>
        <p:spPr>
          <a:xfrm>
            <a:off x="9217080" y="2395800"/>
            <a:ext cx="210276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850" strike="noStrike" u="none">
                <a:solidFill>
                  <a:srgbClr val="5d6b74"/>
                </a:solidFill>
                <a:effectLst/>
                <a:uFillTx/>
                <a:latin typeface="Aptos"/>
              </a:rPr>
              <a:t>Servidor puerto 10234</a:t>
            </a:r>
            <a:endParaRPr b="0" lang="es-AR" sz="8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850" strike="noStrike" u="none">
                <a:solidFill>
                  <a:srgbClr val="5d6b74"/>
                </a:solidFill>
                <a:effectLst/>
                <a:uFillTx/>
                <a:latin typeface="Aptos"/>
              </a:rPr>
              <a:t>Wi‑Fi modo STA</a:t>
            </a:r>
            <a:endParaRPr b="0" lang="es-AR" sz="8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1" name="Shape 17"/>
          <p:cNvSpPr/>
          <p:nvPr/>
        </p:nvSpPr>
        <p:spPr>
          <a:xfrm>
            <a:off x="3182040" y="1920240"/>
            <a:ext cx="1545120" cy="360"/>
          </a:xfrm>
          <a:prstGeom prst="line">
            <a:avLst/>
          </a:prstGeom>
          <a:ln w="30480">
            <a:solidFill>
              <a:srgbClr val="f28c28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s-A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2" name="Shape 18"/>
          <p:cNvSpPr/>
          <p:nvPr/>
        </p:nvSpPr>
        <p:spPr>
          <a:xfrm flipH="1">
            <a:off x="3182040" y="2569320"/>
            <a:ext cx="1545120" cy="360"/>
          </a:xfrm>
          <a:prstGeom prst="line">
            <a:avLst/>
          </a:prstGeom>
          <a:ln w="30480">
            <a:solidFill>
              <a:srgbClr val="0b8b75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s-A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3" name="Shape 19"/>
          <p:cNvSpPr/>
          <p:nvPr/>
        </p:nvSpPr>
        <p:spPr>
          <a:xfrm>
            <a:off x="7351560" y="1920240"/>
            <a:ext cx="1563840" cy="360"/>
          </a:xfrm>
          <a:prstGeom prst="line">
            <a:avLst/>
          </a:prstGeom>
          <a:ln w="30480">
            <a:solidFill>
              <a:srgbClr val="0b8b75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s-A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4" name="Shape 20"/>
          <p:cNvSpPr/>
          <p:nvPr/>
        </p:nvSpPr>
        <p:spPr>
          <a:xfrm flipH="1">
            <a:off x="7351560" y="2569320"/>
            <a:ext cx="1563840" cy="360"/>
          </a:xfrm>
          <a:prstGeom prst="line">
            <a:avLst/>
          </a:prstGeom>
          <a:ln w="30480">
            <a:solidFill>
              <a:srgbClr val="2f6bff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s-A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5" name="Shape 21"/>
          <p:cNvSpPr/>
          <p:nvPr/>
        </p:nvSpPr>
        <p:spPr>
          <a:xfrm>
            <a:off x="786240" y="3694320"/>
            <a:ext cx="5211720" cy="1389600"/>
          </a:xfrm>
          <a:prstGeom prst="roundRect">
            <a:avLst>
              <a:gd name="adj" fmla="val 5263"/>
            </a:avLst>
          </a:prstGeom>
          <a:solidFill>
            <a:srgbClr val="ffffff"/>
          </a:solidFill>
          <a:ln w="12700">
            <a:solidFill>
              <a:srgbClr val="d8e0e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s-A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6" name="Shape 22"/>
          <p:cNvSpPr/>
          <p:nvPr/>
        </p:nvSpPr>
        <p:spPr>
          <a:xfrm>
            <a:off x="1024200" y="3886200"/>
            <a:ext cx="1334520" cy="228240"/>
          </a:xfrm>
          <a:prstGeom prst="roundRect">
            <a:avLst>
              <a:gd name="adj" fmla="val 16667"/>
            </a:avLst>
          </a:prstGeom>
          <a:solidFill>
            <a:srgbClr val="0b8b75"/>
          </a:solidFill>
          <a:ln w="12700">
            <a:solidFill>
              <a:srgbClr val="0b8b75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s-AR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07" name="Text 23"/>
          <p:cNvSpPr/>
          <p:nvPr/>
        </p:nvSpPr>
        <p:spPr>
          <a:xfrm>
            <a:off x="1060560" y="3927240"/>
            <a:ext cx="1261440" cy="118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730" strike="noStrike" u="none">
                <a:solidFill>
                  <a:srgbClr val="ffffff"/>
                </a:solidFill>
                <a:effectLst/>
                <a:uFillTx/>
                <a:latin typeface="Aptos"/>
              </a:rPr>
              <a:t>uart_to_tcp_task</a:t>
            </a:r>
            <a:endParaRPr b="0" lang="es-AR" sz="73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8" name="Text 24"/>
          <p:cNvSpPr/>
          <p:nvPr/>
        </p:nvSpPr>
        <p:spPr>
          <a:xfrm>
            <a:off x="1078920" y="4407480"/>
            <a:ext cx="4498560" cy="282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00" strike="noStrike" u="none">
                <a:solidFill>
                  <a:srgbClr val="172b36"/>
                </a:solidFill>
                <a:effectLst/>
                <a:uFillTx/>
                <a:latin typeface="Courier New"/>
                <a:ea typeface="Courier New"/>
              </a:rPr>
              <a:t>uart_read_bytes()  →  send()</a:t>
            </a:r>
            <a:endParaRPr b="0" lang="es-AR" sz="1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9" name="Shape 25"/>
          <p:cNvSpPr/>
          <p:nvPr/>
        </p:nvSpPr>
        <p:spPr>
          <a:xfrm>
            <a:off x="6190560" y="3694320"/>
            <a:ext cx="5211720" cy="1389600"/>
          </a:xfrm>
          <a:prstGeom prst="roundRect">
            <a:avLst>
              <a:gd name="adj" fmla="val 5263"/>
            </a:avLst>
          </a:prstGeom>
          <a:solidFill>
            <a:srgbClr val="ffffff"/>
          </a:solidFill>
          <a:ln w="12700">
            <a:solidFill>
              <a:srgbClr val="d8e0e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s-A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0" name="Shape 26"/>
          <p:cNvSpPr/>
          <p:nvPr/>
        </p:nvSpPr>
        <p:spPr>
          <a:xfrm>
            <a:off x="6428160" y="3886200"/>
            <a:ext cx="1334520" cy="228240"/>
          </a:xfrm>
          <a:prstGeom prst="roundRect">
            <a:avLst>
              <a:gd name="adj" fmla="val 16667"/>
            </a:avLst>
          </a:prstGeom>
          <a:solidFill>
            <a:srgbClr val="2f6bff"/>
          </a:solidFill>
          <a:ln w="12700">
            <a:solidFill>
              <a:srgbClr val="2f6b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s-AR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11" name="Text 27"/>
          <p:cNvSpPr/>
          <p:nvPr/>
        </p:nvSpPr>
        <p:spPr>
          <a:xfrm>
            <a:off x="6464880" y="3927240"/>
            <a:ext cx="1261440" cy="118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730" strike="noStrike" u="none">
                <a:solidFill>
                  <a:srgbClr val="ffffff"/>
                </a:solidFill>
                <a:effectLst/>
                <a:uFillTx/>
                <a:latin typeface="Aptos"/>
              </a:rPr>
              <a:t>tcp_to_uart_task</a:t>
            </a:r>
            <a:endParaRPr b="0" lang="es-AR" sz="73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2" name="Text 28"/>
          <p:cNvSpPr/>
          <p:nvPr/>
        </p:nvSpPr>
        <p:spPr>
          <a:xfrm>
            <a:off x="6501240" y="4407480"/>
            <a:ext cx="4480200" cy="282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00" strike="noStrike" u="none">
                <a:solidFill>
                  <a:srgbClr val="172b36"/>
                </a:solidFill>
                <a:effectLst/>
                <a:uFillTx/>
                <a:latin typeface="Courier New"/>
                <a:ea typeface="Courier New"/>
              </a:rPr>
              <a:t>recv()  →  uart_write_bytes()</a:t>
            </a:r>
            <a:endParaRPr b="0" lang="es-AR" sz="1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3" name="Text 29"/>
          <p:cNvSpPr/>
          <p:nvPr/>
        </p:nvSpPr>
        <p:spPr>
          <a:xfrm>
            <a:off x="1207080" y="5504760"/>
            <a:ext cx="969228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560" strike="noStrike" u="none">
                <a:solidFill>
                  <a:srgbClr val="0b8b75"/>
                </a:solidFill>
                <a:effectLst/>
                <a:uFillTx/>
                <a:latin typeface="Aptos"/>
              </a:rPr>
              <a:t>El bridge no sabe qué es “D”, “L”, un checksum o un LED. Para él todo son bytes.</a:t>
            </a:r>
            <a:endParaRPr b="0" lang="es-AR" sz="156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4" name="PlaceHolder 1"/>
          <p:cNvSpPr>
            <a:spLocks noGrp="1"/>
          </p:cNvSpPr>
          <p:nvPr>
            <p:ph type="sldNum" idx="10"/>
          </p:nvPr>
        </p:nvSpPr>
        <p:spPr>
          <a:xfrm>
            <a:off x="11868840" y="6556320"/>
            <a:ext cx="799560" cy="2995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en-US" sz="680" strike="noStrike" u="none">
                <a:solidFill>
                  <a:srgbClr val="87939c"/>
                </a:solidFill>
                <a:effectLst/>
                <a:uFillTx/>
                <a:latin typeface="Aptos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fld id="{6C90ED87-32CB-405C-95CB-151B38D328EE}" type="slidenum">
              <a:rPr b="0" lang="en-US" sz="680" strike="noStrike" u="none">
                <a:solidFill>
                  <a:srgbClr val="87939c"/>
                </a:solidFill>
                <a:effectLst/>
                <a:uFillTx/>
                <a:latin typeface="Aptos"/>
              </a:rPr>
              <a:t>&lt;número&gt;</a:t>
            </a:fld>
            <a:endParaRPr b="0" lang="es-AR" sz="68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" name="Text 0"/>
          <p:cNvSpPr/>
          <p:nvPr/>
        </p:nvSpPr>
        <p:spPr>
          <a:xfrm>
            <a:off x="567000" y="384120"/>
            <a:ext cx="1101816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150" strike="noStrike" u="none">
                <a:solidFill>
                  <a:srgbClr val="172b36"/>
                </a:solidFill>
                <a:effectLst/>
                <a:uFillTx/>
                <a:latin typeface="Aptos Display"/>
                <a:ea typeface="Aptos Display"/>
              </a:rPr>
              <a:t>Aplicación Qt: cliente TCP</a:t>
            </a:r>
            <a:endParaRPr b="0" lang="es-AR" sz="21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6" name="Text 1"/>
          <p:cNvSpPr/>
          <p:nvPr/>
        </p:nvSpPr>
        <p:spPr>
          <a:xfrm>
            <a:off x="576000" y="804600"/>
            <a:ext cx="10926720" cy="237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20" strike="noStrike" u="none">
                <a:solidFill>
                  <a:srgbClr val="73808a"/>
                </a:solidFill>
                <a:effectLst/>
                <a:uFillTx/>
                <a:latin typeface="Aptos"/>
              </a:rPr>
              <a:t>QTcpSocket conecta la PC directamente al servidor del ESP32.</a:t>
            </a:r>
            <a:endParaRPr b="0" lang="es-AR" sz="92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7" name="Shape 2"/>
          <p:cNvSpPr/>
          <p:nvPr/>
        </p:nvSpPr>
        <p:spPr>
          <a:xfrm>
            <a:off x="685800" y="1325880"/>
            <a:ext cx="4708800" cy="4251600"/>
          </a:xfrm>
          <a:prstGeom prst="roundRect">
            <a:avLst>
              <a:gd name="adj" fmla="val 1720"/>
            </a:avLst>
          </a:prstGeom>
          <a:solidFill>
            <a:srgbClr val="ffffff"/>
          </a:solidFill>
          <a:ln w="12700">
            <a:solidFill>
              <a:srgbClr val="d8e0e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s-A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8" name="Shape 3"/>
          <p:cNvSpPr/>
          <p:nvPr/>
        </p:nvSpPr>
        <p:spPr>
          <a:xfrm>
            <a:off x="932760" y="1554480"/>
            <a:ext cx="1115280" cy="228240"/>
          </a:xfrm>
          <a:prstGeom prst="roundRect">
            <a:avLst>
              <a:gd name="adj" fmla="val 16667"/>
            </a:avLst>
          </a:prstGeom>
          <a:solidFill>
            <a:srgbClr val="2f6bff"/>
          </a:solidFill>
          <a:ln w="12700">
            <a:solidFill>
              <a:srgbClr val="2f6b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s-AR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19" name="Text 4"/>
          <p:cNvSpPr/>
          <p:nvPr/>
        </p:nvSpPr>
        <p:spPr>
          <a:xfrm>
            <a:off x="969120" y="1595520"/>
            <a:ext cx="1042200" cy="118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730" strike="noStrike" u="none">
                <a:solidFill>
                  <a:srgbClr val="ffffff"/>
                </a:solidFill>
                <a:effectLst/>
                <a:uFillTx/>
                <a:latin typeface="Aptos"/>
              </a:rPr>
              <a:t>CONEXIÓN</a:t>
            </a:r>
            <a:endParaRPr b="0" lang="es-AR" sz="73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0" name="Text 5"/>
          <p:cNvSpPr/>
          <p:nvPr/>
        </p:nvSpPr>
        <p:spPr>
          <a:xfrm>
            <a:off x="960120" y="2057400"/>
            <a:ext cx="91404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000" strike="noStrike" u="none">
                <a:solidFill>
                  <a:srgbClr val="5d6b74"/>
                </a:solidFill>
                <a:effectLst/>
                <a:uFillTx/>
                <a:latin typeface="Aptos"/>
              </a:rPr>
              <a:t>Destino</a:t>
            </a:r>
            <a:endParaRPr b="0" lang="es-AR" sz="1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1" name="Text 6"/>
          <p:cNvSpPr/>
          <p:nvPr/>
        </p:nvSpPr>
        <p:spPr>
          <a:xfrm>
            <a:off x="1920240" y="2030040"/>
            <a:ext cx="2011320" cy="264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400" strike="noStrike" u="none">
                <a:solidFill>
                  <a:srgbClr val="172b36"/>
                </a:solidFill>
                <a:effectLst/>
                <a:uFillTx/>
                <a:latin typeface="Courier New"/>
                <a:ea typeface="Courier New"/>
              </a:rPr>
              <a:t>192.168.7.100</a:t>
            </a:r>
            <a:endParaRPr b="0" lang="es-A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2" name="Text 7"/>
          <p:cNvSpPr/>
          <p:nvPr/>
        </p:nvSpPr>
        <p:spPr>
          <a:xfrm>
            <a:off x="960120" y="2523600"/>
            <a:ext cx="91404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000" strike="noStrike" u="none">
                <a:solidFill>
                  <a:srgbClr val="5d6b74"/>
                </a:solidFill>
                <a:effectLst/>
                <a:uFillTx/>
                <a:latin typeface="Aptos"/>
              </a:rPr>
              <a:t>Puerto</a:t>
            </a:r>
            <a:endParaRPr b="0" lang="es-AR" sz="1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3" name="Text 8"/>
          <p:cNvSpPr/>
          <p:nvPr/>
        </p:nvSpPr>
        <p:spPr>
          <a:xfrm>
            <a:off x="1920240" y="2487240"/>
            <a:ext cx="1279800" cy="264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400" strike="noStrike" u="none">
                <a:solidFill>
                  <a:srgbClr val="172b36"/>
                </a:solidFill>
                <a:effectLst/>
                <a:uFillTx/>
                <a:latin typeface="Courier New"/>
                <a:ea typeface="Courier New"/>
              </a:rPr>
              <a:t>10234</a:t>
            </a:r>
            <a:endParaRPr b="0" lang="es-A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4" name="Shape 9"/>
          <p:cNvSpPr/>
          <p:nvPr/>
        </p:nvSpPr>
        <p:spPr>
          <a:xfrm>
            <a:off x="951120" y="3044880"/>
            <a:ext cx="4160160" cy="1243080"/>
          </a:xfrm>
          <a:prstGeom prst="roundRect">
            <a:avLst>
              <a:gd name="adj" fmla="val 5882"/>
            </a:avLst>
          </a:prstGeom>
          <a:solidFill>
            <a:srgbClr val="0b1420"/>
          </a:solidFill>
          <a:ln w="12700">
            <a:solidFill>
              <a:srgbClr val="0b142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s-AR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25" name="Text 10"/>
          <p:cNvSpPr/>
          <p:nvPr/>
        </p:nvSpPr>
        <p:spPr>
          <a:xfrm>
            <a:off x="1115640" y="3182040"/>
            <a:ext cx="3831120" cy="968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" rIns="360" tIns="360" bIns="36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20" strike="noStrike" u="none">
                <a:solidFill>
                  <a:srgbClr val="e6edf3"/>
                </a:solidFill>
                <a:effectLst/>
                <a:uFillTx/>
                <a:latin typeface="Courier New"/>
                <a:ea typeface="Courier New"/>
              </a:rPr>
              <a:t>socket.connectToHost(</a:t>
            </a:r>
            <a:endParaRPr b="0" lang="es-AR" sz="92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20" strike="noStrike" u="none">
                <a:solidFill>
                  <a:srgbClr val="e6edf3"/>
                </a:solidFill>
                <a:effectLst/>
                <a:uFillTx/>
                <a:latin typeface="Courier New"/>
                <a:ea typeface="Courier New"/>
              </a:rPr>
              <a:t>    QHostAddress(IPsERVER),</a:t>
            </a:r>
            <a:endParaRPr b="0" lang="es-AR" sz="92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20" strike="noStrike" u="none">
                <a:solidFill>
                  <a:srgbClr val="e6edf3"/>
                </a:solidFill>
                <a:effectLst/>
                <a:uFillTx/>
                <a:latin typeface="Courier New"/>
                <a:ea typeface="Courier New"/>
              </a:rPr>
              <a:t>    PORTsERVER);</a:t>
            </a:r>
            <a:endParaRPr b="0" lang="es-AR" sz="92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20" strike="noStrike" u="none">
                <a:solidFill>
                  <a:srgbClr val="e6edf3"/>
                </a:solidFill>
                <a:effectLst/>
                <a:uFillTx/>
                <a:latin typeface="Courier New"/>
                <a:ea typeface="Courier New"/>
              </a:rPr>
              <a:t>connect(&amp;socket, SIGNAL(readyRead()), ...);</a:t>
            </a:r>
            <a:endParaRPr b="0" lang="es-AR" sz="92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6" name="Text 11"/>
          <p:cNvSpPr/>
          <p:nvPr/>
        </p:nvSpPr>
        <p:spPr>
          <a:xfrm>
            <a:off x="987480" y="4617720"/>
            <a:ext cx="4068720" cy="511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30" strike="noStrike" u="none">
                <a:solidFill>
                  <a:srgbClr val="5d6b74"/>
                </a:solidFill>
                <a:effectLst/>
                <a:uFillTx/>
                <a:latin typeface="Aptos"/>
              </a:rPr>
              <a:t>onReadyRead() se ejecuta cuando llegan bytes desde el ESP32.</a:t>
            </a:r>
            <a:endParaRPr b="0" lang="es-AR" sz="113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7" name="Shape 12"/>
          <p:cNvSpPr/>
          <p:nvPr/>
        </p:nvSpPr>
        <p:spPr>
          <a:xfrm>
            <a:off x="5779080" y="1325880"/>
            <a:ext cx="5668920" cy="4251600"/>
          </a:xfrm>
          <a:prstGeom prst="roundRect">
            <a:avLst>
              <a:gd name="adj" fmla="val 1720"/>
            </a:avLst>
          </a:prstGeom>
          <a:solidFill>
            <a:srgbClr val="eaf1ff"/>
          </a:solidFill>
          <a:ln w="12700">
            <a:solidFill>
              <a:srgbClr val="2f6b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s-A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8" name="Shape 13"/>
          <p:cNvSpPr/>
          <p:nvPr/>
        </p:nvSpPr>
        <p:spPr>
          <a:xfrm>
            <a:off x="6062400" y="1554480"/>
            <a:ext cx="1416960" cy="228240"/>
          </a:xfrm>
          <a:prstGeom prst="roundRect">
            <a:avLst>
              <a:gd name="adj" fmla="val 16667"/>
            </a:avLst>
          </a:prstGeom>
          <a:solidFill>
            <a:srgbClr val="2f6bff"/>
          </a:solidFill>
          <a:ln w="12700">
            <a:solidFill>
              <a:srgbClr val="2f6b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s-AR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29" name="Text 14"/>
          <p:cNvSpPr/>
          <p:nvPr/>
        </p:nvSpPr>
        <p:spPr>
          <a:xfrm>
            <a:off x="6099120" y="1595520"/>
            <a:ext cx="1343880" cy="118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730" strike="noStrike" u="none">
                <a:solidFill>
                  <a:srgbClr val="ffffff"/>
                </a:solidFill>
                <a:effectLst/>
                <a:uFillTx/>
                <a:latin typeface="Aptos"/>
              </a:rPr>
              <a:t>INTERFAZ Qt</a:t>
            </a:r>
            <a:endParaRPr b="0" lang="es-AR" sz="73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0" name="Shape 15"/>
          <p:cNvSpPr/>
          <p:nvPr/>
        </p:nvSpPr>
        <p:spPr>
          <a:xfrm>
            <a:off x="6144840" y="1974960"/>
            <a:ext cx="4900680" cy="1508400"/>
          </a:xfrm>
          <a:prstGeom prst="roundRect">
            <a:avLst>
              <a:gd name="adj" fmla="val 4848"/>
            </a:avLst>
          </a:prstGeom>
          <a:solidFill>
            <a:srgbClr val="ffffff"/>
          </a:solidFill>
          <a:ln w="12700">
            <a:solidFill>
              <a:srgbClr val="d8e0e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s-A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1" name="Text 16"/>
          <p:cNvSpPr/>
          <p:nvPr/>
        </p:nvSpPr>
        <p:spPr>
          <a:xfrm>
            <a:off x="6355080" y="2194560"/>
            <a:ext cx="4498560" cy="914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" rIns="360" tIns="360" bIns="36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trike="noStrike" u="none">
                <a:solidFill>
                  <a:srgbClr val="4c5a63"/>
                </a:solidFill>
                <a:effectLst/>
                <a:uFillTx/>
                <a:latin typeface="Courier New"/>
                <a:ea typeface="Courier New"/>
              </a:rPr>
              <a:t>&gt;D,1234,~&lt;</a:t>
            </a:r>
            <a:endParaRPr b="0" lang="es-AR" sz="1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trike="noStrike" u="none">
                <a:solidFill>
                  <a:srgbClr val="4c5a63"/>
                </a:solidFill>
                <a:effectLst/>
                <a:uFillTx/>
                <a:latin typeface="Courier New"/>
                <a:ea typeface="Courier New"/>
              </a:rPr>
              <a:t>&gt;G,OK&lt;</a:t>
            </a:r>
            <a:endParaRPr b="0" lang="es-AR" sz="1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trike="noStrike" u="none">
                <a:solidFill>
                  <a:srgbClr val="4c5a63"/>
                </a:solidFill>
                <a:effectLst/>
                <a:uFillTx/>
                <a:latin typeface="Courier New"/>
                <a:ea typeface="Courier New"/>
              </a:rPr>
              <a:t>&gt;D,1270,...</a:t>
            </a:r>
            <a:endParaRPr b="0" lang="es-AR" sz="1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2" name="Shape 17"/>
          <p:cNvSpPr/>
          <p:nvPr/>
        </p:nvSpPr>
        <p:spPr>
          <a:xfrm>
            <a:off x="6400800" y="4023360"/>
            <a:ext cx="420120" cy="420120"/>
          </a:xfrm>
          <a:prstGeom prst="ellipse">
            <a:avLst/>
          </a:prstGeom>
          <a:solidFill>
            <a:srgbClr val="2da44e"/>
          </a:solidFill>
          <a:ln w="12700">
            <a:solidFill>
              <a:srgbClr val="20823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s-AR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33" name="Text 18"/>
          <p:cNvSpPr/>
          <p:nvPr/>
        </p:nvSpPr>
        <p:spPr>
          <a:xfrm>
            <a:off x="6967800" y="4087440"/>
            <a:ext cx="1234080" cy="219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050" strike="noStrike" u="none">
                <a:solidFill>
                  <a:srgbClr val="2da44e"/>
                </a:solidFill>
                <a:effectLst/>
                <a:uFillTx/>
                <a:latin typeface="Aptos"/>
              </a:rPr>
              <a:t>Checksum OK</a:t>
            </a:r>
            <a:endParaRPr b="0" lang="es-AR" sz="10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4" name="Shape 19"/>
          <p:cNvSpPr/>
          <p:nvPr/>
        </p:nvSpPr>
        <p:spPr>
          <a:xfrm>
            <a:off x="8458200" y="3849480"/>
            <a:ext cx="1919880" cy="840960"/>
          </a:xfrm>
          <a:prstGeom prst="roundRect">
            <a:avLst>
              <a:gd name="adj" fmla="val 8696"/>
            </a:avLst>
          </a:prstGeom>
          <a:solidFill>
            <a:srgbClr val="101a22"/>
          </a:solidFill>
          <a:ln w="12700">
            <a:solidFill>
              <a:srgbClr val="101a2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s-AR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35" name="Text 20"/>
          <p:cNvSpPr/>
          <p:nvPr/>
        </p:nvSpPr>
        <p:spPr>
          <a:xfrm>
            <a:off x="8586360" y="3996000"/>
            <a:ext cx="139860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000" strike="noStrike" u="none">
                <a:solidFill>
                  <a:srgbClr val="9ef29e"/>
                </a:solidFill>
                <a:effectLst/>
                <a:uFillTx/>
                <a:latin typeface="Courier New"/>
                <a:ea typeface="Courier New"/>
              </a:rPr>
              <a:t>1234</a:t>
            </a:r>
            <a:endParaRPr b="0" lang="es-AR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6" name="Text 21"/>
          <p:cNvSpPr/>
          <p:nvPr/>
        </p:nvSpPr>
        <p:spPr>
          <a:xfrm>
            <a:off x="10451520" y="4151520"/>
            <a:ext cx="365400" cy="164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900" strike="noStrike" u="none">
                <a:solidFill>
                  <a:srgbClr val="5d6b74"/>
                </a:solidFill>
                <a:effectLst/>
                <a:uFillTx/>
                <a:latin typeface="Aptos"/>
              </a:rPr>
              <a:t>mV</a:t>
            </a:r>
            <a:endParaRPr b="0" lang="es-AR" sz="9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7" name="Text 22"/>
          <p:cNvSpPr/>
          <p:nvPr/>
        </p:nvSpPr>
        <p:spPr>
          <a:xfrm>
            <a:off x="6181200" y="4883040"/>
            <a:ext cx="4845960" cy="420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50" strike="noStrike" u="none">
                <a:solidFill>
                  <a:srgbClr val="5d6b74"/>
                </a:solidFill>
                <a:effectLst/>
                <a:uFillTx/>
                <a:latin typeface="Aptos"/>
              </a:rPr>
              <a:t>El QTextEdit conserva el stream recibido; el QLCDNumber muestra el parámetro.</a:t>
            </a:r>
            <a:endParaRPr b="0" lang="es-AR" sz="10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8" name="PlaceHolder 1"/>
          <p:cNvSpPr>
            <a:spLocks noGrp="1"/>
          </p:cNvSpPr>
          <p:nvPr>
            <p:ph type="sldNum" idx="11"/>
          </p:nvPr>
        </p:nvSpPr>
        <p:spPr>
          <a:xfrm>
            <a:off x="11868840" y="6556320"/>
            <a:ext cx="799560" cy="2995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en-US" sz="680" strike="noStrike" u="none">
                <a:solidFill>
                  <a:srgbClr val="87939c"/>
                </a:solidFill>
                <a:effectLst/>
                <a:uFillTx/>
                <a:latin typeface="Aptos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fld id="{F03A7DF7-CAEF-4496-998F-6352196709C6}" type="slidenum">
              <a:rPr b="0" lang="en-US" sz="680" strike="noStrike" u="none">
                <a:solidFill>
                  <a:srgbClr val="87939c"/>
                </a:solidFill>
                <a:effectLst/>
                <a:uFillTx/>
                <a:latin typeface="Aptos"/>
              </a:rPr>
              <a:t>&lt;número&gt;</a:t>
            </a:fld>
            <a:endParaRPr b="0" lang="es-AR" sz="68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" name="Text 0"/>
          <p:cNvSpPr/>
          <p:nvPr/>
        </p:nvSpPr>
        <p:spPr>
          <a:xfrm>
            <a:off x="567000" y="384120"/>
            <a:ext cx="1101816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150" strike="noStrike" u="none">
                <a:solidFill>
                  <a:srgbClr val="172b36"/>
                </a:solidFill>
                <a:effectLst/>
                <a:uFillTx/>
                <a:latin typeface="Aptos Display"/>
                <a:ea typeface="Aptos Display"/>
              </a:rPr>
              <a:t>Qt: validación del checksum</a:t>
            </a:r>
            <a:endParaRPr b="0" lang="es-AR" sz="21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0" name="Text 1"/>
          <p:cNvSpPr/>
          <p:nvPr/>
        </p:nvSpPr>
        <p:spPr>
          <a:xfrm>
            <a:off x="576000" y="804600"/>
            <a:ext cx="10926720" cy="237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20" strike="noStrike" u="none">
                <a:solidFill>
                  <a:srgbClr val="73808a"/>
                </a:solidFill>
                <a:effectLst/>
                <a:uFillTx/>
                <a:latin typeface="Aptos"/>
              </a:rPr>
              <a:t>La aplicación comprueba que el valor recibido llegue íntegro antes de actuar.</a:t>
            </a:r>
            <a:endParaRPr b="0" lang="es-AR" sz="92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1" name="Shape 2"/>
          <p:cNvSpPr/>
          <p:nvPr/>
        </p:nvSpPr>
        <p:spPr>
          <a:xfrm>
            <a:off x="786240" y="1481400"/>
            <a:ext cx="1572480" cy="1874160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 w="12700">
            <a:solidFill>
              <a:srgbClr val="d8e0e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s-A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2" name="Shape 3"/>
          <p:cNvSpPr/>
          <p:nvPr/>
        </p:nvSpPr>
        <p:spPr>
          <a:xfrm>
            <a:off x="1316880" y="1691640"/>
            <a:ext cx="511560" cy="511560"/>
          </a:xfrm>
          <a:prstGeom prst="ellipse">
            <a:avLst/>
          </a:prstGeom>
          <a:solidFill>
            <a:srgbClr val="2f6bff"/>
          </a:solidFill>
          <a:ln w="12700">
            <a:solidFill>
              <a:srgbClr val="2f6b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s-AR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43" name="Text 4"/>
          <p:cNvSpPr/>
          <p:nvPr/>
        </p:nvSpPr>
        <p:spPr>
          <a:xfrm>
            <a:off x="1316880" y="1828800"/>
            <a:ext cx="511560" cy="155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950" strike="noStrike" u="none">
                <a:solidFill>
                  <a:srgbClr val="ffffff"/>
                </a:solidFill>
                <a:effectLst/>
                <a:uFillTx/>
                <a:latin typeface="Aptos"/>
              </a:rPr>
              <a:t>1</a:t>
            </a:r>
            <a:endParaRPr b="0" lang="es-AR" sz="9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4" name="Text 5"/>
          <p:cNvSpPr/>
          <p:nvPr/>
        </p:nvSpPr>
        <p:spPr>
          <a:xfrm>
            <a:off x="887040" y="2350080"/>
            <a:ext cx="1371240" cy="237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00" strike="noStrike" u="none">
                <a:solidFill>
                  <a:srgbClr val="172b36"/>
                </a:solidFill>
                <a:effectLst/>
                <a:uFillTx/>
                <a:latin typeface="Aptos"/>
              </a:rPr>
              <a:t>readAll()</a:t>
            </a:r>
            <a:endParaRPr b="0" lang="es-AR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5" name="Text 6"/>
          <p:cNvSpPr/>
          <p:nvPr/>
        </p:nvSpPr>
        <p:spPr>
          <a:xfrm>
            <a:off x="905400" y="2734200"/>
            <a:ext cx="133452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850" strike="noStrike" u="none">
                <a:solidFill>
                  <a:srgbClr val="5d6b74"/>
                </a:solidFill>
                <a:effectLst/>
                <a:uFillTx/>
                <a:latin typeface="Aptos"/>
              </a:rPr>
              <a:t>Lee los bytes disponibles.</a:t>
            </a:r>
            <a:endParaRPr b="0" lang="es-AR" sz="8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6" name="Shape 7"/>
          <p:cNvSpPr/>
          <p:nvPr/>
        </p:nvSpPr>
        <p:spPr>
          <a:xfrm>
            <a:off x="2413800" y="2413800"/>
            <a:ext cx="585360" cy="360"/>
          </a:xfrm>
          <a:prstGeom prst="line">
            <a:avLst/>
          </a:prstGeom>
          <a:ln w="15240">
            <a:solidFill>
              <a:srgbClr val="b7c2ca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s-A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7" name="Shape 8"/>
          <p:cNvSpPr/>
          <p:nvPr/>
        </p:nvSpPr>
        <p:spPr>
          <a:xfrm>
            <a:off x="3063240" y="1481400"/>
            <a:ext cx="1572480" cy="1874160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 w="12700">
            <a:solidFill>
              <a:srgbClr val="d8e0e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s-A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8" name="Shape 9"/>
          <p:cNvSpPr/>
          <p:nvPr/>
        </p:nvSpPr>
        <p:spPr>
          <a:xfrm>
            <a:off x="3593520" y="1691640"/>
            <a:ext cx="511560" cy="511560"/>
          </a:xfrm>
          <a:prstGeom prst="ellipse">
            <a:avLst/>
          </a:prstGeom>
          <a:solidFill>
            <a:srgbClr val="2f6bff"/>
          </a:solidFill>
          <a:ln w="12700">
            <a:solidFill>
              <a:srgbClr val="2f6b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s-AR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49" name="Text 10"/>
          <p:cNvSpPr/>
          <p:nvPr/>
        </p:nvSpPr>
        <p:spPr>
          <a:xfrm>
            <a:off x="3593520" y="1828800"/>
            <a:ext cx="511560" cy="155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950" strike="noStrike" u="none">
                <a:solidFill>
                  <a:srgbClr val="ffffff"/>
                </a:solidFill>
                <a:effectLst/>
                <a:uFillTx/>
                <a:latin typeface="Aptos"/>
              </a:rPr>
              <a:t>2</a:t>
            </a:r>
            <a:endParaRPr b="0" lang="es-AR" sz="9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0" name="Text 11"/>
          <p:cNvSpPr/>
          <p:nvPr/>
        </p:nvSpPr>
        <p:spPr>
          <a:xfrm>
            <a:off x="3163680" y="2350080"/>
            <a:ext cx="1371240" cy="237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00" strike="noStrike" u="none">
                <a:solidFill>
                  <a:srgbClr val="172b36"/>
                </a:solidFill>
                <a:effectLst/>
                <a:uFillTx/>
                <a:latin typeface="Aptos"/>
              </a:rPr>
              <a:t>XOR</a:t>
            </a:r>
            <a:endParaRPr b="0" lang="es-AR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1" name="Text 12"/>
          <p:cNvSpPr/>
          <p:nvPr/>
        </p:nvSpPr>
        <p:spPr>
          <a:xfrm>
            <a:off x="3182040" y="2734200"/>
            <a:ext cx="133452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850" strike="noStrike" u="none">
                <a:solidFill>
                  <a:srgbClr val="5d6b74"/>
                </a:solidFill>
                <a:effectLst/>
                <a:uFillTx/>
                <a:latin typeface="Aptos"/>
              </a:rPr>
              <a:t>Acumula desde &gt; hasta la segunda coma.</a:t>
            </a:r>
            <a:endParaRPr b="0" lang="es-AR" sz="8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2" name="Shape 13"/>
          <p:cNvSpPr/>
          <p:nvPr/>
        </p:nvSpPr>
        <p:spPr>
          <a:xfrm>
            <a:off x="4690800" y="2413800"/>
            <a:ext cx="585000" cy="360"/>
          </a:xfrm>
          <a:prstGeom prst="line">
            <a:avLst/>
          </a:prstGeom>
          <a:ln w="15240">
            <a:solidFill>
              <a:srgbClr val="b7c2ca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s-A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3" name="Shape 14"/>
          <p:cNvSpPr/>
          <p:nvPr/>
        </p:nvSpPr>
        <p:spPr>
          <a:xfrm>
            <a:off x="5340240" y="1481400"/>
            <a:ext cx="1572480" cy="1874160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 w="12700">
            <a:solidFill>
              <a:srgbClr val="d8e0e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s-A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4" name="Shape 15"/>
          <p:cNvSpPr/>
          <p:nvPr/>
        </p:nvSpPr>
        <p:spPr>
          <a:xfrm>
            <a:off x="5870520" y="1691640"/>
            <a:ext cx="511560" cy="511560"/>
          </a:xfrm>
          <a:prstGeom prst="ellipse">
            <a:avLst/>
          </a:prstGeom>
          <a:solidFill>
            <a:srgbClr val="2f6bff"/>
          </a:solidFill>
          <a:ln w="12700">
            <a:solidFill>
              <a:srgbClr val="2f6b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s-AR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55" name="Text 16"/>
          <p:cNvSpPr/>
          <p:nvPr/>
        </p:nvSpPr>
        <p:spPr>
          <a:xfrm>
            <a:off x="5870520" y="1828800"/>
            <a:ext cx="511560" cy="155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950" strike="noStrike" u="none">
                <a:solidFill>
                  <a:srgbClr val="ffffff"/>
                </a:solidFill>
                <a:effectLst/>
                <a:uFillTx/>
                <a:latin typeface="Aptos"/>
              </a:rPr>
              <a:t>3</a:t>
            </a:r>
            <a:endParaRPr b="0" lang="es-AR" sz="9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6" name="Text 17"/>
          <p:cNvSpPr/>
          <p:nvPr/>
        </p:nvSpPr>
        <p:spPr>
          <a:xfrm>
            <a:off x="5440680" y="2350080"/>
            <a:ext cx="1371240" cy="237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00" strike="noStrike" u="none">
                <a:solidFill>
                  <a:srgbClr val="172b36"/>
                </a:solidFill>
                <a:effectLst/>
                <a:uFillTx/>
                <a:latin typeface="Aptos"/>
              </a:rPr>
              <a:t>Parseo</a:t>
            </a:r>
            <a:endParaRPr b="0" lang="es-AR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7" name="Text 18"/>
          <p:cNvSpPr/>
          <p:nvPr/>
        </p:nvSpPr>
        <p:spPr>
          <a:xfrm>
            <a:off x="5459040" y="2734200"/>
            <a:ext cx="133452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850" strike="noStrike" u="none">
                <a:solidFill>
                  <a:srgbClr val="5d6b74"/>
                </a:solidFill>
                <a:effectLst/>
                <a:uFillTx/>
                <a:latin typeface="Aptos"/>
              </a:rPr>
              <a:t>Extrae el número y el byte CHK.</a:t>
            </a:r>
            <a:endParaRPr b="0" lang="es-AR" sz="8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8" name="Shape 19"/>
          <p:cNvSpPr/>
          <p:nvPr/>
        </p:nvSpPr>
        <p:spPr>
          <a:xfrm>
            <a:off x="6967440" y="2413800"/>
            <a:ext cx="585360" cy="360"/>
          </a:xfrm>
          <a:prstGeom prst="line">
            <a:avLst/>
          </a:prstGeom>
          <a:ln w="15240">
            <a:solidFill>
              <a:srgbClr val="b7c2ca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s-A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9" name="Shape 20"/>
          <p:cNvSpPr/>
          <p:nvPr/>
        </p:nvSpPr>
        <p:spPr>
          <a:xfrm>
            <a:off x="7616880" y="1481400"/>
            <a:ext cx="1572480" cy="1874160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 w="12700">
            <a:solidFill>
              <a:srgbClr val="d8e0e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s-A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0" name="Shape 21"/>
          <p:cNvSpPr/>
          <p:nvPr/>
        </p:nvSpPr>
        <p:spPr>
          <a:xfrm>
            <a:off x="8147160" y="1691640"/>
            <a:ext cx="511560" cy="511560"/>
          </a:xfrm>
          <a:prstGeom prst="ellipse">
            <a:avLst/>
          </a:prstGeom>
          <a:solidFill>
            <a:srgbClr val="2f6bff"/>
          </a:solidFill>
          <a:ln w="12700">
            <a:solidFill>
              <a:srgbClr val="2f6b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s-AR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61" name="Text 22"/>
          <p:cNvSpPr/>
          <p:nvPr/>
        </p:nvSpPr>
        <p:spPr>
          <a:xfrm>
            <a:off x="8147160" y="1828800"/>
            <a:ext cx="511560" cy="155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950" strike="noStrike" u="none">
                <a:solidFill>
                  <a:srgbClr val="ffffff"/>
                </a:solidFill>
                <a:effectLst/>
                <a:uFillTx/>
                <a:latin typeface="Aptos"/>
              </a:rPr>
              <a:t>4</a:t>
            </a:r>
            <a:endParaRPr b="0" lang="es-AR" sz="9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2" name="Text 23"/>
          <p:cNvSpPr/>
          <p:nvPr/>
        </p:nvSpPr>
        <p:spPr>
          <a:xfrm>
            <a:off x="7717680" y="2350080"/>
            <a:ext cx="1371240" cy="237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00" strike="noStrike" u="none">
                <a:solidFill>
                  <a:srgbClr val="172b36"/>
                </a:solidFill>
                <a:effectLst/>
                <a:uFillTx/>
                <a:latin typeface="Aptos"/>
              </a:rPr>
              <a:t>Compara</a:t>
            </a:r>
            <a:endParaRPr b="0" lang="es-AR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3" name="Text 24"/>
          <p:cNvSpPr/>
          <p:nvPr/>
        </p:nvSpPr>
        <p:spPr>
          <a:xfrm>
            <a:off x="7735680" y="2734200"/>
            <a:ext cx="133452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850" strike="noStrike" u="none">
                <a:solidFill>
                  <a:srgbClr val="5d6b74"/>
                </a:solidFill>
                <a:effectLst/>
                <a:uFillTx/>
                <a:latin typeface="Aptos"/>
              </a:rPr>
              <a:t>CHK remoto vs. CHK local.</a:t>
            </a:r>
            <a:endParaRPr b="0" lang="es-AR" sz="8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4" name="Shape 25"/>
          <p:cNvSpPr/>
          <p:nvPr/>
        </p:nvSpPr>
        <p:spPr>
          <a:xfrm>
            <a:off x="9244440" y="2413800"/>
            <a:ext cx="585360" cy="360"/>
          </a:xfrm>
          <a:prstGeom prst="line">
            <a:avLst/>
          </a:prstGeom>
          <a:ln w="15240">
            <a:solidFill>
              <a:srgbClr val="b7c2ca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s-A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5" name="Shape 26"/>
          <p:cNvSpPr/>
          <p:nvPr/>
        </p:nvSpPr>
        <p:spPr>
          <a:xfrm>
            <a:off x="9893880" y="1481400"/>
            <a:ext cx="1572480" cy="1874160"/>
          </a:xfrm>
          <a:prstGeom prst="roundRect">
            <a:avLst>
              <a:gd name="adj" fmla="val 4651"/>
            </a:avLst>
          </a:prstGeom>
          <a:solidFill>
            <a:srgbClr val="eaf7ee"/>
          </a:solidFill>
          <a:ln w="12700">
            <a:solidFill>
              <a:srgbClr val="2da44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s-A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6" name="Shape 27"/>
          <p:cNvSpPr/>
          <p:nvPr/>
        </p:nvSpPr>
        <p:spPr>
          <a:xfrm>
            <a:off x="10424160" y="1691640"/>
            <a:ext cx="511560" cy="511560"/>
          </a:xfrm>
          <a:prstGeom prst="ellipse">
            <a:avLst/>
          </a:prstGeom>
          <a:solidFill>
            <a:srgbClr val="2da44e"/>
          </a:solidFill>
          <a:ln w="12700">
            <a:solidFill>
              <a:srgbClr val="2da44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s-AR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67" name="Text 28"/>
          <p:cNvSpPr/>
          <p:nvPr/>
        </p:nvSpPr>
        <p:spPr>
          <a:xfrm>
            <a:off x="10424160" y="1828800"/>
            <a:ext cx="511560" cy="155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950" strike="noStrike" u="none">
                <a:solidFill>
                  <a:srgbClr val="ffffff"/>
                </a:solidFill>
                <a:effectLst/>
                <a:uFillTx/>
                <a:latin typeface="Aptos"/>
              </a:rPr>
              <a:t>5</a:t>
            </a:r>
            <a:endParaRPr b="0" lang="es-AR" sz="9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8" name="Text 29"/>
          <p:cNvSpPr/>
          <p:nvPr/>
        </p:nvSpPr>
        <p:spPr>
          <a:xfrm>
            <a:off x="9994320" y="2350080"/>
            <a:ext cx="1371240" cy="237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00" strike="noStrike" u="none">
                <a:solidFill>
                  <a:srgbClr val="172b36"/>
                </a:solidFill>
                <a:effectLst/>
                <a:uFillTx/>
                <a:latin typeface="Aptos"/>
              </a:rPr>
              <a:t>Decide</a:t>
            </a:r>
            <a:endParaRPr b="0" lang="es-AR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9" name="Text 30"/>
          <p:cNvSpPr/>
          <p:nvPr/>
        </p:nvSpPr>
        <p:spPr>
          <a:xfrm>
            <a:off x="10012680" y="2734200"/>
            <a:ext cx="133452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850" strike="noStrike" u="none">
                <a:solidFill>
                  <a:srgbClr val="5d6b74"/>
                </a:solidFill>
                <a:effectLst/>
                <a:uFillTx/>
                <a:latin typeface="Aptos"/>
              </a:rPr>
              <a:t>Actualiza GUI y envía comandos.</a:t>
            </a:r>
            <a:endParaRPr b="0" lang="es-AR" sz="8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0" name="Shape 31"/>
          <p:cNvSpPr/>
          <p:nvPr/>
        </p:nvSpPr>
        <p:spPr>
          <a:xfrm>
            <a:off x="914400" y="3886200"/>
            <a:ext cx="4983120" cy="1416960"/>
          </a:xfrm>
          <a:prstGeom prst="roundRect">
            <a:avLst>
              <a:gd name="adj" fmla="val 5161"/>
            </a:avLst>
          </a:prstGeom>
          <a:solidFill>
            <a:srgbClr val="eaf7ee"/>
          </a:solidFill>
          <a:ln w="12700">
            <a:solidFill>
              <a:srgbClr val="2da44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s-A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1" name="Text 32"/>
          <p:cNvSpPr/>
          <p:nvPr/>
        </p:nvSpPr>
        <p:spPr>
          <a:xfrm>
            <a:off x="1188720" y="4133160"/>
            <a:ext cx="1389600" cy="237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00" strike="noStrike" u="none">
                <a:solidFill>
                  <a:srgbClr val="2da44e"/>
                </a:solidFill>
                <a:effectLst/>
                <a:uFillTx/>
                <a:latin typeface="Aptos"/>
              </a:rPr>
              <a:t>CHECKSUM OK</a:t>
            </a:r>
            <a:endParaRPr b="0" lang="es-AR" sz="1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2" name="Text 33"/>
          <p:cNvSpPr/>
          <p:nvPr/>
        </p:nvSpPr>
        <p:spPr>
          <a:xfrm>
            <a:off x="2743200" y="4078080"/>
            <a:ext cx="2742840" cy="81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" rIns="360" tIns="360" bIns="36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00" strike="noStrike" u="none">
                <a:solidFill>
                  <a:srgbClr val="172b36"/>
                </a:solidFill>
                <a:effectLst/>
                <a:uFillTx/>
                <a:latin typeface="Aptos"/>
              </a:rPr>
              <a:t>• muestra mV</a:t>
            </a:r>
            <a:endParaRPr b="0" lang="es-AR" sz="1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00" strike="noStrike" u="none">
                <a:solidFill>
                  <a:srgbClr val="172b36"/>
                </a:solidFill>
                <a:effectLst/>
                <a:uFillTx/>
                <a:latin typeface="Aptos"/>
              </a:rPr>
              <a:t>• LED virtual verde</a:t>
            </a:r>
            <a:endParaRPr b="0" lang="es-AR" sz="1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00" strike="noStrike" u="none">
                <a:solidFill>
                  <a:srgbClr val="172b36"/>
                </a:solidFill>
                <a:effectLst/>
                <a:uFillTx/>
                <a:latin typeface="Aptos"/>
              </a:rPr>
              <a:t>• rojo físico OFF / verde físico ON</a:t>
            </a:r>
            <a:endParaRPr b="0" lang="es-AR" sz="1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3" name="Shape 34"/>
          <p:cNvSpPr/>
          <p:nvPr/>
        </p:nvSpPr>
        <p:spPr>
          <a:xfrm>
            <a:off x="6291000" y="3886200"/>
            <a:ext cx="4983120" cy="1416960"/>
          </a:xfrm>
          <a:prstGeom prst="roundRect">
            <a:avLst>
              <a:gd name="adj" fmla="val 5161"/>
            </a:avLst>
          </a:prstGeom>
          <a:solidFill>
            <a:srgbClr val="fcebec"/>
          </a:solidFill>
          <a:ln w="12700">
            <a:solidFill>
              <a:srgbClr val="d94c4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s-A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4" name="Text 35"/>
          <p:cNvSpPr/>
          <p:nvPr/>
        </p:nvSpPr>
        <p:spPr>
          <a:xfrm>
            <a:off x="6565320" y="4133160"/>
            <a:ext cx="1554120" cy="237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00" strike="noStrike" u="none">
                <a:solidFill>
                  <a:srgbClr val="d94c4c"/>
                </a:solidFill>
                <a:effectLst/>
                <a:uFillTx/>
                <a:latin typeface="Aptos"/>
              </a:rPr>
              <a:t>CHECKSUM ERROR</a:t>
            </a:r>
            <a:endParaRPr b="0" lang="es-AR" sz="1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5" name="Text 36"/>
          <p:cNvSpPr/>
          <p:nvPr/>
        </p:nvSpPr>
        <p:spPr>
          <a:xfrm>
            <a:off x="8293680" y="4078080"/>
            <a:ext cx="2559960" cy="81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" rIns="360" tIns="360" bIns="36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00" strike="noStrike" u="none">
                <a:solidFill>
                  <a:srgbClr val="172b36"/>
                </a:solidFill>
                <a:effectLst/>
                <a:uFillTx/>
                <a:latin typeface="Aptos"/>
              </a:rPr>
              <a:t>• LED virtual rojo</a:t>
            </a:r>
            <a:endParaRPr b="0" lang="es-AR" sz="1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00" strike="noStrike" u="none">
                <a:solidFill>
                  <a:srgbClr val="172b36"/>
                </a:solidFill>
                <a:effectLst/>
                <a:uFillTx/>
                <a:latin typeface="Aptos"/>
              </a:rPr>
              <a:t>• verde físico OFF</a:t>
            </a:r>
            <a:endParaRPr b="0" lang="es-AR" sz="1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00" strike="noStrike" u="none">
                <a:solidFill>
                  <a:srgbClr val="172b36"/>
                </a:solidFill>
                <a:effectLst/>
                <a:uFillTx/>
                <a:latin typeface="Aptos"/>
              </a:rPr>
              <a:t>• rojo físico ON</a:t>
            </a:r>
            <a:endParaRPr b="0" lang="es-AR" sz="1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6" name="Text 37"/>
          <p:cNvSpPr/>
          <p:nvPr/>
        </p:nvSpPr>
        <p:spPr>
          <a:xfrm>
            <a:off x="1234440" y="5687640"/>
            <a:ext cx="9783720" cy="310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500" strike="noStrike" u="none">
                <a:solidFill>
                  <a:srgbClr val="123a50"/>
                </a:solidFill>
                <a:effectLst/>
                <a:uFillTx/>
                <a:latin typeface="Aptos"/>
              </a:rPr>
              <a:t>El checksum convierte una demo de “transporte” en una demo de integridad de datos.</a:t>
            </a:r>
            <a:endParaRPr b="0" lang="es-AR" sz="15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7" name="PlaceHolder 1"/>
          <p:cNvSpPr>
            <a:spLocks noGrp="1"/>
          </p:cNvSpPr>
          <p:nvPr>
            <p:ph type="sldNum" idx="12"/>
          </p:nvPr>
        </p:nvSpPr>
        <p:spPr>
          <a:xfrm>
            <a:off x="11868840" y="6556320"/>
            <a:ext cx="799560" cy="2995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en-US" sz="680" strike="noStrike" u="none">
                <a:solidFill>
                  <a:srgbClr val="87939c"/>
                </a:solidFill>
                <a:effectLst/>
                <a:uFillTx/>
                <a:latin typeface="Aptos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fld id="{C8E23F65-6C59-4714-A751-F480EC1CBC0D}" type="slidenum">
              <a:rPr b="0" lang="en-US" sz="680" strike="noStrike" u="none">
                <a:solidFill>
                  <a:srgbClr val="87939c"/>
                </a:solidFill>
                <a:effectLst/>
                <a:uFillTx/>
                <a:latin typeface="Aptos"/>
              </a:rPr>
              <a:t>&lt;número&gt;</a:t>
            </a:fld>
            <a:endParaRPr b="0" lang="es-AR" sz="68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Text 0"/>
          <p:cNvSpPr/>
          <p:nvPr/>
        </p:nvSpPr>
        <p:spPr>
          <a:xfrm>
            <a:off x="567000" y="384120"/>
            <a:ext cx="1101816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150" strike="noStrike" u="none">
                <a:solidFill>
                  <a:srgbClr val="172b36"/>
                </a:solidFill>
                <a:effectLst/>
                <a:uFillTx/>
                <a:latin typeface="Aptos Display"/>
                <a:ea typeface="Aptos Display"/>
              </a:rPr>
              <a:t>Protocolo de aplicación</a:t>
            </a:r>
            <a:endParaRPr b="0" lang="es-AR" sz="21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9" name="Text 1"/>
          <p:cNvSpPr/>
          <p:nvPr/>
        </p:nvSpPr>
        <p:spPr>
          <a:xfrm>
            <a:off x="576000" y="804600"/>
            <a:ext cx="10926720" cy="237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20" strike="noStrike" u="none">
                <a:solidFill>
                  <a:srgbClr val="73808a"/>
                </a:solidFill>
                <a:effectLst/>
                <a:uFillTx/>
                <a:latin typeface="Aptos"/>
              </a:rPr>
              <a:t>Tramas ASCII legibles, con un byte de checksum XOR.</a:t>
            </a:r>
            <a:endParaRPr b="0" lang="es-AR" sz="92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0" name="Shape 2"/>
          <p:cNvSpPr/>
          <p:nvPr/>
        </p:nvSpPr>
        <p:spPr>
          <a:xfrm>
            <a:off x="694800" y="1325880"/>
            <a:ext cx="5348880" cy="1828440"/>
          </a:xfrm>
          <a:prstGeom prst="roundRect">
            <a:avLst>
              <a:gd name="adj" fmla="val 4000"/>
            </a:avLst>
          </a:prstGeom>
          <a:solidFill>
            <a:srgbClr val="fff2e6"/>
          </a:solidFill>
          <a:ln w="12700">
            <a:solidFill>
              <a:srgbClr val="f28c2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s-A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1" name="Text 3"/>
          <p:cNvSpPr/>
          <p:nvPr/>
        </p:nvSpPr>
        <p:spPr>
          <a:xfrm>
            <a:off x="951120" y="1600200"/>
            <a:ext cx="310860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500" strike="noStrike" u="none">
                <a:solidFill>
                  <a:srgbClr val="172b36"/>
                </a:solidFill>
                <a:effectLst/>
                <a:uFillTx/>
                <a:latin typeface="Aptos"/>
              </a:rPr>
              <a:t>LPC845 → PC: dato analógico</a:t>
            </a:r>
            <a:endParaRPr b="0" lang="es-AR" sz="15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2" name="Text 4"/>
          <p:cNvSpPr/>
          <p:nvPr/>
        </p:nvSpPr>
        <p:spPr>
          <a:xfrm>
            <a:off x="951120" y="2075760"/>
            <a:ext cx="2834280" cy="338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100" strike="noStrike" u="none">
                <a:solidFill>
                  <a:srgbClr val="f28c28"/>
                </a:solidFill>
                <a:effectLst/>
                <a:uFillTx/>
                <a:latin typeface="Courier New"/>
                <a:ea typeface="Courier New"/>
              </a:rPr>
              <a:t>&gt;D,1234,~&lt;</a:t>
            </a:r>
            <a:endParaRPr b="0" lang="es-AR" sz="2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3" name="Text 5"/>
          <p:cNvSpPr/>
          <p:nvPr/>
        </p:nvSpPr>
        <p:spPr>
          <a:xfrm>
            <a:off x="951120" y="2615040"/>
            <a:ext cx="4388760" cy="209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30" strike="noStrike" u="none">
                <a:solidFill>
                  <a:srgbClr val="5d6b74"/>
                </a:solidFill>
                <a:effectLst/>
                <a:uFillTx/>
                <a:latin typeface="Aptos"/>
              </a:rPr>
              <a:t>D = dato · 1234 = mV · ~ = checksum</a:t>
            </a:r>
            <a:endParaRPr b="0" lang="es-AR" sz="103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4" name="Shape 6"/>
          <p:cNvSpPr/>
          <p:nvPr/>
        </p:nvSpPr>
        <p:spPr>
          <a:xfrm>
            <a:off x="6254640" y="1325880"/>
            <a:ext cx="5257440" cy="1828440"/>
          </a:xfrm>
          <a:prstGeom prst="roundRect">
            <a:avLst>
              <a:gd name="adj" fmla="val 4000"/>
            </a:avLst>
          </a:prstGeom>
          <a:solidFill>
            <a:srgbClr val="eaf1ff"/>
          </a:solidFill>
          <a:ln w="12700">
            <a:solidFill>
              <a:srgbClr val="2f6b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s-A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5" name="Text 7"/>
          <p:cNvSpPr/>
          <p:nvPr/>
        </p:nvSpPr>
        <p:spPr>
          <a:xfrm>
            <a:off x="6510600" y="1600200"/>
            <a:ext cx="310860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500" strike="noStrike" u="none">
                <a:solidFill>
                  <a:srgbClr val="172b36"/>
                </a:solidFill>
                <a:effectLst/>
                <a:uFillTx/>
                <a:latin typeface="Aptos"/>
              </a:rPr>
              <a:t>PC → LPC845: comando LED</a:t>
            </a:r>
            <a:endParaRPr b="0" lang="es-AR" sz="15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6" name="Text 8"/>
          <p:cNvSpPr/>
          <p:nvPr/>
        </p:nvSpPr>
        <p:spPr>
          <a:xfrm>
            <a:off x="6510600" y="2075760"/>
            <a:ext cx="2834280" cy="338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100" strike="noStrike" u="none">
                <a:solidFill>
                  <a:srgbClr val="2f6bff"/>
                </a:solidFill>
                <a:effectLst/>
                <a:uFillTx/>
                <a:latin typeface="Courier New"/>
                <a:ea typeface="Courier New"/>
              </a:rPr>
              <a:t>&gt;L,G,1,(&lt;</a:t>
            </a:r>
            <a:endParaRPr b="0" lang="es-AR" sz="2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7" name="Text 9"/>
          <p:cNvSpPr/>
          <p:nvPr/>
        </p:nvSpPr>
        <p:spPr>
          <a:xfrm>
            <a:off x="6510600" y="2615040"/>
            <a:ext cx="4480200" cy="209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30" strike="noStrike" u="none">
                <a:solidFill>
                  <a:srgbClr val="5d6b74"/>
                </a:solidFill>
                <a:effectLst/>
                <a:uFillTx/>
                <a:latin typeface="Aptos"/>
              </a:rPr>
              <a:t>L = LED · G = verde · 1 = ON · ( = checksum</a:t>
            </a:r>
            <a:endParaRPr b="0" lang="es-AR" sz="103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8" name="Shape 10"/>
          <p:cNvSpPr/>
          <p:nvPr/>
        </p:nvSpPr>
        <p:spPr>
          <a:xfrm>
            <a:off x="694800" y="3675960"/>
            <a:ext cx="5348880" cy="137124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12700">
            <a:solidFill>
              <a:srgbClr val="d8e0e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s-A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9" name="Text 11"/>
          <p:cNvSpPr/>
          <p:nvPr/>
        </p:nvSpPr>
        <p:spPr>
          <a:xfrm>
            <a:off x="951120" y="3940920"/>
            <a:ext cx="2011320" cy="237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00" strike="noStrike" u="none">
                <a:solidFill>
                  <a:srgbClr val="172b36"/>
                </a:solidFill>
                <a:effectLst/>
                <a:uFillTx/>
                <a:latin typeface="Aptos"/>
              </a:rPr>
              <a:t>ACK del LPC845</a:t>
            </a:r>
            <a:endParaRPr b="0" lang="es-AR" sz="1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0" name="Text 12"/>
          <p:cNvSpPr/>
          <p:nvPr/>
        </p:nvSpPr>
        <p:spPr>
          <a:xfrm>
            <a:off x="951120" y="4380120"/>
            <a:ext cx="1919880" cy="282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700" strike="noStrike" u="none">
                <a:solidFill>
                  <a:srgbClr val="0b8b75"/>
                </a:solidFill>
                <a:effectLst/>
                <a:uFillTx/>
                <a:latin typeface="Courier New"/>
                <a:ea typeface="Courier New"/>
              </a:rPr>
              <a:t>&gt;G,OK&lt;</a:t>
            </a:r>
            <a:endParaRPr b="0" lang="es-AR" sz="17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1" name="Text 13"/>
          <p:cNvSpPr/>
          <p:nvPr/>
        </p:nvSpPr>
        <p:spPr>
          <a:xfrm>
            <a:off x="2541960" y="4370760"/>
            <a:ext cx="306288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20" strike="noStrike" u="none">
                <a:solidFill>
                  <a:srgbClr val="5d6b74"/>
                </a:solidFill>
                <a:effectLst/>
                <a:uFillTx/>
                <a:latin typeface="Aptos"/>
              </a:rPr>
              <a:t>Actualmente es una respuesta simple, sin checksum.</a:t>
            </a:r>
            <a:endParaRPr b="0" lang="es-AR" sz="102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2" name="Shape 14"/>
          <p:cNvSpPr/>
          <p:nvPr/>
        </p:nvSpPr>
        <p:spPr>
          <a:xfrm>
            <a:off x="6254640" y="3675960"/>
            <a:ext cx="5257440" cy="137124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12700">
            <a:solidFill>
              <a:srgbClr val="d8e0e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s-A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3" name="Text 15"/>
          <p:cNvSpPr/>
          <p:nvPr/>
        </p:nvSpPr>
        <p:spPr>
          <a:xfrm>
            <a:off x="6510600" y="3940920"/>
            <a:ext cx="1828440" cy="237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00" strike="noStrike" u="none">
                <a:solidFill>
                  <a:srgbClr val="172b36"/>
                </a:solidFill>
                <a:effectLst/>
                <a:uFillTx/>
                <a:latin typeface="Aptos"/>
              </a:rPr>
              <a:t>Checksum XOR</a:t>
            </a:r>
            <a:endParaRPr b="0" lang="es-AR" sz="1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4" name="Text 16"/>
          <p:cNvSpPr/>
          <p:nvPr/>
        </p:nvSpPr>
        <p:spPr>
          <a:xfrm>
            <a:off x="6510600" y="4380120"/>
            <a:ext cx="2834280" cy="282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400" strike="noStrike" u="none">
                <a:solidFill>
                  <a:srgbClr val="123a50"/>
                </a:solidFill>
                <a:effectLst/>
                <a:uFillTx/>
                <a:latin typeface="Courier New"/>
                <a:ea typeface="Courier New"/>
              </a:rPr>
              <a:t>chk = b0 ⊕ b1 ⊕ b2 ⊕ …</a:t>
            </a:r>
            <a:endParaRPr b="0" lang="es-A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5" name="Text 17"/>
          <p:cNvSpPr/>
          <p:nvPr/>
        </p:nvSpPr>
        <p:spPr>
          <a:xfrm>
            <a:off x="8942760" y="4260960"/>
            <a:ext cx="223992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10" strike="noStrike" u="none">
                <a:solidFill>
                  <a:srgbClr val="5d6b74"/>
                </a:solidFill>
                <a:effectLst/>
                <a:uFillTx/>
                <a:latin typeface="Aptos"/>
              </a:rPr>
              <a:t>Simple y didáctico: detecta muchos errores, pero no reemplaza a un CRC.</a:t>
            </a:r>
            <a:endParaRPr b="0" lang="es-AR" sz="91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6" name="Text 18"/>
          <p:cNvSpPr/>
          <p:nvPr/>
        </p:nvSpPr>
        <p:spPr>
          <a:xfrm>
            <a:off x="1920240" y="5623560"/>
            <a:ext cx="832068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600" strike="noStrike" u="none">
                <a:solidFill>
                  <a:srgbClr val="0b8b75"/>
                </a:solidFill>
                <a:effectLst/>
                <a:uFillTx/>
                <a:latin typeface="Aptos"/>
              </a:rPr>
              <a:t>El mismo protocolo cruza UART y TCP sin modificaciones.</a:t>
            </a:r>
            <a:endParaRPr b="0" lang="es-AR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7" name="PlaceHolder 1"/>
          <p:cNvSpPr>
            <a:spLocks noGrp="1"/>
          </p:cNvSpPr>
          <p:nvPr>
            <p:ph type="sldNum" idx="13"/>
          </p:nvPr>
        </p:nvSpPr>
        <p:spPr>
          <a:xfrm>
            <a:off x="11868840" y="6556320"/>
            <a:ext cx="799560" cy="2995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en-US" sz="680" strike="noStrike" u="none">
                <a:solidFill>
                  <a:srgbClr val="87939c"/>
                </a:solidFill>
                <a:effectLst/>
                <a:uFillTx/>
                <a:latin typeface="Aptos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fld id="{6561281D-E858-41C5-AF99-0F9B57E63A72}" type="slidenum">
              <a:rPr b="0" lang="en-US" sz="680" strike="noStrike" u="none">
                <a:solidFill>
                  <a:srgbClr val="87939c"/>
                </a:solidFill>
                <a:effectLst/>
                <a:uFillTx/>
                <a:latin typeface="Aptos"/>
              </a:rPr>
              <a:t>&lt;número&gt;</a:t>
            </a:fld>
            <a:endParaRPr b="0" lang="es-AR" sz="68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8" name="Text 0"/>
          <p:cNvSpPr/>
          <p:nvPr/>
        </p:nvSpPr>
        <p:spPr>
          <a:xfrm>
            <a:off x="567000" y="384120"/>
            <a:ext cx="1101816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150" strike="noStrike" u="none">
                <a:solidFill>
                  <a:srgbClr val="172b36"/>
                </a:solidFill>
                <a:effectLst/>
                <a:uFillTx/>
                <a:latin typeface="Aptos Display"/>
                <a:ea typeface="Aptos Display"/>
              </a:rPr>
              <a:t>Secuencia completa de una medición</a:t>
            </a:r>
            <a:endParaRPr b="0" lang="es-AR" sz="21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9" name="Text 1"/>
          <p:cNvSpPr/>
          <p:nvPr/>
        </p:nvSpPr>
        <p:spPr>
          <a:xfrm>
            <a:off x="576000" y="804600"/>
            <a:ext cx="10926720" cy="237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20" strike="noStrike" u="none">
                <a:solidFill>
                  <a:srgbClr val="73808a"/>
                </a:solidFill>
                <a:effectLst/>
                <a:uFillTx/>
                <a:latin typeface="Aptos"/>
              </a:rPr>
              <a:t>Desde mover el potenciómetro hasta encender el LED verde remoto.</a:t>
            </a:r>
            <a:endParaRPr b="0" lang="es-AR" sz="92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0" name="Shape 2"/>
          <p:cNvSpPr/>
          <p:nvPr/>
        </p:nvSpPr>
        <p:spPr>
          <a:xfrm>
            <a:off x="960120" y="1234440"/>
            <a:ext cx="1572480" cy="228240"/>
          </a:xfrm>
          <a:prstGeom prst="roundRect">
            <a:avLst>
              <a:gd name="adj" fmla="val 16667"/>
            </a:avLst>
          </a:prstGeom>
          <a:solidFill>
            <a:srgbClr val="f28c28"/>
          </a:solidFill>
          <a:ln w="12700">
            <a:solidFill>
              <a:srgbClr val="f28c2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s-A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1" name="Text 3"/>
          <p:cNvSpPr/>
          <p:nvPr/>
        </p:nvSpPr>
        <p:spPr>
          <a:xfrm>
            <a:off x="996840" y="1275480"/>
            <a:ext cx="1499400" cy="118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730" strike="noStrike" u="none">
                <a:solidFill>
                  <a:srgbClr val="ffffff"/>
                </a:solidFill>
                <a:effectLst/>
                <a:uFillTx/>
                <a:latin typeface="Aptos"/>
              </a:rPr>
              <a:t>LPC845</a:t>
            </a:r>
            <a:endParaRPr b="0" lang="es-AR" sz="73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2" name="Shape 4"/>
          <p:cNvSpPr/>
          <p:nvPr/>
        </p:nvSpPr>
        <p:spPr>
          <a:xfrm>
            <a:off x="1746360" y="1572480"/>
            <a:ext cx="360" cy="4251960"/>
          </a:xfrm>
          <a:prstGeom prst="line">
            <a:avLst/>
          </a:prstGeom>
          <a:ln w="12700">
            <a:solidFill>
              <a:srgbClr val="cad3d9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s-A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3" name="Shape 5"/>
          <p:cNvSpPr/>
          <p:nvPr/>
        </p:nvSpPr>
        <p:spPr>
          <a:xfrm>
            <a:off x="3456360" y="1234440"/>
            <a:ext cx="1572480" cy="228240"/>
          </a:xfrm>
          <a:prstGeom prst="roundRect">
            <a:avLst>
              <a:gd name="adj" fmla="val 16667"/>
            </a:avLst>
          </a:prstGeom>
          <a:solidFill>
            <a:srgbClr val="0b8b75"/>
          </a:solidFill>
          <a:ln w="12700">
            <a:solidFill>
              <a:srgbClr val="0b8b75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s-AR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04" name="Text 6"/>
          <p:cNvSpPr/>
          <p:nvPr/>
        </p:nvSpPr>
        <p:spPr>
          <a:xfrm>
            <a:off x="3493080" y="1275480"/>
            <a:ext cx="1499400" cy="118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730" strike="noStrike" u="none">
                <a:solidFill>
                  <a:srgbClr val="ffffff"/>
                </a:solidFill>
                <a:effectLst/>
                <a:uFillTx/>
                <a:latin typeface="Aptos"/>
              </a:rPr>
              <a:t>ESP32</a:t>
            </a:r>
            <a:endParaRPr b="0" lang="es-AR" sz="73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5" name="Shape 7"/>
          <p:cNvSpPr/>
          <p:nvPr/>
        </p:nvSpPr>
        <p:spPr>
          <a:xfrm>
            <a:off x="4242600" y="1572480"/>
            <a:ext cx="360" cy="4251960"/>
          </a:xfrm>
          <a:prstGeom prst="line">
            <a:avLst/>
          </a:prstGeom>
          <a:ln w="12700">
            <a:solidFill>
              <a:srgbClr val="cad3d9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s-A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6" name="Shape 8"/>
          <p:cNvSpPr/>
          <p:nvPr/>
        </p:nvSpPr>
        <p:spPr>
          <a:xfrm>
            <a:off x="5970960" y="1234440"/>
            <a:ext cx="1572480" cy="228240"/>
          </a:xfrm>
          <a:prstGeom prst="roundRect">
            <a:avLst>
              <a:gd name="adj" fmla="val 16667"/>
            </a:avLst>
          </a:prstGeom>
          <a:solidFill>
            <a:srgbClr val="2f6bff"/>
          </a:solidFill>
          <a:ln w="12700">
            <a:solidFill>
              <a:srgbClr val="2f6b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s-AR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07" name="Text 9"/>
          <p:cNvSpPr/>
          <p:nvPr/>
        </p:nvSpPr>
        <p:spPr>
          <a:xfrm>
            <a:off x="6007680" y="1275480"/>
            <a:ext cx="1499400" cy="118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730" strike="noStrike" u="none">
                <a:solidFill>
                  <a:srgbClr val="ffffff"/>
                </a:solidFill>
                <a:effectLst/>
                <a:uFillTx/>
                <a:latin typeface="Aptos"/>
              </a:rPr>
              <a:t>Qt / PC</a:t>
            </a:r>
            <a:endParaRPr b="0" lang="es-AR" sz="73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8" name="Shape 10"/>
          <p:cNvSpPr/>
          <p:nvPr/>
        </p:nvSpPr>
        <p:spPr>
          <a:xfrm>
            <a:off x="6757200" y="1572480"/>
            <a:ext cx="360" cy="4251960"/>
          </a:xfrm>
          <a:prstGeom prst="line">
            <a:avLst/>
          </a:prstGeom>
          <a:ln w="12700">
            <a:solidFill>
              <a:srgbClr val="cad3d9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s-A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9" name="Shape 11"/>
          <p:cNvSpPr/>
          <p:nvPr/>
        </p:nvSpPr>
        <p:spPr>
          <a:xfrm>
            <a:off x="8485560" y="1234440"/>
            <a:ext cx="1572480" cy="228240"/>
          </a:xfrm>
          <a:prstGeom prst="roundRect">
            <a:avLst>
              <a:gd name="adj" fmla="val 16667"/>
            </a:avLst>
          </a:prstGeom>
          <a:solidFill>
            <a:srgbClr val="f28c28"/>
          </a:solidFill>
          <a:ln w="12700">
            <a:solidFill>
              <a:srgbClr val="f28c2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s-A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0" name="Text 12"/>
          <p:cNvSpPr/>
          <p:nvPr/>
        </p:nvSpPr>
        <p:spPr>
          <a:xfrm>
            <a:off x="8522280" y="1275480"/>
            <a:ext cx="1499400" cy="118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730" strike="noStrike" u="none">
                <a:solidFill>
                  <a:srgbClr val="ffffff"/>
                </a:solidFill>
                <a:effectLst/>
                <a:uFillTx/>
                <a:latin typeface="Aptos"/>
              </a:rPr>
              <a:t>LPC845</a:t>
            </a:r>
            <a:endParaRPr b="0" lang="es-AR" sz="73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1" name="Shape 13"/>
          <p:cNvSpPr/>
          <p:nvPr/>
        </p:nvSpPr>
        <p:spPr>
          <a:xfrm>
            <a:off x="9271800" y="1572480"/>
            <a:ext cx="360" cy="4251960"/>
          </a:xfrm>
          <a:prstGeom prst="line">
            <a:avLst/>
          </a:prstGeom>
          <a:ln w="12700">
            <a:solidFill>
              <a:srgbClr val="cad3d9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s-A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2" name="Shape 14"/>
          <p:cNvSpPr/>
          <p:nvPr/>
        </p:nvSpPr>
        <p:spPr>
          <a:xfrm>
            <a:off x="1033200" y="1920240"/>
            <a:ext cx="1444320" cy="502560"/>
          </a:xfrm>
          <a:prstGeom prst="roundRect">
            <a:avLst>
              <a:gd name="adj" fmla="val 14545"/>
            </a:avLst>
          </a:prstGeom>
          <a:solidFill>
            <a:srgbClr val="fff2e6"/>
          </a:solidFill>
          <a:ln w="12700">
            <a:solidFill>
              <a:srgbClr val="f28c2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s-A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3" name="Text 15"/>
          <p:cNvSpPr/>
          <p:nvPr/>
        </p:nvSpPr>
        <p:spPr>
          <a:xfrm>
            <a:off x="1088280" y="2011680"/>
            <a:ext cx="133452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860" strike="noStrike" u="none">
                <a:solidFill>
                  <a:srgbClr val="172b36"/>
                </a:solidFill>
                <a:effectLst/>
                <a:uFillTx/>
                <a:latin typeface="Aptos"/>
              </a:rPr>
              <a:t>ADC mide</a:t>
            </a:r>
            <a:endParaRPr b="0" lang="es-AR" sz="86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860" strike="noStrike" u="none">
                <a:solidFill>
                  <a:srgbClr val="172b36"/>
                </a:solidFill>
                <a:effectLst/>
                <a:uFillTx/>
                <a:latin typeface="Aptos"/>
              </a:rPr>
              <a:t>el potenciómetro</a:t>
            </a:r>
            <a:endParaRPr b="0" lang="es-AR" sz="86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4" name="Shape 16"/>
          <p:cNvSpPr/>
          <p:nvPr/>
        </p:nvSpPr>
        <p:spPr>
          <a:xfrm>
            <a:off x="1033200" y="2624400"/>
            <a:ext cx="1444320" cy="502560"/>
          </a:xfrm>
          <a:prstGeom prst="roundRect">
            <a:avLst>
              <a:gd name="adj" fmla="val 14545"/>
            </a:avLst>
          </a:prstGeom>
          <a:solidFill>
            <a:srgbClr val="fff2e6"/>
          </a:solidFill>
          <a:ln w="12700">
            <a:solidFill>
              <a:srgbClr val="f28c2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s-A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5" name="Text 17"/>
          <p:cNvSpPr/>
          <p:nvPr/>
        </p:nvSpPr>
        <p:spPr>
          <a:xfrm>
            <a:off x="1088280" y="2715840"/>
            <a:ext cx="133452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860" strike="noStrike" u="none">
                <a:solidFill>
                  <a:srgbClr val="172b36"/>
                </a:solidFill>
                <a:effectLst/>
                <a:uFillTx/>
                <a:latin typeface="Aptos"/>
              </a:rPr>
              <a:t>&gt;D,1234,~&lt;</a:t>
            </a:r>
            <a:endParaRPr b="0" lang="es-AR" sz="86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6" name="Shape 18"/>
          <p:cNvSpPr/>
          <p:nvPr/>
        </p:nvSpPr>
        <p:spPr>
          <a:xfrm>
            <a:off x="1746360" y="3126960"/>
            <a:ext cx="2496240" cy="182880"/>
          </a:xfrm>
          <a:prstGeom prst="line">
            <a:avLst/>
          </a:prstGeom>
          <a:ln w="15240">
            <a:solidFill>
              <a:srgbClr val="8fa1ac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s-A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7" name="Shape 19"/>
          <p:cNvSpPr/>
          <p:nvPr/>
        </p:nvSpPr>
        <p:spPr>
          <a:xfrm>
            <a:off x="3529440" y="3063240"/>
            <a:ext cx="1444320" cy="502560"/>
          </a:xfrm>
          <a:prstGeom prst="roundRect">
            <a:avLst>
              <a:gd name="adj" fmla="val 14545"/>
            </a:avLst>
          </a:prstGeom>
          <a:solidFill>
            <a:srgbClr val="e9f7f4"/>
          </a:solidFill>
          <a:ln w="12700">
            <a:solidFill>
              <a:srgbClr val="0b8b75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s-A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8" name="Text 20"/>
          <p:cNvSpPr/>
          <p:nvPr/>
        </p:nvSpPr>
        <p:spPr>
          <a:xfrm>
            <a:off x="3584520" y="3154680"/>
            <a:ext cx="133452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860" strike="noStrike" u="none">
                <a:solidFill>
                  <a:srgbClr val="172b36"/>
                </a:solidFill>
                <a:effectLst/>
                <a:uFillTx/>
                <a:latin typeface="Aptos"/>
              </a:rPr>
              <a:t>UART → TCP</a:t>
            </a:r>
            <a:endParaRPr b="0" lang="es-AR" sz="86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9" name="Shape 21"/>
          <p:cNvSpPr/>
          <p:nvPr/>
        </p:nvSpPr>
        <p:spPr>
          <a:xfrm>
            <a:off x="4242600" y="3566160"/>
            <a:ext cx="2514600" cy="173520"/>
          </a:xfrm>
          <a:prstGeom prst="line">
            <a:avLst/>
          </a:prstGeom>
          <a:ln w="15240">
            <a:solidFill>
              <a:srgbClr val="8fa1ac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s-A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0" name="Shape 22"/>
          <p:cNvSpPr/>
          <p:nvPr/>
        </p:nvSpPr>
        <p:spPr>
          <a:xfrm>
            <a:off x="6044040" y="3493080"/>
            <a:ext cx="1444320" cy="502560"/>
          </a:xfrm>
          <a:prstGeom prst="roundRect">
            <a:avLst>
              <a:gd name="adj" fmla="val 14545"/>
            </a:avLst>
          </a:prstGeom>
          <a:solidFill>
            <a:srgbClr val="eaf1ff"/>
          </a:solidFill>
          <a:ln w="12700">
            <a:solidFill>
              <a:srgbClr val="2f6b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s-A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1" name="Text 23"/>
          <p:cNvSpPr/>
          <p:nvPr/>
        </p:nvSpPr>
        <p:spPr>
          <a:xfrm>
            <a:off x="6099120" y="3584520"/>
            <a:ext cx="133452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860" strike="noStrike" u="none">
                <a:solidFill>
                  <a:srgbClr val="172b36"/>
                </a:solidFill>
                <a:effectLst/>
                <a:uFillTx/>
                <a:latin typeface="Aptos"/>
              </a:rPr>
              <a:t>Valida XOR</a:t>
            </a:r>
            <a:endParaRPr b="0" lang="es-AR" sz="86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860" strike="noStrike" u="none">
                <a:solidFill>
                  <a:srgbClr val="172b36"/>
                </a:solidFill>
                <a:effectLst/>
                <a:uFillTx/>
                <a:latin typeface="Aptos"/>
              </a:rPr>
              <a:t>y muestra 1234 mV</a:t>
            </a:r>
            <a:endParaRPr b="0" lang="es-AR" sz="86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2" name="Shape 24"/>
          <p:cNvSpPr/>
          <p:nvPr/>
        </p:nvSpPr>
        <p:spPr>
          <a:xfrm>
            <a:off x="6044040" y="4297680"/>
            <a:ext cx="1444320" cy="502560"/>
          </a:xfrm>
          <a:prstGeom prst="roundRect">
            <a:avLst>
              <a:gd name="adj" fmla="val 14545"/>
            </a:avLst>
          </a:prstGeom>
          <a:solidFill>
            <a:srgbClr val="eaf1ff"/>
          </a:solidFill>
          <a:ln w="12700">
            <a:solidFill>
              <a:srgbClr val="2f6b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s-A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3" name="Text 25"/>
          <p:cNvSpPr/>
          <p:nvPr/>
        </p:nvSpPr>
        <p:spPr>
          <a:xfrm>
            <a:off x="6099120" y="4389120"/>
            <a:ext cx="133452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860" strike="noStrike" u="none">
                <a:solidFill>
                  <a:srgbClr val="172b36"/>
                </a:solidFill>
                <a:effectLst/>
                <a:uFillTx/>
                <a:latin typeface="Aptos"/>
              </a:rPr>
              <a:t>Envía rojo OFF</a:t>
            </a:r>
            <a:endParaRPr b="0" lang="es-AR" sz="86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860" strike="noStrike" u="none">
                <a:solidFill>
                  <a:srgbClr val="172b36"/>
                </a:solidFill>
                <a:effectLst/>
                <a:uFillTx/>
                <a:latin typeface="Aptos"/>
              </a:rPr>
              <a:t>+ verde ON</a:t>
            </a:r>
            <a:endParaRPr b="0" lang="es-AR" sz="86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4" name="Shape 26"/>
          <p:cNvSpPr/>
          <p:nvPr/>
        </p:nvSpPr>
        <p:spPr>
          <a:xfrm flipH="1">
            <a:off x="4242600" y="4800600"/>
            <a:ext cx="2514600" cy="182880"/>
          </a:xfrm>
          <a:prstGeom prst="line">
            <a:avLst/>
          </a:prstGeom>
          <a:ln w="15240">
            <a:solidFill>
              <a:srgbClr val="8fa1ac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s-A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5" name="Shape 27"/>
          <p:cNvSpPr/>
          <p:nvPr/>
        </p:nvSpPr>
        <p:spPr>
          <a:xfrm>
            <a:off x="3529440" y="4736520"/>
            <a:ext cx="1444320" cy="502560"/>
          </a:xfrm>
          <a:prstGeom prst="roundRect">
            <a:avLst>
              <a:gd name="adj" fmla="val 14545"/>
            </a:avLst>
          </a:prstGeom>
          <a:solidFill>
            <a:srgbClr val="e9f7f4"/>
          </a:solidFill>
          <a:ln w="12700">
            <a:solidFill>
              <a:srgbClr val="0b8b75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s-A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6" name="Text 28"/>
          <p:cNvSpPr/>
          <p:nvPr/>
        </p:nvSpPr>
        <p:spPr>
          <a:xfrm>
            <a:off x="3584520" y="4827960"/>
            <a:ext cx="133452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860" strike="noStrike" u="none">
                <a:solidFill>
                  <a:srgbClr val="172b36"/>
                </a:solidFill>
                <a:effectLst/>
                <a:uFillTx/>
                <a:latin typeface="Aptos"/>
              </a:rPr>
              <a:t>TCP → UART</a:t>
            </a:r>
            <a:endParaRPr b="0" lang="es-AR" sz="86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7" name="Shape 29"/>
          <p:cNvSpPr/>
          <p:nvPr/>
        </p:nvSpPr>
        <p:spPr>
          <a:xfrm>
            <a:off x="4242600" y="5239440"/>
            <a:ext cx="5029200" cy="191880"/>
          </a:xfrm>
          <a:prstGeom prst="line">
            <a:avLst/>
          </a:prstGeom>
          <a:ln w="15240">
            <a:solidFill>
              <a:srgbClr val="8fa1ac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s-A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8" name="Shape 30"/>
          <p:cNvSpPr/>
          <p:nvPr/>
        </p:nvSpPr>
        <p:spPr>
          <a:xfrm>
            <a:off x="8558640" y="5184720"/>
            <a:ext cx="1444320" cy="502560"/>
          </a:xfrm>
          <a:prstGeom prst="roundRect">
            <a:avLst>
              <a:gd name="adj" fmla="val 14545"/>
            </a:avLst>
          </a:prstGeom>
          <a:solidFill>
            <a:srgbClr val="fff2e6"/>
          </a:solidFill>
          <a:ln w="12700">
            <a:solidFill>
              <a:srgbClr val="f28c2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s-A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9" name="Text 31"/>
          <p:cNvSpPr/>
          <p:nvPr/>
        </p:nvSpPr>
        <p:spPr>
          <a:xfrm>
            <a:off x="8613720" y="5276160"/>
            <a:ext cx="133452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860" strike="noStrike" u="none">
                <a:solidFill>
                  <a:srgbClr val="172b36"/>
                </a:solidFill>
                <a:effectLst/>
                <a:uFillTx/>
                <a:latin typeface="Aptos"/>
              </a:rPr>
              <a:t>Parser valida</a:t>
            </a:r>
            <a:endParaRPr b="0" lang="es-AR" sz="86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860" strike="noStrike" u="none">
                <a:solidFill>
                  <a:srgbClr val="172b36"/>
                </a:solidFill>
                <a:effectLst/>
                <a:uFillTx/>
                <a:latin typeface="Aptos"/>
              </a:rPr>
              <a:t>y actualiza LEDs</a:t>
            </a:r>
            <a:endParaRPr b="0" lang="es-AR" sz="86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0" name="Text 32"/>
          <p:cNvSpPr/>
          <p:nvPr/>
        </p:nvSpPr>
        <p:spPr>
          <a:xfrm>
            <a:off x="1097280" y="5916240"/>
            <a:ext cx="10012320" cy="310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50" strike="noStrike" u="none">
                <a:solidFill>
                  <a:srgbClr val="123a50"/>
                </a:solidFill>
                <a:effectLst/>
                <a:uFillTx/>
                <a:latin typeface="Aptos"/>
              </a:rPr>
              <a:t>Resultado visible: el display sigue la tensión y el estado de los LEDs confirma si la trama pasó la validación.</a:t>
            </a:r>
            <a:endParaRPr b="0" lang="es-AR" sz="13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1" name="PlaceHolder 1"/>
          <p:cNvSpPr>
            <a:spLocks noGrp="1"/>
          </p:cNvSpPr>
          <p:nvPr>
            <p:ph type="sldNum" idx="14"/>
          </p:nvPr>
        </p:nvSpPr>
        <p:spPr>
          <a:xfrm>
            <a:off x="11868840" y="6556320"/>
            <a:ext cx="799560" cy="2995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en-US" sz="680" strike="noStrike" u="none">
                <a:solidFill>
                  <a:srgbClr val="87939c"/>
                </a:solidFill>
                <a:effectLst/>
                <a:uFillTx/>
                <a:latin typeface="Aptos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fld id="{0E1B4D70-709E-4037-B6DA-9966909D5BBE}" type="slidenum">
              <a:rPr b="0" lang="en-US" sz="680" strike="noStrike" u="none">
                <a:solidFill>
                  <a:srgbClr val="87939c"/>
                </a:solidFill>
                <a:effectLst/>
                <a:uFillTx/>
                <a:latin typeface="Aptos"/>
              </a:rPr>
              <a:t>&lt;número&gt;</a:t>
            </a:fld>
            <a:endParaRPr b="0" lang="es-AR" sz="68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2" name="Text 0"/>
          <p:cNvSpPr/>
          <p:nvPr/>
        </p:nvSpPr>
        <p:spPr>
          <a:xfrm>
            <a:off x="567000" y="384120"/>
            <a:ext cx="1101816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150" strike="noStrike" u="none">
                <a:solidFill>
                  <a:srgbClr val="172b36"/>
                </a:solidFill>
                <a:effectLst/>
                <a:uFillTx/>
                <a:latin typeface="Aptos Display"/>
                <a:ea typeface="Aptos Display"/>
              </a:rPr>
              <a:t>Conexiones para montar la demo</a:t>
            </a:r>
            <a:endParaRPr b="0" lang="es-AR" sz="21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3" name="Text 1"/>
          <p:cNvSpPr/>
          <p:nvPr/>
        </p:nvSpPr>
        <p:spPr>
          <a:xfrm>
            <a:off x="576000" y="804600"/>
            <a:ext cx="10926720" cy="237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20" strike="noStrike" u="none">
                <a:solidFill>
                  <a:srgbClr val="73808a"/>
                </a:solidFill>
                <a:effectLst/>
                <a:uFillTx/>
                <a:latin typeface="Aptos"/>
              </a:rPr>
              <a:t>La UART debe cruzarse TX↔RX y todos los equipos comparten referencia de masa.</a:t>
            </a:r>
            <a:endParaRPr b="0" lang="es-AR" sz="92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4" name="Shape 2"/>
          <p:cNvSpPr/>
          <p:nvPr/>
        </p:nvSpPr>
        <p:spPr>
          <a:xfrm>
            <a:off x="658440" y="1325880"/>
            <a:ext cx="5303160" cy="4114440"/>
          </a:xfrm>
          <a:prstGeom prst="roundRect">
            <a:avLst>
              <a:gd name="adj" fmla="val 1778"/>
            </a:avLst>
          </a:prstGeom>
          <a:solidFill>
            <a:srgbClr val="fff2e6"/>
          </a:solidFill>
          <a:ln w="12700">
            <a:solidFill>
              <a:srgbClr val="f28c2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s-A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5" name="Text 3"/>
          <p:cNvSpPr/>
          <p:nvPr/>
        </p:nvSpPr>
        <p:spPr>
          <a:xfrm>
            <a:off x="960120" y="1618560"/>
            <a:ext cx="22856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700" strike="noStrike" u="none">
                <a:solidFill>
                  <a:srgbClr val="172b36"/>
                </a:solidFill>
                <a:effectLst/>
                <a:uFillTx/>
                <a:latin typeface="Aptos"/>
              </a:rPr>
              <a:t>LPC845 ↔ ESP32</a:t>
            </a:r>
            <a:endParaRPr b="0" lang="es-AR" sz="17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6" name="Text 4"/>
          <p:cNvSpPr/>
          <p:nvPr/>
        </p:nvSpPr>
        <p:spPr>
          <a:xfrm>
            <a:off x="960120" y="2148840"/>
            <a:ext cx="1965600" cy="219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020" strike="noStrike" u="none">
                <a:solidFill>
                  <a:srgbClr val="172b36"/>
                </a:solidFill>
                <a:effectLst/>
                <a:uFillTx/>
                <a:latin typeface="Aptos"/>
              </a:rPr>
              <a:t>LPC845 P0.16 / TX1</a:t>
            </a:r>
            <a:endParaRPr b="0" lang="es-AR" sz="102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7" name="Text 5"/>
          <p:cNvSpPr/>
          <p:nvPr/>
        </p:nvSpPr>
        <p:spPr>
          <a:xfrm>
            <a:off x="3017520" y="2148840"/>
            <a:ext cx="347040" cy="219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00" strike="noStrike" u="none">
                <a:solidFill>
                  <a:srgbClr val="f28c28"/>
                </a:solidFill>
                <a:effectLst/>
                <a:uFillTx/>
                <a:latin typeface="Aptos"/>
              </a:rPr>
              <a:t>→</a:t>
            </a:r>
            <a:endParaRPr b="0" lang="es-AR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8" name="Text 6"/>
          <p:cNvSpPr/>
          <p:nvPr/>
        </p:nvSpPr>
        <p:spPr>
          <a:xfrm>
            <a:off x="3456360" y="2148840"/>
            <a:ext cx="2102760" cy="219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020" strike="noStrike" u="none">
                <a:solidFill>
                  <a:srgbClr val="172b36"/>
                </a:solidFill>
                <a:effectLst/>
                <a:uFillTx/>
                <a:latin typeface="Aptos"/>
              </a:rPr>
              <a:t>ESP32 GPIO16 / RX1</a:t>
            </a:r>
            <a:endParaRPr b="0" lang="es-AR" sz="102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9" name="Text 7"/>
          <p:cNvSpPr/>
          <p:nvPr/>
        </p:nvSpPr>
        <p:spPr>
          <a:xfrm>
            <a:off x="960120" y="2670120"/>
            <a:ext cx="1965600" cy="219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020" strike="noStrike" u="none">
                <a:solidFill>
                  <a:srgbClr val="172b36"/>
                </a:solidFill>
                <a:effectLst/>
                <a:uFillTx/>
                <a:latin typeface="Aptos"/>
              </a:rPr>
              <a:t>LPC845 P0.17 / RX1</a:t>
            </a:r>
            <a:endParaRPr b="0" lang="es-AR" sz="102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0" name="Text 8"/>
          <p:cNvSpPr/>
          <p:nvPr/>
        </p:nvSpPr>
        <p:spPr>
          <a:xfrm>
            <a:off x="3017520" y="2670120"/>
            <a:ext cx="347040" cy="219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00" strike="noStrike" u="none">
                <a:solidFill>
                  <a:srgbClr val="f28c28"/>
                </a:solidFill>
                <a:effectLst/>
                <a:uFillTx/>
                <a:latin typeface="Aptos"/>
              </a:rPr>
              <a:t>←</a:t>
            </a:r>
            <a:endParaRPr b="0" lang="es-AR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1" name="Text 9"/>
          <p:cNvSpPr/>
          <p:nvPr/>
        </p:nvSpPr>
        <p:spPr>
          <a:xfrm>
            <a:off x="3456360" y="2670120"/>
            <a:ext cx="2102760" cy="219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020" strike="noStrike" u="none">
                <a:solidFill>
                  <a:srgbClr val="172b36"/>
                </a:solidFill>
                <a:effectLst/>
                <a:uFillTx/>
                <a:latin typeface="Aptos"/>
              </a:rPr>
              <a:t>ESP32 GPIO17 / TX1</a:t>
            </a:r>
            <a:endParaRPr b="0" lang="es-AR" sz="102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2" name="Text 10"/>
          <p:cNvSpPr/>
          <p:nvPr/>
        </p:nvSpPr>
        <p:spPr>
          <a:xfrm>
            <a:off x="960120" y="3191400"/>
            <a:ext cx="1965600" cy="219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020" strike="noStrike" u="none">
                <a:solidFill>
                  <a:srgbClr val="172b36"/>
                </a:solidFill>
                <a:effectLst/>
                <a:uFillTx/>
                <a:latin typeface="Aptos"/>
              </a:rPr>
              <a:t>GND</a:t>
            </a:r>
            <a:endParaRPr b="0" lang="es-AR" sz="102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3" name="Text 11"/>
          <p:cNvSpPr/>
          <p:nvPr/>
        </p:nvSpPr>
        <p:spPr>
          <a:xfrm>
            <a:off x="3017520" y="3191400"/>
            <a:ext cx="347040" cy="219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00" strike="noStrike" u="none">
                <a:solidFill>
                  <a:srgbClr val="f28c28"/>
                </a:solidFill>
                <a:effectLst/>
                <a:uFillTx/>
                <a:latin typeface="Aptos"/>
              </a:rPr>
              <a:t>—</a:t>
            </a:r>
            <a:endParaRPr b="0" lang="es-AR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4" name="Text 12"/>
          <p:cNvSpPr/>
          <p:nvPr/>
        </p:nvSpPr>
        <p:spPr>
          <a:xfrm>
            <a:off x="3456360" y="3191400"/>
            <a:ext cx="2102760" cy="219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020" strike="noStrike" u="none">
                <a:solidFill>
                  <a:srgbClr val="172b36"/>
                </a:solidFill>
                <a:effectLst/>
                <a:uFillTx/>
                <a:latin typeface="Aptos"/>
              </a:rPr>
              <a:t>GND</a:t>
            </a:r>
            <a:endParaRPr b="0" lang="es-AR" sz="102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5" name="Text 13"/>
          <p:cNvSpPr/>
          <p:nvPr/>
        </p:nvSpPr>
        <p:spPr>
          <a:xfrm>
            <a:off x="960120" y="3712320"/>
            <a:ext cx="1965600" cy="219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20" strike="noStrike" u="none">
                <a:solidFill>
                  <a:srgbClr val="172b36"/>
                </a:solidFill>
                <a:effectLst/>
                <a:uFillTx/>
                <a:latin typeface="Aptos"/>
              </a:rPr>
              <a:t>UART</a:t>
            </a:r>
            <a:endParaRPr b="0" lang="es-AR" sz="102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6" name="Text 14"/>
          <p:cNvSpPr/>
          <p:nvPr/>
        </p:nvSpPr>
        <p:spPr>
          <a:xfrm>
            <a:off x="3017520" y="3712320"/>
            <a:ext cx="347040" cy="219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endParaRPr b="0" lang="en-US" sz="1200" strike="noStrike" u="non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  <p:sp>
        <p:nvSpPr>
          <p:cNvPr id="347" name="Text 15"/>
          <p:cNvSpPr/>
          <p:nvPr/>
        </p:nvSpPr>
        <p:spPr>
          <a:xfrm>
            <a:off x="3456360" y="3712320"/>
            <a:ext cx="2102760" cy="219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20" strike="noStrike" u="none">
                <a:solidFill>
                  <a:srgbClr val="172b36"/>
                </a:solidFill>
                <a:effectLst/>
                <a:uFillTx/>
                <a:latin typeface="Aptos"/>
              </a:rPr>
              <a:t>9600 · 8N1</a:t>
            </a:r>
            <a:endParaRPr b="0" lang="es-AR" sz="102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8" name="Text 16"/>
          <p:cNvSpPr/>
          <p:nvPr/>
        </p:nvSpPr>
        <p:spPr>
          <a:xfrm>
            <a:off x="960120" y="4233600"/>
            <a:ext cx="1965600" cy="219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20" strike="noStrike" u="none">
                <a:solidFill>
                  <a:srgbClr val="172b36"/>
                </a:solidFill>
                <a:effectLst/>
                <a:uFillTx/>
                <a:latin typeface="Aptos"/>
              </a:rPr>
              <a:t>Potenciómetro</a:t>
            </a:r>
            <a:endParaRPr b="0" lang="es-AR" sz="102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9" name="Text 17"/>
          <p:cNvSpPr/>
          <p:nvPr/>
        </p:nvSpPr>
        <p:spPr>
          <a:xfrm>
            <a:off x="3017520" y="4233600"/>
            <a:ext cx="347040" cy="219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00" strike="noStrike" u="none">
                <a:solidFill>
                  <a:srgbClr val="f28c28"/>
                </a:solidFill>
                <a:effectLst/>
                <a:uFillTx/>
                <a:latin typeface="Aptos"/>
              </a:rPr>
              <a:t>→</a:t>
            </a:r>
            <a:endParaRPr b="0" lang="es-AR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0" name="Text 18"/>
          <p:cNvSpPr/>
          <p:nvPr/>
        </p:nvSpPr>
        <p:spPr>
          <a:xfrm>
            <a:off x="3456360" y="4233600"/>
            <a:ext cx="2102760" cy="219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20" strike="noStrike" u="none">
                <a:solidFill>
                  <a:srgbClr val="172b36"/>
                </a:solidFill>
                <a:effectLst/>
                <a:uFillTx/>
                <a:latin typeface="Aptos"/>
              </a:rPr>
              <a:t>ADC0 · PIO0_7</a:t>
            </a:r>
            <a:endParaRPr b="0" lang="es-AR" sz="102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1" name="Shape 19"/>
          <p:cNvSpPr/>
          <p:nvPr/>
        </p:nvSpPr>
        <p:spPr>
          <a:xfrm>
            <a:off x="6272640" y="1325880"/>
            <a:ext cx="5257440" cy="4114440"/>
          </a:xfrm>
          <a:prstGeom prst="roundRect">
            <a:avLst>
              <a:gd name="adj" fmla="val 1778"/>
            </a:avLst>
          </a:prstGeom>
          <a:solidFill>
            <a:srgbClr val="eaf1ff"/>
          </a:solidFill>
          <a:ln w="12700">
            <a:solidFill>
              <a:srgbClr val="2f6b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s-A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2" name="Text 20"/>
          <p:cNvSpPr/>
          <p:nvPr/>
        </p:nvSpPr>
        <p:spPr>
          <a:xfrm>
            <a:off x="6565320" y="1618560"/>
            <a:ext cx="22856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700" strike="noStrike" u="none">
                <a:solidFill>
                  <a:srgbClr val="172b36"/>
                </a:solidFill>
                <a:effectLst/>
                <a:uFillTx/>
                <a:latin typeface="Aptos"/>
              </a:rPr>
              <a:t>ESP32 ↔ PC</a:t>
            </a:r>
            <a:endParaRPr b="0" lang="es-AR" sz="17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3" name="Text 21"/>
          <p:cNvSpPr/>
          <p:nvPr/>
        </p:nvSpPr>
        <p:spPr>
          <a:xfrm>
            <a:off x="6546960" y="2139840"/>
            <a:ext cx="4498560" cy="2331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080" rIns="1080" tIns="1080" bIns="1080" anchor="ctr">
            <a:normAutofit/>
          </a:bodyPr>
          <a:p>
            <a:pPr marL="177840" indent="-177840" defTabSz="914400">
              <a:lnSpc>
                <a:spcPct val="100000"/>
              </a:lnSpc>
              <a:buClr>
                <a:srgbClr val="172b36"/>
              </a:buClr>
              <a:buFont typeface="Symbol" charset="2"/>
              <a:buChar char=""/>
            </a:pPr>
            <a:r>
              <a:rPr b="0" lang="en-US" sz="1120" strike="noStrike" u="none">
                <a:solidFill>
                  <a:srgbClr val="172b36"/>
                </a:solidFill>
                <a:effectLst/>
                <a:uFillTx/>
                <a:latin typeface="Aptos"/>
              </a:rPr>
              <a:t>ESP32 conectado a la red Wi‑Fi configurada.</a:t>
            </a:r>
            <a:endParaRPr b="0" lang="es-AR" sz="112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7840" indent="-177840" defTabSz="914400">
              <a:lnSpc>
                <a:spcPct val="100000"/>
              </a:lnSpc>
              <a:buClr>
                <a:srgbClr val="172b36"/>
              </a:buClr>
              <a:buFont typeface="Symbol" charset="2"/>
              <a:buChar char=""/>
            </a:pPr>
            <a:r>
              <a:rPr b="0" lang="en-US" sz="1120" strike="noStrike" u="none">
                <a:solidFill>
                  <a:srgbClr val="172b36"/>
                </a:solidFill>
                <a:effectLst/>
                <a:uFillTx/>
                <a:latin typeface="Aptos"/>
              </a:rPr>
              <a:t>La PC debe tener alcance IP hacia 192.168.7.100.</a:t>
            </a:r>
            <a:endParaRPr b="0" lang="es-AR" sz="112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7840" indent="-177840" defTabSz="914400">
              <a:lnSpc>
                <a:spcPct val="100000"/>
              </a:lnSpc>
              <a:buClr>
                <a:srgbClr val="172b36"/>
              </a:buClr>
              <a:buFont typeface="Symbol" charset="2"/>
              <a:buChar char=""/>
            </a:pPr>
            <a:r>
              <a:rPr b="0" lang="en-US" sz="1120" strike="noStrike" u="none">
                <a:solidFill>
                  <a:srgbClr val="172b36"/>
                </a:solidFill>
                <a:effectLst/>
                <a:uFillTx/>
                <a:latin typeface="Aptos"/>
              </a:rPr>
              <a:t>Aplicación Qt abre una conexión TCP al puerto 10234.</a:t>
            </a:r>
            <a:endParaRPr b="0" lang="es-AR" sz="112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7840" indent="-177840" defTabSz="914400">
              <a:lnSpc>
                <a:spcPct val="100000"/>
              </a:lnSpc>
              <a:buClr>
                <a:srgbClr val="172b36"/>
              </a:buClr>
              <a:buFont typeface="Symbol" charset="2"/>
              <a:buChar char=""/>
            </a:pPr>
            <a:r>
              <a:rPr b="0" lang="en-US" sz="1120" strike="noStrike" u="none">
                <a:solidFill>
                  <a:srgbClr val="172b36"/>
                </a:solidFill>
                <a:effectLst/>
                <a:uFillTx/>
                <a:latin typeface="Aptos"/>
              </a:rPr>
              <a:t>No hace falta conexión física entre PC y LPC845: el ESP32 hace de gateway.</a:t>
            </a:r>
            <a:endParaRPr b="0" lang="es-AR" sz="112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4" name="Shape 22"/>
          <p:cNvSpPr/>
          <p:nvPr/>
        </p:nvSpPr>
        <p:spPr>
          <a:xfrm>
            <a:off x="6565320" y="4617720"/>
            <a:ext cx="4507560" cy="43848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>
            <a:solidFill>
              <a:srgbClr val="2f6b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s-A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5" name="Text 23"/>
          <p:cNvSpPr/>
          <p:nvPr/>
        </p:nvSpPr>
        <p:spPr>
          <a:xfrm>
            <a:off x="6720840" y="4736520"/>
            <a:ext cx="4187520" cy="18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950" strike="noStrike" u="none">
                <a:solidFill>
                  <a:srgbClr val="123a50"/>
                </a:solidFill>
                <a:effectLst/>
                <a:uFillTx/>
                <a:latin typeface="Aptos"/>
              </a:rPr>
              <a:t>PC  ⇄  Wi‑Fi/AP  ⇄  ESP32  ⇄  UART  ⇄  LPC845</a:t>
            </a:r>
            <a:endParaRPr b="0" lang="es-AR" sz="9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6" name="Text 24"/>
          <p:cNvSpPr/>
          <p:nvPr/>
        </p:nvSpPr>
        <p:spPr>
          <a:xfrm>
            <a:off x="1417320" y="5751720"/>
            <a:ext cx="9326520" cy="282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20" strike="noStrike" u="none">
                <a:solidFill>
                  <a:srgbClr val="d94c4c"/>
                </a:solidFill>
                <a:effectLst/>
                <a:uFillTx/>
                <a:latin typeface="Aptos"/>
              </a:rPr>
              <a:t>Importante: usar niveles lógicos compatibles; no confundir UART TTL con RS‑232.</a:t>
            </a:r>
            <a:endParaRPr b="0" lang="es-AR" sz="132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7" name="PlaceHolder 1"/>
          <p:cNvSpPr>
            <a:spLocks noGrp="1"/>
          </p:cNvSpPr>
          <p:nvPr>
            <p:ph type="sldNum" idx="15"/>
          </p:nvPr>
        </p:nvSpPr>
        <p:spPr>
          <a:xfrm>
            <a:off x="11868840" y="6556320"/>
            <a:ext cx="799560" cy="2995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en-US" sz="680" strike="noStrike" u="none">
                <a:solidFill>
                  <a:srgbClr val="87939c"/>
                </a:solidFill>
                <a:effectLst/>
                <a:uFillTx/>
                <a:latin typeface="Aptos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fld id="{6BC4642E-659F-47B3-8154-AAFE3C2EEFA8}" type="slidenum">
              <a:rPr b="0" lang="en-US" sz="680" strike="noStrike" u="none">
                <a:solidFill>
                  <a:srgbClr val="87939c"/>
                </a:solidFill>
                <a:effectLst/>
                <a:uFillTx/>
                <a:latin typeface="Aptos"/>
              </a:rPr>
              <a:t>&lt;número&gt;</a:t>
            </a:fld>
            <a:endParaRPr b="0" lang="es-AR" sz="68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" name="Text 0"/>
          <p:cNvSpPr/>
          <p:nvPr/>
        </p:nvSpPr>
        <p:spPr>
          <a:xfrm>
            <a:off x="567000" y="384120"/>
            <a:ext cx="1101816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150" strike="noStrike" u="none">
                <a:solidFill>
                  <a:srgbClr val="172b36"/>
                </a:solidFill>
                <a:effectLst/>
                <a:uFillTx/>
                <a:latin typeface="Aptos Display"/>
                <a:ea typeface="Aptos Display"/>
              </a:rPr>
              <a:t>Guion para la demostración en clase</a:t>
            </a:r>
            <a:endParaRPr b="0" lang="es-AR" sz="21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9" name="Text 1"/>
          <p:cNvSpPr/>
          <p:nvPr/>
        </p:nvSpPr>
        <p:spPr>
          <a:xfrm>
            <a:off x="576000" y="804600"/>
            <a:ext cx="10926720" cy="237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20" strike="noStrike" u="none">
                <a:solidFill>
                  <a:srgbClr val="73808a"/>
                </a:solidFill>
                <a:effectLst/>
                <a:uFillTx/>
                <a:latin typeface="Aptos"/>
              </a:rPr>
              <a:t>Una secuencia corta permite mostrar cada capa sin perder el hilo.</a:t>
            </a:r>
            <a:endParaRPr b="0" lang="es-AR" sz="92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60" name="Shape 2"/>
          <p:cNvSpPr/>
          <p:nvPr/>
        </p:nvSpPr>
        <p:spPr>
          <a:xfrm>
            <a:off x="713160" y="1234440"/>
            <a:ext cx="475200" cy="475200"/>
          </a:xfrm>
          <a:prstGeom prst="ellipse">
            <a:avLst/>
          </a:prstGeom>
          <a:solidFill>
            <a:srgbClr val="2f6bff"/>
          </a:solidFill>
          <a:ln w="12700">
            <a:solidFill>
              <a:srgbClr val="2f6b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s-AR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61" name="Text 3"/>
          <p:cNvSpPr/>
          <p:nvPr/>
        </p:nvSpPr>
        <p:spPr>
          <a:xfrm>
            <a:off x="713160" y="1362600"/>
            <a:ext cx="475200" cy="155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950" strike="noStrike" u="none">
                <a:solidFill>
                  <a:srgbClr val="ffffff"/>
                </a:solidFill>
                <a:effectLst/>
                <a:uFillTx/>
                <a:latin typeface="Aptos"/>
              </a:rPr>
              <a:t>1</a:t>
            </a:r>
            <a:endParaRPr b="0" lang="es-AR" sz="9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62" name="Text 4"/>
          <p:cNvSpPr/>
          <p:nvPr/>
        </p:nvSpPr>
        <p:spPr>
          <a:xfrm>
            <a:off x="1389960" y="1261800"/>
            <a:ext cx="1416960" cy="237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50" strike="noStrike" u="none">
                <a:solidFill>
                  <a:srgbClr val="172b36"/>
                </a:solidFill>
                <a:effectLst/>
                <a:uFillTx/>
                <a:latin typeface="Aptos"/>
              </a:rPr>
              <a:t>Preparar</a:t>
            </a:r>
            <a:endParaRPr b="0" lang="es-AR" sz="12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63" name="Text 5"/>
          <p:cNvSpPr/>
          <p:nvPr/>
        </p:nvSpPr>
        <p:spPr>
          <a:xfrm>
            <a:off x="2770560" y="1261800"/>
            <a:ext cx="854928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60" strike="noStrike" u="none">
                <a:solidFill>
                  <a:srgbClr val="5d6b74"/>
                </a:solidFill>
                <a:effectLst/>
                <a:uFillTx/>
                <a:latin typeface="Aptos"/>
              </a:rPr>
              <a:t>Encender LPC845 y ESP32. Verificar que el ESP32 obtuvo IP y escucha en 10234.</a:t>
            </a:r>
            <a:endParaRPr b="0" lang="es-AR" sz="106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64" name="Shape 6"/>
          <p:cNvSpPr/>
          <p:nvPr/>
        </p:nvSpPr>
        <p:spPr>
          <a:xfrm>
            <a:off x="713160" y="2002680"/>
            <a:ext cx="475200" cy="475200"/>
          </a:xfrm>
          <a:prstGeom prst="ellipse">
            <a:avLst/>
          </a:prstGeom>
          <a:solidFill>
            <a:srgbClr val="2f6bff"/>
          </a:solidFill>
          <a:ln w="12700">
            <a:solidFill>
              <a:srgbClr val="2f6b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s-AR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65" name="Text 7"/>
          <p:cNvSpPr/>
          <p:nvPr/>
        </p:nvSpPr>
        <p:spPr>
          <a:xfrm>
            <a:off x="713160" y="2130480"/>
            <a:ext cx="475200" cy="155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950" strike="noStrike" u="none">
                <a:solidFill>
                  <a:srgbClr val="ffffff"/>
                </a:solidFill>
                <a:effectLst/>
                <a:uFillTx/>
                <a:latin typeface="Aptos"/>
              </a:rPr>
              <a:t>2</a:t>
            </a:r>
            <a:endParaRPr b="0" lang="es-AR" sz="9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66" name="Text 8"/>
          <p:cNvSpPr/>
          <p:nvPr/>
        </p:nvSpPr>
        <p:spPr>
          <a:xfrm>
            <a:off x="1389960" y="2030040"/>
            <a:ext cx="1416960" cy="237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50" strike="noStrike" u="none">
                <a:solidFill>
                  <a:srgbClr val="172b36"/>
                </a:solidFill>
                <a:effectLst/>
                <a:uFillTx/>
                <a:latin typeface="Aptos"/>
              </a:rPr>
              <a:t>Abrir Qt</a:t>
            </a:r>
            <a:endParaRPr b="0" lang="es-AR" sz="12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67" name="Text 9"/>
          <p:cNvSpPr/>
          <p:nvPr/>
        </p:nvSpPr>
        <p:spPr>
          <a:xfrm>
            <a:off x="2770560" y="2030040"/>
            <a:ext cx="854928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60" strike="noStrike" u="none">
                <a:solidFill>
                  <a:srgbClr val="5d6b74"/>
                </a:solidFill>
                <a:effectLst/>
                <a:uFillTx/>
                <a:latin typeface="Aptos"/>
              </a:rPr>
              <a:t>La aplicación se conecta automáticamente a 192.168.7.100:10234.</a:t>
            </a:r>
            <a:endParaRPr b="0" lang="es-AR" sz="106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68" name="Shape 10"/>
          <p:cNvSpPr/>
          <p:nvPr/>
        </p:nvSpPr>
        <p:spPr>
          <a:xfrm>
            <a:off x="713160" y="2770560"/>
            <a:ext cx="475200" cy="475200"/>
          </a:xfrm>
          <a:prstGeom prst="ellipse">
            <a:avLst/>
          </a:prstGeom>
          <a:solidFill>
            <a:srgbClr val="2f6bff"/>
          </a:solidFill>
          <a:ln w="12700">
            <a:solidFill>
              <a:srgbClr val="2f6b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s-AR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69" name="Text 11"/>
          <p:cNvSpPr/>
          <p:nvPr/>
        </p:nvSpPr>
        <p:spPr>
          <a:xfrm>
            <a:off x="713160" y="2898720"/>
            <a:ext cx="475200" cy="155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950" strike="noStrike" u="none">
                <a:solidFill>
                  <a:srgbClr val="ffffff"/>
                </a:solidFill>
                <a:effectLst/>
                <a:uFillTx/>
                <a:latin typeface="Aptos"/>
              </a:rPr>
              <a:t>3</a:t>
            </a:r>
            <a:endParaRPr b="0" lang="es-AR" sz="9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70" name="Text 12"/>
          <p:cNvSpPr/>
          <p:nvPr/>
        </p:nvSpPr>
        <p:spPr>
          <a:xfrm>
            <a:off x="1389960" y="2797920"/>
            <a:ext cx="1416960" cy="237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50" strike="noStrike" u="none">
                <a:solidFill>
                  <a:srgbClr val="172b36"/>
                </a:solidFill>
                <a:effectLst/>
                <a:uFillTx/>
                <a:latin typeface="Aptos"/>
              </a:rPr>
              <a:t>Mover el pote</a:t>
            </a:r>
            <a:endParaRPr b="0" lang="es-AR" sz="12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71" name="Text 13"/>
          <p:cNvSpPr/>
          <p:nvPr/>
        </p:nvSpPr>
        <p:spPr>
          <a:xfrm>
            <a:off x="2770560" y="2797920"/>
            <a:ext cx="854928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60" strike="noStrike" u="none">
                <a:solidFill>
                  <a:srgbClr val="5d6b74"/>
                </a:solidFill>
                <a:effectLst/>
                <a:uFillTx/>
                <a:latin typeface="Aptos"/>
              </a:rPr>
              <a:t>El valor del QLCDNumber debe variar en milivoltios.</a:t>
            </a:r>
            <a:endParaRPr b="0" lang="es-AR" sz="106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72" name="Shape 14"/>
          <p:cNvSpPr/>
          <p:nvPr/>
        </p:nvSpPr>
        <p:spPr>
          <a:xfrm>
            <a:off x="713160" y="3538800"/>
            <a:ext cx="475200" cy="475200"/>
          </a:xfrm>
          <a:prstGeom prst="ellipse">
            <a:avLst/>
          </a:prstGeom>
          <a:solidFill>
            <a:srgbClr val="2f6bff"/>
          </a:solidFill>
          <a:ln w="12700">
            <a:solidFill>
              <a:srgbClr val="2f6b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s-AR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73" name="Text 15"/>
          <p:cNvSpPr/>
          <p:nvPr/>
        </p:nvSpPr>
        <p:spPr>
          <a:xfrm>
            <a:off x="713160" y="3666600"/>
            <a:ext cx="475200" cy="155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950" strike="noStrike" u="none">
                <a:solidFill>
                  <a:srgbClr val="ffffff"/>
                </a:solidFill>
                <a:effectLst/>
                <a:uFillTx/>
                <a:latin typeface="Aptos"/>
              </a:rPr>
              <a:t>4</a:t>
            </a:r>
            <a:endParaRPr b="0" lang="es-AR" sz="9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74" name="Text 16"/>
          <p:cNvSpPr/>
          <p:nvPr/>
        </p:nvSpPr>
        <p:spPr>
          <a:xfrm>
            <a:off x="1389960" y="3566160"/>
            <a:ext cx="1416960" cy="237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50" strike="noStrike" u="none">
                <a:solidFill>
                  <a:srgbClr val="172b36"/>
                </a:solidFill>
                <a:effectLst/>
                <a:uFillTx/>
                <a:latin typeface="Aptos"/>
              </a:rPr>
              <a:t>Mostrar integridad</a:t>
            </a:r>
            <a:endParaRPr b="0" lang="es-AR" sz="12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75" name="Text 17"/>
          <p:cNvSpPr/>
          <p:nvPr/>
        </p:nvSpPr>
        <p:spPr>
          <a:xfrm>
            <a:off x="2770560" y="3566160"/>
            <a:ext cx="854928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60" strike="noStrike" u="none">
                <a:solidFill>
                  <a:srgbClr val="5d6b74"/>
                </a:solidFill>
                <a:effectLst/>
                <a:uFillTx/>
                <a:latin typeface="Aptos"/>
              </a:rPr>
              <a:t>Con tramas correctas: indicador verde en Qt y LED verde en el LPC845.</a:t>
            </a:r>
            <a:endParaRPr b="0" lang="es-AR" sz="106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76" name="Shape 18"/>
          <p:cNvSpPr/>
          <p:nvPr/>
        </p:nvSpPr>
        <p:spPr>
          <a:xfrm>
            <a:off x="713160" y="4306680"/>
            <a:ext cx="475200" cy="475200"/>
          </a:xfrm>
          <a:prstGeom prst="ellipse">
            <a:avLst/>
          </a:prstGeom>
          <a:solidFill>
            <a:srgbClr val="2f6bff"/>
          </a:solidFill>
          <a:ln w="12700">
            <a:solidFill>
              <a:srgbClr val="2f6b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s-AR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77" name="Text 19"/>
          <p:cNvSpPr/>
          <p:nvPr/>
        </p:nvSpPr>
        <p:spPr>
          <a:xfrm>
            <a:off x="713160" y="4434840"/>
            <a:ext cx="475200" cy="155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950" strike="noStrike" u="none">
                <a:solidFill>
                  <a:srgbClr val="ffffff"/>
                </a:solidFill>
                <a:effectLst/>
                <a:uFillTx/>
                <a:latin typeface="Aptos"/>
              </a:rPr>
              <a:t>5</a:t>
            </a:r>
            <a:endParaRPr b="0" lang="es-AR" sz="9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78" name="Text 20"/>
          <p:cNvSpPr/>
          <p:nvPr/>
        </p:nvSpPr>
        <p:spPr>
          <a:xfrm>
            <a:off x="1389960" y="4334400"/>
            <a:ext cx="1416960" cy="237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50" strike="noStrike" u="none">
                <a:solidFill>
                  <a:srgbClr val="172b36"/>
                </a:solidFill>
                <a:effectLst/>
                <a:uFillTx/>
                <a:latin typeface="Aptos"/>
              </a:rPr>
              <a:t>Explicar el retorno</a:t>
            </a:r>
            <a:endParaRPr b="0" lang="es-AR" sz="12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79" name="Text 21"/>
          <p:cNvSpPr/>
          <p:nvPr/>
        </p:nvSpPr>
        <p:spPr>
          <a:xfrm>
            <a:off x="2770560" y="4334400"/>
            <a:ext cx="854928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60" strike="noStrike" u="none">
                <a:solidFill>
                  <a:srgbClr val="5d6b74"/>
                </a:solidFill>
                <a:effectLst/>
                <a:uFillTx/>
                <a:latin typeface="Aptos"/>
              </a:rPr>
              <a:t>Qt no sólo recibe: también envía comandos que vuelven por TCP→UART.</a:t>
            </a:r>
            <a:endParaRPr b="0" lang="es-AR" sz="106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0" name="Shape 22"/>
          <p:cNvSpPr/>
          <p:nvPr/>
        </p:nvSpPr>
        <p:spPr>
          <a:xfrm>
            <a:off x="713160" y="5074920"/>
            <a:ext cx="475200" cy="475200"/>
          </a:xfrm>
          <a:prstGeom prst="ellipse">
            <a:avLst/>
          </a:prstGeom>
          <a:solidFill>
            <a:srgbClr val="2da44e"/>
          </a:solidFill>
          <a:ln w="12700">
            <a:solidFill>
              <a:srgbClr val="2da44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s-AR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81" name="Text 23"/>
          <p:cNvSpPr/>
          <p:nvPr/>
        </p:nvSpPr>
        <p:spPr>
          <a:xfrm>
            <a:off x="713160" y="5203080"/>
            <a:ext cx="475200" cy="155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950" strike="noStrike" u="none">
                <a:solidFill>
                  <a:srgbClr val="ffffff"/>
                </a:solidFill>
                <a:effectLst/>
                <a:uFillTx/>
                <a:latin typeface="Aptos"/>
              </a:rPr>
              <a:t>6</a:t>
            </a:r>
            <a:endParaRPr b="0" lang="es-AR" sz="9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2" name="Text 24"/>
          <p:cNvSpPr/>
          <p:nvPr/>
        </p:nvSpPr>
        <p:spPr>
          <a:xfrm>
            <a:off x="1389960" y="5102280"/>
            <a:ext cx="1416960" cy="237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50" strike="noStrike" u="none">
                <a:solidFill>
                  <a:srgbClr val="172b36"/>
                </a:solidFill>
                <a:effectLst/>
                <a:uFillTx/>
                <a:latin typeface="Aptos"/>
              </a:rPr>
              <a:t>Cerrar con capas</a:t>
            </a:r>
            <a:endParaRPr b="0" lang="es-AR" sz="12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3" name="Text 25"/>
          <p:cNvSpPr/>
          <p:nvPr/>
        </p:nvSpPr>
        <p:spPr>
          <a:xfrm>
            <a:off x="2770560" y="5102280"/>
            <a:ext cx="854928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60" strike="noStrike" u="none">
                <a:solidFill>
                  <a:srgbClr val="5d6b74"/>
                </a:solidFill>
                <a:effectLst/>
                <a:uFillTx/>
                <a:latin typeface="Aptos"/>
              </a:rPr>
              <a:t>ADC/firmware → UART → bridge → sockets → GUI. Cada bloque tiene una responsabilidad.</a:t>
            </a:r>
            <a:endParaRPr b="0" lang="es-AR" sz="106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4" name="Text 26"/>
          <p:cNvSpPr/>
          <p:nvPr/>
        </p:nvSpPr>
        <p:spPr>
          <a:xfrm>
            <a:off x="1216080" y="5980320"/>
            <a:ext cx="9783720" cy="301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50" strike="noStrike" u="none">
                <a:solidFill>
                  <a:srgbClr val="0b8b75"/>
                </a:solidFill>
                <a:effectLst/>
                <a:uFillTx/>
                <a:latin typeface="Aptos"/>
              </a:rPr>
              <a:t>Tip de exposición: primero mostrás que funciona; después abrís cada “caja” y explicás cómo lo logra.</a:t>
            </a:r>
            <a:endParaRPr b="0" lang="es-AR" sz="13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5" name="PlaceHolder 1"/>
          <p:cNvSpPr>
            <a:spLocks noGrp="1"/>
          </p:cNvSpPr>
          <p:nvPr>
            <p:ph type="sldNum" idx="16"/>
          </p:nvPr>
        </p:nvSpPr>
        <p:spPr>
          <a:xfrm>
            <a:off x="11868840" y="6556320"/>
            <a:ext cx="799560" cy="2995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en-US" sz="680" strike="noStrike" u="none">
                <a:solidFill>
                  <a:srgbClr val="87939c"/>
                </a:solidFill>
                <a:effectLst/>
                <a:uFillTx/>
                <a:latin typeface="Aptos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fld id="{3D21A043-0955-4688-B652-17F64BCF4C4C}" type="slidenum">
              <a:rPr b="0" lang="en-US" sz="680" strike="noStrike" u="none">
                <a:solidFill>
                  <a:srgbClr val="87939c"/>
                </a:solidFill>
                <a:effectLst/>
                <a:uFillTx/>
                <a:latin typeface="Aptos"/>
              </a:rPr>
              <a:t>&lt;número&gt;</a:t>
            </a:fld>
            <a:endParaRPr b="0" lang="es-AR" sz="68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6" name="Text 0"/>
          <p:cNvSpPr/>
          <p:nvPr/>
        </p:nvSpPr>
        <p:spPr>
          <a:xfrm>
            <a:off x="567000" y="384120"/>
            <a:ext cx="1101816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150" strike="noStrike" u="none">
                <a:solidFill>
                  <a:srgbClr val="172b36"/>
                </a:solidFill>
                <a:effectLst/>
                <a:uFillTx/>
                <a:latin typeface="Aptos Display"/>
                <a:ea typeface="Aptos Display"/>
              </a:rPr>
              <a:t>¿Qué conceptos reúne esta demo?</a:t>
            </a:r>
            <a:endParaRPr b="0" lang="es-AR" sz="21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7" name="Text 1"/>
          <p:cNvSpPr/>
          <p:nvPr/>
        </p:nvSpPr>
        <p:spPr>
          <a:xfrm>
            <a:off x="576000" y="804600"/>
            <a:ext cx="10926720" cy="237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20" strike="noStrike" u="none">
                <a:solidFill>
                  <a:srgbClr val="73808a"/>
                </a:solidFill>
                <a:effectLst/>
                <a:uFillTx/>
                <a:latin typeface="Aptos"/>
              </a:rPr>
              <a:t>Un ejemplo pequeño, pero con contenidos de varias capas de un sistema embebido conectado.</a:t>
            </a:r>
            <a:endParaRPr b="0" lang="es-AR" sz="92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8" name="Shape 2"/>
          <p:cNvSpPr/>
          <p:nvPr/>
        </p:nvSpPr>
        <p:spPr>
          <a:xfrm>
            <a:off x="685800" y="1280160"/>
            <a:ext cx="3428640" cy="1234080"/>
          </a:xfrm>
          <a:prstGeom prst="roundRect">
            <a:avLst>
              <a:gd name="adj" fmla="val 5926"/>
            </a:avLst>
          </a:prstGeom>
          <a:solidFill>
            <a:srgbClr val="fff2e6"/>
          </a:solidFill>
          <a:ln w="12700">
            <a:solidFill>
              <a:srgbClr val="f28c2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s-A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9" name="Text 3"/>
          <p:cNvSpPr/>
          <p:nvPr/>
        </p:nvSpPr>
        <p:spPr>
          <a:xfrm>
            <a:off x="887040" y="1499760"/>
            <a:ext cx="302616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500" strike="noStrike" u="none">
                <a:solidFill>
                  <a:srgbClr val="172b36"/>
                </a:solidFill>
                <a:effectLst/>
                <a:uFillTx/>
                <a:latin typeface="Aptos"/>
              </a:rPr>
              <a:t>Firmware bare-metal</a:t>
            </a:r>
            <a:endParaRPr b="0" lang="es-AR" sz="15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90" name="Text 4"/>
          <p:cNvSpPr/>
          <p:nvPr/>
        </p:nvSpPr>
        <p:spPr>
          <a:xfrm>
            <a:off x="941760" y="1938600"/>
            <a:ext cx="2916720" cy="338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50" strike="noStrike" u="none">
                <a:solidFill>
                  <a:srgbClr val="5d6b74"/>
                </a:solidFill>
                <a:effectLst/>
                <a:uFillTx/>
                <a:latin typeface="Aptos"/>
              </a:rPr>
              <a:t>ADC · interrupciones · timers · buffers UART · máquina de estados</a:t>
            </a:r>
            <a:endParaRPr b="0" lang="es-AR" sz="9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91" name="Shape 5"/>
          <p:cNvSpPr/>
          <p:nvPr/>
        </p:nvSpPr>
        <p:spPr>
          <a:xfrm>
            <a:off x="4380120" y="1280160"/>
            <a:ext cx="3428640" cy="1234080"/>
          </a:xfrm>
          <a:prstGeom prst="roundRect">
            <a:avLst>
              <a:gd name="adj" fmla="val 5926"/>
            </a:avLst>
          </a:prstGeom>
          <a:solidFill>
            <a:srgbClr val="e9f7f4"/>
          </a:solidFill>
          <a:ln w="12700">
            <a:solidFill>
              <a:srgbClr val="0b8b75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s-A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92" name="Text 6"/>
          <p:cNvSpPr/>
          <p:nvPr/>
        </p:nvSpPr>
        <p:spPr>
          <a:xfrm>
            <a:off x="4581000" y="1499760"/>
            <a:ext cx="302616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500" strike="noStrike" u="none">
                <a:solidFill>
                  <a:srgbClr val="172b36"/>
                </a:solidFill>
                <a:effectLst/>
                <a:uFillTx/>
                <a:latin typeface="Aptos"/>
              </a:rPr>
              <a:t>RTOS / ESP-IDF</a:t>
            </a:r>
            <a:endParaRPr b="0" lang="es-AR" sz="15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93" name="Text 7"/>
          <p:cNvSpPr/>
          <p:nvPr/>
        </p:nvSpPr>
        <p:spPr>
          <a:xfrm>
            <a:off x="4636080" y="1938600"/>
            <a:ext cx="2916720" cy="338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50" strike="noStrike" u="none">
                <a:solidFill>
                  <a:srgbClr val="5d6b74"/>
                </a:solidFill>
                <a:effectLst/>
                <a:uFillTx/>
                <a:latin typeface="Aptos"/>
              </a:rPr>
              <a:t>FreeRTOS · tareas concurrentes · eventos Wi‑Fi · NVS</a:t>
            </a:r>
            <a:endParaRPr b="0" lang="es-AR" sz="9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94" name="Shape 8"/>
          <p:cNvSpPr/>
          <p:nvPr/>
        </p:nvSpPr>
        <p:spPr>
          <a:xfrm>
            <a:off x="8074080" y="1280160"/>
            <a:ext cx="3428640" cy="1234080"/>
          </a:xfrm>
          <a:prstGeom prst="roundRect">
            <a:avLst>
              <a:gd name="adj" fmla="val 5926"/>
            </a:avLst>
          </a:prstGeom>
          <a:solidFill>
            <a:srgbClr val="eaf1ff"/>
          </a:solidFill>
          <a:ln w="12700">
            <a:solidFill>
              <a:srgbClr val="2f6b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s-A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95" name="Text 9"/>
          <p:cNvSpPr/>
          <p:nvPr/>
        </p:nvSpPr>
        <p:spPr>
          <a:xfrm>
            <a:off x="8275320" y="1499760"/>
            <a:ext cx="302616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500" strike="noStrike" u="none">
                <a:solidFill>
                  <a:srgbClr val="172b36"/>
                </a:solidFill>
                <a:effectLst/>
                <a:uFillTx/>
                <a:latin typeface="Aptos"/>
              </a:rPr>
              <a:t>Redes</a:t>
            </a:r>
            <a:endParaRPr b="0" lang="es-AR" sz="15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96" name="Text 10"/>
          <p:cNvSpPr/>
          <p:nvPr/>
        </p:nvSpPr>
        <p:spPr>
          <a:xfrm>
            <a:off x="8330040" y="1938600"/>
            <a:ext cx="2916720" cy="338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50" strike="noStrike" u="none">
                <a:solidFill>
                  <a:srgbClr val="5d6b74"/>
                </a:solidFill>
                <a:effectLst/>
                <a:uFillTx/>
                <a:latin typeface="Aptos"/>
              </a:rPr>
              <a:t>Socket TCP · server/client · stream bidireccional · IP/puerto</a:t>
            </a:r>
            <a:endParaRPr b="0" lang="es-AR" sz="9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97" name="Shape 11"/>
          <p:cNvSpPr/>
          <p:nvPr/>
        </p:nvSpPr>
        <p:spPr>
          <a:xfrm>
            <a:off x="685800" y="2898720"/>
            <a:ext cx="3428640" cy="1234080"/>
          </a:xfrm>
          <a:prstGeom prst="roundRect">
            <a:avLst>
              <a:gd name="adj" fmla="val 5926"/>
            </a:avLst>
          </a:prstGeom>
          <a:solidFill>
            <a:srgbClr val="eaf7ee"/>
          </a:solidFill>
          <a:ln w="12700">
            <a:solidFill>
              <a:srgbClr val="2da44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s-A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98" name="Text 12"/>
          <p:cNvSpPr/>
          <p:nvPr/>
        </p:nvSpPr>
        <p:spPr>
          <a:xfrm>
            <a:off x="887040" y="3117960"/>
            <a:ext cx="302616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500" strike="noStrike" u="none">
                <a:solidFill>
                  <a:srgbClr val="172b36"/>
                </a:solidFill>
                <a:effectLst/>
                <a:uFillTx/>
                <a:latin typeface="Aptos"/>
              </a:rPr>
              <a:t>Protocolos</a:t>
            </a:r>
            <a:endParaRPr b="0" lang="es-AR" sz="15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99" name="Text 13"/>
          <p:cNvSpPr/>
          <p:nvPr/>
        </p:nvSpPr>
        <p:spPr>
          <a:xfrm>
            <a:off x="941760" y="3557160"/>
            <a:ext cx="2916720" cy="338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50" strike="noStrike" u="none">
                <a:solidFill>
                  <a:srgbClr val="5d6b74"/>
                </a:solidFill>
                <a:effectLst/>
                <a:uFillTx/>
                <a:latin typeface="Aptos"/>
              </a:rPr>
              <a:t>Delimitadores · campos · checksum XOR · ACK</a:t>
            </a:r>
            <a:endParaRPr b="0" lang="es-AR" sz="9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00" name="Shape 14"/>
          <p:cNvSpPr/>
          <p:nvPr/>
        </p:nvSpPr>
        <p:spPr>
          <a:xfrm>
            <a:off x="4380120" y="2898720"/>
            <a:ext cx="3428640" cy="1234080"/>
          </a:xfrm>
          <a:prstGeom prst="roundRect">
            <a:avLst>
              <a:gd name="adj" fmla="val 5926"/>
            </a:avLst>
          </a:prstGeom>
          <a:solidFill>
            <a:srgbClr val="eaf1ff"/>
          </a:solidFill>
          <a:ln w="12700">
            <a:solidFill>
              <a:srgbClr val="2f6b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s-A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01" name="Text 15"/>
          <p:cNvSpPr/>
          <p:nvPr/>
        </p:nvSpPr>
        <p:spPr>
          <a:xfrm>
            <a:off x="4581000" y="3117960"/>
            <a:ext cx="302616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500" strike="noStrike" u="none">
                <a:solidFill>
                  <a:srgbClr val="172b36"/>
                </a:solidFill>
                <a:effectLst/>
                <a:uFillTx/>
                <a:latin typeface="Aptos"/>
              </a:rPr>
              <a:t>Qt</a:t>
            </a:r>
            <a:endParaRPr b="0" lang="es-AR" sz="15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02" name="Text 16"/>
          <p:cNvSpPr/>
          <p:nvPr/>
        </p:nvSpPr>
        <p:spPr>
          <a:xfrm>
            <a:off x="4636080" y="3557160"/>
            <a:ext cx="2916720" cy="338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50" strike="noStrike" u="none">
                <a:solidFill>
                  <a:srgbClr val="5d6b74"/>
                </a:solidFill>
                <a:effectLst/>
                <a:uFillTx/>
                <a:latin typeface="Aptos"/>
              </a:rPr>
              <a:t>Signals/slots · QTcpSocket · widgets · procesamiento de eventos</a:t>
            </a:r>
            <a:endParaRPr b="0" lang="es-AR" sz="9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03" name="Shape 17"/>
          <p:cNvSpPr/>
          <p:nvPr/>
        </p:nvSpPr>
        <p:spPr>
          <a:xfrm>
            <a:off x="8074080" y="2898720"/>
            <a:ext cx="3428640" cy="1234080"/>
          </a:xfrm>
          <a:prstGeom prst="roundRect">
            <a:avLst>
              <a:gd name="adj" fmla="val 5926"/>
            </a:avLst>
          </a:prstGeom>
          <a:solidFill>
            <a:srgbClr val="fcebec"/>
          </a:solidFill>
          <a:ln w="12700">
            <a:solidFill>
              <a:srgbClr val="d94c4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s-A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04" name="Text 18"/>
          <p:cNvSpPr/>
          <p:nvPr/>
        </p:nvSpPr>
        <p:spPr>
          <a:xfrm>
            <a:off x="8275320" y="3117960"/>
            <a:ext cx="302616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500" strike="noStrike" u="none">
                <a:solidFill>
                  <a:srgbClr val="172b36"/>
                </a:solidFill>
                <a:effectLst/>
                <a:uFillTx/>
                <a:latin typeface="Aptos"/>
              </a:rPr>
              <a:t>Arquitectura</a:t>
            </a:r>
            <a:endParaRPr b="0" lang="es-AR" sz="15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05" name="Text 19"/>
          <p:cNvSpPr/>
          <p:nvPr/>
        </p:nvSpPr>
        <p:spPr>
          <a:xfrm>
            <a:off x="8330040" y="3557160"/>
            <a:ext cx="2916720" cy="338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50" strike="noStrike" u="none">
                <a:solidFill>
                  <a:srgbClr val="5d6b74"/>
                </a:solidFill>
                <a:effectLst/>
                <a:uFillTx/>
                <a:latin typeface="Aptos"/>
              </a:rPr>
              <a:t>Separación de responsabilidades · gateway transparente · lazo cerrado</a:t>
            </a:r>
            <a:endParaRPr b="0" lang="es-AR" sz="9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06" name="Text 20"/>
          <p:cNvSpPr/>
          <p:nvPr/>
        </p:nvSpPr>
        <p:spPr>
          <a:xfrm>
            <a:off x="1234440" y="4992480"/>
            <a:ext cx="9738000" cy="402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700" strike="noStrike" u="none">
                <a:solidFill>
                  <a:srgbClr val="123a50"/>
                </a:solidFill>
                <a:effectLst/>
                <a:uFillTx/>
                <a:latin typeface="Aptos"/>
              </a:rPr>
              <a:t>La idea central: cada capa puede cambiar sin rediseñar completamente las demás.</a:t>
            </a:r>
            <a:endParaRPr b="0" lang="es-AR" sz="17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07" name="Text 21"/>
          <p:cNvSpPr/>
          <p:nvPr/>
        </p:nvSpPr>
        <p:spPr>
          <a:xfrm>
            <a:off x="1600200" y="5532120"/>
            <a:ext cx="9006480" cy="310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250" strike="noStrike" u="none">
                <a:solidFill>
                  <a:srgbClr val="5d6b74"/>
                </a:solidFill>
                <a:effectLst/>
                <a:uFillTx/>
                <a:latin typeface="Aptos"/>
              </a:rPr>
              <a:t>Por ejemplo, el LPC845 no necesita saber que del otro lado hay Qt, Wi‑Fi o TCP.</a:t>
            </a:r>
            <a:endParaRPr b="0" lang="es-AR" sz="12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08" name="PlaceHolder 1"/>
          <p:cNvSpPr>
            <a:spLocks noGrp="1"/>
          </p:cNvSpPr>
          <p:nvPr>
            <p:ph type="sldNum" idx="17"/>
          </p:nvPr>
        </p:nvSpPr>
        <p:spPr>
          <a:xfrm>
            <a:off x="11868840" y="6556320"/>
            <a:ext cx="799560" cy="2995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en-US" sz="680" strike="noStrike" u="none">
                <a:solidFill>
                  <a:srgbClr val="87939c"/>
                </a:solidFill>
                <a:effectLst/>
                <a:uFillTx/>
                <a:latin typeface="Aptos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fld id="{848AA2B7-8B6A-41F1-830E-59D4789D93A3}" type="slidenum">
              <a:rPr b="0" lang="en-US" sz="680" strike="noStrike" u="none">
                <a:solidFill>
                  <a:srgbClr val="87939c"/>
                </a:solidFill>
                <a:effectLst/>
                <a:uFillTx/>
                <a:latin typeface="Aptos"/>
              </a:rPr>
              <a:t>&lt;número&gt;</a:t>
            </a:fld>
            <a:endParaRPr b="0" lang="es-AR" sz="68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" name="Text 0"/>
          <p:cNvSpPr/>
          <p:nvPr/>
        </p:nvSpPr>
        <p:spPr>
          <a:xfrm>
            <a:off x="567000" y="384120"/>
            <a:ext cx="1101816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150" strike="noStrike" u="none">
                <a:solidFill>
                  <a:srgbClr val="172b36"/>
                </a:solidFill>
                <a:effectLst/>
                <a:uFillTx/>
                <a:latin typeface="Aptos Display"/>
                <a:ea typeface="Aptos Display"/>
              </a:rPr>
              <a:t>Mejoras posibles para una versión robusta</a:t>
            </a:r>
            <a:endParaRPr b="0" lang="es-AR" sz="21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10" name="Text 1"/>
          <p:cNvSpPr/>
          <p:nvPr/>
        </p:nvSpPr>
        <p:spPr>
          <a:xfrm>
            <a:off x="576000" y="804600"/>
            <a:ext cx="10926720" cy="237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20" strike="noStrike" u="none">
                <a:solidFill>
                  <a:srgbClr val="73808a"/>
                </a:solidFill>
                <a:effectLst/>
                <a:uFillTx/>
                <a:latin typeface="Aptos"/>
              </a:rPr>
              <a:t>Buenos puntos para cerrar la clase y distinguir una demo didáctica de un producto.</a:t>
            </a:r>
            <a:endParaRPr b="0" lang="es-AR" sz="92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11" name="Shape 2"/>
          <p:cNvSpPr/>
          <p:nvPr/>
        </p:nvSpPr>
        <p:spPr>
          <a:xfrm>
            <a:off x="713160" y="1280160"/>
            <a:ext cx="5275800" cy="1133640"/>
          </a:xfrm>
          <a:prstGeom prst="roundRect">
            <a:avLst>
              <a:gd name="adj" fmla="val 6452"/>
            </a:avLst>
          </a:prstGeom>
          <a:solidFill>
            <a:srgbClr val="eaf1ff"/>
          </a:solidFill>
          <a:ln w="12700">
            <a:solidFill>
              <a:srgbClr val="2f6b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s-A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12" name="Text 3"/>
          <p:cNvSpPr/>
          <p:nvPr/>
        </p:nvSpPr>
        <p:spPr>
          <a:xfrm>
            <a:off x="914400" y="1463040"/>
            <a:ext cx="144432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50" strike="noStrike" u="none">
                <a:solidFill>
                  <a:srgbClr val="172b36"/>
                </a:solidFill>
                <a:effectLst/>
                <a:uFillTx/>
                <a:latin typeface="Aptos"/>
              </a:rPr>
              <a:t>TCP es un stream</a:t>
            </a:r>
            <a:endParaRPr b="0" lang="es-AR" sz="12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13" name="Text 4"/>
          <p:cNvSpPr/>
          <p:nvPr/>
        </p:nvSpPr>
        <p:spPr>
          <a:xfrm>
            <a:off x="2468880" y="1435680"/>
            <a:ext cx="3254760" cy="566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39" strike="noStrike" u="none">
                <a:solidFill>
                  <a:srgbClr val="5d6b74"/>
                </a:solidFill>
                <a:effectLst/>
                <a:uFillTx/>
                <a:latin typeface="Aptos"/>
              </a:rPr>
              <a:t>Acumular datos y extraer tramas completas; readAll()/recv() pueden entregar fragmentos o varias tramas juntas.</a:t>
            </a:r>
            <a:endParaRPr b="0" lang="es-AR" sz="939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14" name="Shape 5"/>
          <p:cNvSpPr/>
          <p:nvPr/>
        </p:nvSpPr>
        <p:spPr>
          <a:xfrm>
            <a:off x="6428160" y="1280160"/>
            <a:ext cx="5275800" cy="1133640"/>
          </a:xfrm>
          <a:prstGeom prst="roundRect">
            <a:avLst>
              <a:gd name="adj" fmla="val 6452"/>
            </a:avLst>
          </a:prstGeom>
          <a:solidFill>
            <a:srgbClr val="e9f7f4"/>
          </a:solidFill>
          <a:ln w="12700">
            <a:solidFill>
              <a:srgbClr val="0b8b75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s-A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15" name="Text 6"/>
          <p:cNvSpPr/>
          <p:nvPr/>
        </p:nvSpPr>
        <p:spPr>
          <a:xfrm>
            <a:off x="6629400" y="1463040"/>
            <a:ext cx="144432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50" strike="noStrike" u="none">
                <a:solidFill>
                  <a:srgbClr val="172b36"/>
                </a:solidFill>
                <a:effectLst/>
                <a:uFillTx/>
                <a:latin typeface="Aptos"/>
              </a:rPr>
              <a:t>Ciclo de vida de tareas</a:t>
            </a:r>
            <a:endParaRPr b="0" lang="es-AR" sz="12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16" name="Text 7"/>
          <p:cNvSpPr/>
          <p:nvPr/>
        </p:nvSpPr>
        <p:spPr>
          <a:xfrm>
            <a:off x="8183880" y="1435680"/>
            <a:ext cx="3254760" cy="566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39" strike="noStrike" u="none">
                <a:solidFill>
                  <a:srgbClr val="5d6b74"/>
                </a:solidFill>
                <a:effectLst/>
                <a:uFillTx/>
                <a:latin typeface="Aptos"/>
              </a:rPr>
              <a:t>En el ESP32, evitar crear nuevas tareas en cada reconexión sin finalizar/reutilizar las anteriores.</a:t>
            </a:r>
            <a:endParaRPr b="0" lang="es-AR" sz="939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17" name="Shape 8"/>
          <p:cNvSpPr/>
          <p:nvPr/>
        </p:nvSpPr>
        <p:spPr>
          <a:xfrm>
            <a:off x="713160" y="2770560"/>
            <a:ext cx="5275800" cy="1133640"/>
          </a:xfrm>
          <a:prstGeom prst="roundRect">
            <a:avLst>
              <a:gd name="adj" fmla="val 6452"/>
            </a:avLst>
          </a:prstGeom>
          <a:solidFill>
            <a:srgbClr val="fff2e6"/>
          </a:solidFill>
          <a:ln w="12700">
            <a:solidFill>
              <a:srgbClr val="f28c2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s-A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18" name="Text 9"/>
          <p:cNvSpPr/>
          <p:nvPr/>
        </p:nvSpPr>
        <p:spPr>
          <a:xfrm>
            <a:off x="914400" y="2953440"/>
            <a:ext cx="144432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50" strike="noStrike" u="none">
                <a:solidFill>
                  <a:srgbClr val="172b36"/>
                </a:solidFill>
                <a:effectLst/>
                <a:uFillTx/>
                <a:latin typeface="Aptos"/>
              </a:rPr>
              <a:t>Parser unificado</a:t>
            </a:r>
            <a:endParaRPr b="0" lang="es-AR" sz="12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19" name="Text 10"/>
          <p:cNvSpPr/>
          <p:nvPr/>
        </p:nvSpPr>
        <p:spPr>
          <a:xfrm>
            <a:off x="2468880" y="2926080"/>
            <a:ext cx="3254760" cy="566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39" strike="noStrike" u="none">
                <a:solidFill>
                  <a:srgbClr val="5d6b74"/>
                </a:solidFill>
                <a:effectLst/>
                <a:uFillTx/>
                <a:latin typeface="Aptos"/>
              </a:rPr>
              <a:t>Aplicar el mismo framing a datos, comandos y ACK; considerar timeout de trama.</a:t>
            </a:r>
            <a:endParaRPr b="0" lang="es-AR" sz="939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20" name="Shape 11"/>
          <p:cNvSpPr/>
          <p:nvPr/>
        </p:nvSpPr>
        <p:spPr>
          <a:xfrm>
            <a:off x="6428160" y="2770560"/>
            <a:ext cx="5275800" cy="1133640"/>
          </a:xfrm>
          <a:prstGeom prst="roundRect">
            <a:avLst>
              <a:gd name="adj" fmla="val 6452"/>
            </a:avLst>
          </a:prstGeom>
          <a:solidFill>
            <a:srgbClr val="eaf7ee"/>
          </a:solidFill>
          <a:ln w="12700">
            <a:solidFill>
              <a:srgbClr val="2da44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s-A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21" name="Text 12"/>
          <p:cNvSpPr/>
          <p:nvPr/>
        </p:nvSpPr>
        <p:spPr>
          <a:xfrm>
            <a:off x="6629400" y="2953440"/>
            <a:ext cx="144432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50" strike="noStrike" u="none">
                <a:solidFill>
                  <a:srgbClr val="172b36"/>
                </a:solidFill>
                <a:effectLst/>
                <a:uFillTx/>
                <a:latin typeface="Aptos"/>
              </a:rPr>
              <a:t>Integridad más fuerte</a:t>
            </a:r>
            <a:endParaRPr b="0" lang="es-AR" sz="12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22" name="Text 13"/>
          <p:cNvSpPr/>
          <p:nvPr/>
        </p:nvSpPr>
        <p:spPr>
          <a:xfrm>
            <a:off x="8183880" y="2926080"/>
            <a:ext cx="3254760" cy="566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39" strike="noStrike" u="none">
                <a:solidFill>
                  <a:srgbClr val="5d6b74"/>
                </a:solidFill>
                <a:effectLst/>
                <a:uFillTx/>
                <a:latin typeface="Aptos"/>
              </a:rPr>
              <a:t>Mantener XOR para enseñar el concepto o pasar a CRC cuando la robustez sea importante.</a:t>
            </a:r>
            <a:endParaRPr b="0" lang="es-AR" sz="939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23" name="Shape 14"/>
          <p:cNvSpPr/>
          <p:nvPr/>
        </p:nvSpPr>
        <p:spPr>
          <a:xfrm>
            <a:off x="713160" y="4260960"/>
            <a:ext cx="5275800" cy="1133640"/>
          </a:xfrm>
          <a:prstGeom prst="roundRect">
            <a:avLst>
              <a:gd name="adj" fmla="val 6452"/>
            </a:avLst>
          </a:prstGeom>
          <a:solidFill>
            <a:srgbClr val="fcebec"/>
          </a:solidFill>
          <a:ln w="12700">
            <a:solidFill>
              <a:srgbClr val="d94c4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s-A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24" name="Text 15"/>
          <p:cNvSpPr/>
          <p:nvPr/>
        </p:nvSpPr>
        <p:spPr>
          <a:xfrm>
            <a:off x="914400" y="4443840"/>
            <a:ext cx="144432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50" strike="noStrike" u="none">
                <a:solidFill>
                  <a:srgbClr val="172b36"/>
                </a:solidFill>
                <a:effectLst/>
                <a:uFillTx/>
                <a:latin typeface="Aptos"/>
              </a:rPr>
              <a:t>Configuración</a:t>
            </a:r>
            <a:endParaRPr b="0" lang="es-AR" sz="12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25" name="Text 16"/>
          <p:cNvSpPr/>
          <p:nvPr/>
        </p:nvSpPr>
        <p:spPr>
          <a:xfrm>
            <a:off x="2468880" y="4416480"/>
            <a:ext cx="3254760" cy="566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39" strike="noStrike" u="none">
                <a:solidFill>
                  <a:srgbClr val="5d6b74"/>
                </a:solidFill>
                <a:effectLst/>
                <a:uFillTx/>
                <a:latin typeface="Aptos"/>
              </a:rPr>
              <a:t>Evitar IP/credenciales compiladas: usar settings, discovery o provisioning.</a:t>
            </a:r>
            <a:endParaRPr b="0" lang="es-AR" sz="939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26" name="Shape 17"/>
          <p:cNvSpPr/>
          <p:nvPr/>
        </p:nvSpPr>
        <p:spPr>
          <a:xfrm>
            <a:off x="6428160" y="4260960"/>
            <a:ext cx="5275800" cy="1133640"/>
          </a:xfrm>
          <a:prstGeom prst="roundRect">
            <a:avLst>
              <a:gd name="adj" fmla="val 6452"/>
            </a:avLst>
          </a:prstGeom>
          <a:solidFill>
            <a:srgbClr val="eaf1ff"/>
          </a:solidFill>
          <a:ln w="12700">
            <a:solidFill>
              <a:srgbClr val="2f6b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s-A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27" name="Text 18"/>
          <p:cNvSpPr/>
          <p:nvPr/>
        </p:nvSpPr>
        <p:spPr>
          <a:xfrm>
            <a:off x="6629400" y="4443840"/>
            <a:ext cx="144432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50" strike="noStrike" u="none">
                <a:solidFill>
                  <a:srgbClr val="172b36"/>
                </a:solidFill>
                <a:effectLst/>
                <a:uFillTx/>
                <a:latin typeface="Aptos"/>
              </a:rPr>
              <a:t>Estado de conexión</a:t>
            </a:r>
            <a:endParaRPr b="0" lang="es-AR" sz="12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28" name="Text 19"/>
          <p:cNvSpPr/>
          <p:nvPr/>
        </p:nvSpPr>
        <p:spPr>
          <a:xfrm>
            <a:off x="8183880" y="4416480"/>
            <a:ext cx="3254760" cy="566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39" strike="noStrike" u="none">
                <a:solidFill>
                  <a:srgbClr val="5d6b74"/>
                </a:solidFill>
                <a:effectLst/>
                <a:uFillTx/>
                <a:latin typeface="Aptos"/>
              </a:rPr>
              <a:t>En Qt, manejar connected/disconnected/errorOccurred y reconexión explícita.</a:t>
            </a:r>
            <a:endParaRPr b="0" lang="es-AR" sz="939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29" name="Text 20"/>
          <p:cNvSpPr/>
          <p:nvPr/>
        </p:nvSpPr>
        <p:spPr>
          <a:xfrm>
            <a:off x="1143000" y="5833800"/>
            <a:ext cx="9875160" cy="310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430" strike="noStrike" u="none">
                <a:solidFill>
                  <a:srgbClr val="0b8b75"/>
                </a:solidFill>
                <a:effectLst/>
                <a:uFillTx/>
                <a:latin typeface="Aptos"/>
              </a:rPr>
              <a:t>Como demo de clase, el sistema ya muestra muy bien el recorrido completo de los datos.</a:t>
            </a:r>
            <a:endParaRPr b="0" lang="es-AR" sz="143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30" name="PlaceHolder 1"/>
          <p:cNvSpPr>
            <a:spLocks noGrp="1"/>
          </p:cNvSpPr>
          <p:nvPr>
            <p:ph type="sldNum" idx="18"/>
          </p:nvPr>
        </p:nvSpPr>
        <p:spPr>
          <a:xfrm>
            <a:off x="11868840" y="6556320"/>
            <a:ext cx="799560" cy="2995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en-US" sz="680" strike="noStrike" u="none">
                <a:solidFill>
                  <a:srgbClr val="87939c"/>
                </a:solidFill>
                <a:effectLst/>
                <a:uFillTx/>
                <a:latin typeface="Aptos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fld id="{C8B57D3A-20C4-4BFC-96F8-19C5855343E7}" type="slidenum">
              <a:rPr b="0" lang="en-US" sz="680" strike="noStrike" u="none">
                <a:solidFill>
                  <a:srgbClr val="87939c"/>
                </a:solidFill>
                <a:effectLst/>
                <a:uFillTx/>
                <a:latin typeface="Aptos"/>
              </a:rPr>
              <a:t>&lt;número&gt;</a:t>
            </a:fld>
            <a:endParaRPr b="0" lang="es-AR" sz="68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1" name="Text 0"/>
          <p:cNvSpPr/>
          <p:nvPr/>
        </p:nvSpPr>
        <p:spPr>
          <a:xfrm>
            <a:off x="567000" y="384120"/>
            <a:ext cx="1101816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150" strike="noStrike" u="none">
                <a:solidFill>
                  <a:srgbClr val="172b36"/>
                </a:solidFill>
                <a:effectLst/>
                <a:uFillTx/>
                <a:latin typeface="Aptos Display"/>
                <a:ea typeface="Aptos Display"/>
              </a:rPr>
              <a:t>Mapa del código</a:t>
            </a:r>
            <a:endParaRPr b="0" lang="es-AR" sz="21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32" name="Text 1"/>
          <p:cNvSpPr/>
          <p:nvPr/>
        </p:nvSpPr>
        <p:spPr>
          <a:xfrm>
            <a:off x="576000" y="804600"/>
            <a:ext cx="10926720" cy="237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20" strike="noStrike" u="none">
                <a:solidFill>
                  <a:srgbClr val="73808a"/>
                </a:solidFill>
                <a:effectLst/>
                <a:uFillTx/>
                <a:latin typeface="Aptos"/>
              </a:rPr>
              <a:t>Dónde mirar durante la explicación si querés abrir los proyectos en vivo.</a:t>
            </a:r>
            <a:endParaRPr b="0" lang="es-AR" sz="92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33" name="Shape 2"/>
          <p:cNvSpPr/>
          <p:nvPr/>
        </p:nvSpPr>
        <p:spPr>
          <a:xfrm>
            <a:off x="685800" y="1298520"/>
            <a:ext cx="3456000" cy="4525920"/>
          </a:xfrm>
          <a:prstGeom prst="roundRect">
            <a:avLst>
              <a:gd name="adj" fmla="val 2116"/>
            </a:avLst>
          </a:prstGeom>
          <a:solidFill>
            <a:srgbClr val="fff2e6"/>
          </a:solidFill>
          <a:ln w="12700">
            <a:solidFill>
              <a:srgbClr val="f28c2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s-A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34" name="Text 3"/>
          <p:cNvSpPr/>
          <p:nvPr/>
        </p:nvSpPr>
        <p:spPr>
          <a:xfrm>
            <a:off x="887040" y="1554480"/>
            <a:ext cx="305388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520" strike="noStrike" u="none">
                <a:solidFill>
                  <a:srgbClr val="172b36"/>
                </a:solidFill>
                <a:effectLst/>
                <a:uFillTx/>
                <a:latin typeface="Aptos"/>
              </a:rPr>
              <a:t>MQTT_Client / LPC845</a:t>
            </a:r>
            <a:endParaRPr b="0" lang="es-AR" sz="152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35" name="Shape 4"/>
          <p:cNvSpPr/>
          <p:nvPr/>
        </p:nvSpPr>
        <p:spPr>
          <a:xfrm>
            <a:off x="941760" y="2157840"/>
            <a:ext cx="209880" cy="209880"/>
          </a:xfrm>
          <a:prstGeom prst="ellipse">
            <a:avLst/>
          </a:prstGeom>
          <a:solidFill>
            <a:srgbClr val="f28c28"/>
          </a:solidFill>
          <a:ln w="12700">
            <a:solidFill>
              <a:srgbClr val="f28c2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s-A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36" name="Text 5"/>
          <p:cNvSpPr/>
          <p:nvPr/>
        </p:nvSpPr>
        <p:spPr>
          <a:xfrm>
            <a:off x="1252800" y="2094120"/>
            <a:ext cx="2587320" cy="429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50" strike="noStrike" u="none">
                <a:solidFill>
                  <a:srgbClr val="5d6b74"/>
                </a:solidFill>
                <a:effectLst/>
                <a:uFillTx/>
                <a:latin typeface="Aptos"/>
              </a:rPr>
              <a:t>src/main.c  → lazo principal y EnviarVoltaje()</a:t>
            </a:r>
            <a:endParaRPr b="0" lang="es-AR" sz="9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37" name="Shape 6"/>
          <p:cNvSpPr/>
          <p:nvPr/>
        </p:nvSpPr>
        <p:spPr>
          <a:xfrm>
            <a:off x="941760" y="2825640"/>
            <a:ext cx="209880" cy="209880"/>
          </a:xfrm>
          <a:prstGeom prst="ellipse">
            <a:avLst/>
          </a:prstGeom>
          <a:solidFill>
            <a:srgbClr val="f28c28"/>
          </a:solidFill>
          <a:ln w="12700">
            <a:solidFill>
              <a:srgbClr val="f28c2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s-A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38" name="Text 7"/>
          <p:cNvSpPr/>
          <p:nvPr/>
        </p:nvSpPr>
        <p:spPr>
          <a:xfrm>
            <a:off x="1252800" y="2761560"/>
            <a:ext cx="2587320" cy="429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50" strike="noStrike" u="none">
                <a:solidFill>
                  <a:srgbClr val="5d6b74"/>
                </a:solidFill>
                <a:effectLst/>
                <a:uFillTx/>
                <a:latin typeface="Aptos"/>
              </a:rPr>
              <a:t>CTIMER/ctimer.c  → disparo ADC cada 1 ms</a:t>
            </a:r>
            <a:endParaRPr b="0" lang="es-AR" sz="9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39" name="Shape 8"/>
          <p:cNvSpPr/>
          <p:nvPr/>
        </p:nvSpPr>
        <p:spPr>
          <a:xfrm>
            <a:off x="941760" y="3493080"/>
            <a:ext cx="209880" cy="209880"/>
          </a:xfrm>
          <a:prstGeom prst="ellipse">
            <a:avLst/>
          </a:prstGeom>
          <a:solidFill>
            <a:srgbClr val="f28c28"/>
          </a:solidFill>
          <a:ln w="12700">
            <a:solidFill>
              <a:srgbClr val="f28c2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s-A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40" name="Text 9"/>
          <p:cNvSpPr/>
          <p:nvPr/>
        </p:nvSpPr>
        <p:spPr>
          <a:xfrm>
            <a:off x="1252800" y="3429000"/>
            <a:ext cx="2587320" cy="429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50" strike="noStrike" u="none">
                <a:solidFill>
                  <a:srgbClr val="5d6b74"/>
                </a:solidFill>
                <a:effectLst/>
                <a:uFillTx/>
                <a:latin typeface="Aptos"/>
              </a:rPr>
              <a:t>ADC/adc.c  → conversión y lectura de 12 bits</a:t>
            </a:r>
            <a:endParaRPr b="0" lang="es-AR" sz="9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41" name="Shape 10"/>
          <p:cNvSpPr/>
          <p:nvPr/>
        </p:nvSpPr>
        <p:spPr>
          <a:xfrm>
            <a:off x="941760" y="4160520"/>
            <a:ext cx="209880" cy="209880"/>
          </a:xfrm>
          <a:prstGeom prst="ellipse">
            <a:avLst/>
          </a:prstGeom>
          <a:solidFill>
            <a:srgbClr val="f28c28"/>
          </a:solidFill>
          <a:ln w="12700">
            <a:solidFill>
              <a:srgbClr val="f28c2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s-A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42" name="Text 11"/>
          <p:cNvSpPr/>
          <p:nvPr/>
        </p:nvSpPr>
        <p:spPr>
          <a:xfrm>
            <a:off x="1252800" y="4096440"/>
            <a:ext cx="2587320" cy="429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50" strike="noStrike" u="none">
                <a:solidFill>
                  <a:srgbClr val="5d6b74"/>
                </a:solidFill>
                <a:effectLst/>
                <a:uFillTx/>
                <a:latin typeface="Aptos"/>
              </a:rPr>
              <a:t>UART/uart1.c  → buffers + parser de comandos</a:t>
            </a:r>
            <a:endParaRPr b="0" lang="es-AR" sz="9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43" name="Shape 12"/>
          <p:cNvSpPr/>
          <p:nvPr/>
        </p:nvSpPr>
        <p:spPr>
          <a:xfrm>
            <a:off x="941760" y="4827960"/>
            <a:ext cx="209880" cy="209880"/>
          </a:xfrm>
          <a:prstGeom prst="ellipse">
            <a:avLst/>
          </a:prstGeom>
          <a:solidFill>
            <a:srgbClr val="f28c28"/>
          </a:solidFill>
          <a:ln w="12700">
            <a:solidFill>
              <a:srgbClr val="f28c2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s-A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44" name="Text 13"/>
          <p:cNvSpPr/>
          <p:nvPr/>
        </p:nvSpPr>
        <p:spPr>
          <a:xfrm>
            <a:off x="1252800" y="4763880"/>
            <a:ext cx="2587320" cy="429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50" strike="noStrike" u="none">
                <a:solidFill>
                  <a:srgbClr val="5d6b74"/>
                </a:solidFill>
                <a:effectLst/>
                <a:uFillTx/>
                <a:latin typeface="Aptos"/>
              </a:rPr>
              <a:t>Drivers/Inicializacion.c  → setup del MCU</a:t>
            </a:r>
            <a:endParaRPr b="0" lang="es-AR" sz="9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45" name="Shape 14"/>
          <p:cNvSpPr/>
          <p:nvPr/>
        </p:nvSpPr>
        <p:spPr>
          <a:xfrm>
            <a:off x="4361760" y="1298520"/>
            <a:ext cx="3456000" cy="4525920"/>
          </a:xfrm>
          <a:prstGeom prst="roundRect">
            <a:avLst>
              <a:gd name="adj" fmla="val 2116"/>
            </a:avLst>
          </a:prstGeom>
          <a:solidFill>
            <a:srgbClr val="e9f7f4"/>
          </a:solidFill>
          <a:ln w="12700">
            <a:solidFill>
              <a:srgbClr val="0b8b75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s-A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46" name="Text 15"/>
          <p:cNvSpPr/>
          <p:nvPr/>
        </p:nvSpPr>
        <p:spPr>
          <a:xfrm>
            <a:off x="4563000" y="1554480"/>
            <a:ext cx="305388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520" strike="noStrike" u="none">
                <a:solidFill>
                  <a:srgbClr val="172b36"/>
                </a:solidFill>
                <a:effectLst/>
                <a:uFillTx/>
                <a:latin typeface="Aptos"/>
              </a:rPr>
              <a:t>Server_Bridge_UART / ESP32</a:t>
            </a:r>
            <a:endParaRPr b="0" lang="es-AR" sz="152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47" name="Shape 16"/>
          <p:cNvSpPr/>
          <p:nvPr/>
        </p:nvSpPr>
        <p:spPr>
          <a:xfrm>
            <a:off x="4617720" y="2157840"/>
            <a:ext cx="209880" cy="209880"/>
          </a:xfrm>
          <a:prstGeom prst="ellipse">
            <a:avLst/>
          </a:prstGeom>
          <a:solidFill>
            <a:srgbClr val="0b8b75"/>
          </a:solidFill>
          <a:ln w="12700">
            <a:solidFill>
              <a:srgbClr val="0b8b75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s-AR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48" name="Text 17"/>
          <p:cNvSpPr/>
          <p:nvPr/>
        </p:nvSpPr>
        <p:spPr>
          <a:xfrm>
            <a:off x="4928760" y="2094120"/>
            <a:ext cx="2587320" cy="429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50" strike="noStrike" u="none">
                <a:solidFill>
                  <a:srgbClr val="5d6b74"/>
                </a:solidFill>
                <a:effectLst/>
                <a:uFillTx/>
                <a:latin typeface="Aptos"/>
              </a:rPr>
              <a:t>main/main.c  → secuencia de inicio</a:t>
            </a:r>
            <a:endParaRPr b="0" lang="es-AR" sz="9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49" name="Shape 18"/>
          <p:cNvSpPr/>
          <p:nvPr/>
        </p:nvSpPr>
        <p:spPr>
          <a:xfrm>
            <a:off x="4617720" y="2825640"/>
            <a:ext cx="209880" cy="209880"/>
          </a:xfrm>
          <a:prstGeom prst="ellipse">
            <a:avLst/>
          </a:prstGeom>
          <a:solidFill>
            <a:srgbClr val="0b8b75"/>
          </a:solidFill>
          <a:ln w="12700">
            <a:solidFill>
              <a:srgbClr val="0b8b75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s-AR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50" name="Text 19"/>
          <p:cNvSpPr/>
          <p:nvPr/>
        </p:nvSpPr>
        <p:spPr>
          <a:xfrm>
            <a:off x="4928760" y="2761560"/>
            <a:ext cx="2587320" cy="429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50" strike="noStrike" u="none">
                <a:solidFill>
                  <a:srgbClr val="5d6b74"/>
                </a:solidFill>
                <a:effectLst/>
                <a:uFillTx/>
                <a:latin typeface="Aptos"/>
              </a:rPr>
              <a:t>wifi/wifi.c  → STA + reconexión</a:t>
            </a:r>
            <a:endParaRPr b="0" lang="es-AR" sz="9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51" name="Shape 20"/>
          <p:cNvSpPr/>
          <p:nvPr/>
        </p:nvSpPr>
        <p:spPr>
          <a:xfrm>
            <a:off x="4617720" y="3493080"/>
            <a:ext cx="209880" cy="209880"/>
          </a:xfrm>
          <a:prstGeom prst="ellipse">
            <a:avLst/>
          </a:prstGeom>
          <a:solidFill>
            <a:srgbClr val="0b8b75"/>
          </a:solidFill>
          <a:ln w="12700">
            <a:solidFill>
              <a:srgbClr val="0b8b75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s-AR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52" name="Text 21"/>
          <p:cNvSpPr/>
          <p:nvPr/>
        </p:nvSpPr>
        <p:spPr>
          <a:xfrm>
            <a:off x="4928760" y="3429000"/>
            <a:ext cx="2587320" cy="429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50" strike="noStrike" u="none">
                <a:solidFill>
                  <a:srgbClr val="5d6b74"/>
                </a:solidFill>
                <a:effectLst/>
                <a:uFillTx/>
                <a:latin typeface="Aptos"/>
              </a:rPr>
              <a:t>uart_bridge/uart_bridge.c  → UART1 9600 8N1</a:t>
            </a:r>
            <a:endParaRPr b="0" lang="es-AR" sz="9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53" name="Shape 22"/>
          <p:cNvSpPr/>
          <p:nvPr/>
        </p:nvSpPr>
        <p:spPr>
          <a:xfrm>
            <a:off x="4617720" y="4160520"/>
            <a:ext cx="209880" cy="209880"/>
          </a:xfrm>
          <a:prstGeom prst="ellipse">
            <a:avLst/>
          </a:prstGeom>
          <a:solidFill>
            <a:srgbClr val="0b8b75"/>
          </a:solidFill>
          <a:ln w="12700">
            <a:solidFill>
              <a:srgbClr val="0b8b75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s-AR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54" name="Text 23"/>
          <p:cNvSpPr/>
          <p:nvPr/>
        </p:nvSpPr>
        <p:spPr>
          <a:xfrm>
            <a:off x="4928760" y="4096440"/>
            <a:ext cx="2587320" cy="429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50" strike="noStrike" u="none">
                <a:solidFill>
                  <a:srgbClr val="5d6b74"/>
                </a:solidFill>
                <a:effectLst/>
                <a:uFillTx/>
                <a:latin typeface="Aptos"/>
              </a:rPr>
              <a:t>tcp_server/tcp_server.c  → socket + dos tareas</a:t>
            </a:r>
            <a:endParaRPr b="0" lang="es-AR" sz="9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55" name="Shape 24"/>
          <p:cNvSpPr/>
          <p:nvPr/>
        </p:nvSpPr>
        <p:spPr>
          <a:xfrm>
            <a:off x="8037720" y="1298520"/>
            <a:ext cx="3456000" cy="4525920"/>
          </a:xfrm>
          <a:prstGeom prst="roundRect">
            <a:avLst>
              <a:gd name="adj" fmla="val 2116"/>
            </a:avLst>
          </a:prstGeom>
          <a:solidFill>
            <a:srgbClr val="eaf1ff"/>
          </a:solidFill>
          <a:ln w="12700">
            <a:solidFill>
              <a:srgbClr val="2f6b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s-A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56" name="Text 25"/>
          <p:cNvSpPr/>
          <p:nvPr/>
        </p:nvSpPr>
        <p:spPr>
          <a:xfrm>
            <a:off x="8238600" y="1554480"/>
            <a:ext cx="305388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520" strike="noStrike" u="none">
                <a:solidFill>
                  <a:srgbClr val="172b36"/>
                </a:solidFill>
                <a:effectLst/>
                <a:uFillTx/>
                <a:latin typeface="Aptos"/>
              </a:rPr>
              <a:t>NodeMCUclient / Qt</a:t>
            </a:r>
            <a:endParaRPr b="0" lang="es-AR" sz="152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57" name="Shape 26"/>
          <p:cNvSpPr/>
          <p:nvPr/>
        </p:nvSpPr>
        <p:spPr>
          <a:xfrm>
            <a:off x="8293680" y="2157840"/>
            <a:ext cx="209880" cy="209880"/>
          </a:xfrm>
          <a:prstGeom prst="ellipse">
            <a:avLst/>
          </a:prstGeom>
          <a:solidFill>
            <a:srgbClr val="2f6bff"/>
          </a:solidFill>
          <a:ln w="12700">
            <a:solidFill>
              <a:srgbClr val="2f6b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s-AR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58" name="Text 27"/>
          <p:cNvSpPr/>
          <p:nvPr/>
        </p:nvSpPr>
        <p:spPr>
          <a:xfrm>
            <a:off x="8604360" y="2094120"/>
            <a:ext cx="2587320" cy="429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50" strike="noStrike" u="none">
                <a:solidFill>
                  <a:srgbClr val="5d6b74"/>
                </a:solidFill>
                <a:effectLst/>
                <a:uFillTx/>
                <a:latin typeface="Aptos"/>
              </a:rPr>
              <a:t>mainwindow.cpp  → conexión y onReadyRead()</a:t>
            </a:r>
            <a:endParaRPr b="0" lang="es-AR" sz="9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59" name="Shape 28"/>
          <p:cNvSpPr/>
          <p:nvPr/>
        </p:nvSpPr>
        <p:spPr>
          <a:xfrm>
            <a:off x="8293680" y="2825640"/>
            <a:ext cx="209880" cy="209880"/>
          </a:xfrm>
          <a:prstGeom prst="ellipse">
            <a:avLst/>
          </a:prstGeom>
          <a:solidFill>
            <a:srgbClr val="2f6bff"/>
          </a:solidFill>
          <a:ln w="12700">
            <a:solidFill>
              <a:srgbClr val="2f6b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s-AR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60" name="Text 29"/>
          <p:cNvSpPr/>
          <p:nvPr/>
        </p:nvSpPr>
        <p:spPr>
          <a:xfrm>
            <a:off x="8604360" y="2761560"/>
            <a:ext cx="2587320" cy="429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50" strike="noStrike" u="none">
                <a:solidFill>
                  <a:srgbClr val="5d6b74"/>
                </a:solidFill>
                <a:effectLst/>
                <a:uFillTx/>
                <a:latin typeface="Aptos"/>
              </a:rPr>
              <a:t>mainwindow.ui  → QTextEdit + QLCDNumber</a:t>
            </a:r>
            <a:endParaRPr b="0" lang="es-AR" sz="9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61" name="Shape 30"/>
          <p:cNvSpPr/>
          <p:nvPr/>
        </p:nvSpPr>
        <p:spPr>
          <a:xfrm>
            <a:off x="8293680" y="3493080"/>
            <a:ext cx="209880" cy="209880"/>
          </a:xfrm>
          <a:prstGeom prst="ellipse">
            <a:avLst/>
          </a:prstGeom>
          <a:solidFill>
            <a:srgbClr val="2f6bff"/>
          </a:solidFill>
          <a:ln w="12700">
            <a:solidFill>
              <a:srgbClr val="2f6b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s-AR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62" name="Text 31"/>
          <p:cNvSpPr/>
          <p:nvPr/>
        </p:nvSpPr>
        <p:spPr>
          <a:xfrm>
            <a:off x="8604360" y="3429000"/>
            <a:ext cx="2587320" cy="429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50" strike="noStrike" u="none">
                <a:solidFill>
                  <a:srgbClr val="5d6b74"/>
                </a:solidFill>
                <a:effectLst/>
                <a:uFillTx/>
                <a:latin typeface="Aptos"/>
              </a:rPr>
              <a:t>qledlabel.cpp  → indicador virtual</a:t>
            </a:r>
            <a:endParaRPr b="0" lang="es-AR" sz="9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63" name="Shape 32"/>
          <p:cNvSpPr/>
          <p:nvPr/>
        </p:nvSpPr>
        <p:spPr>
          <a:xfrm>
            <a:off x="8293680" y="4160520"/>
            <a:ext cx="209880" cy="209880"/>
          </a:xfrm>
          <a:prstGeom prst="ellipse">
            <a:avLst/>
          </a:prstGeom>
          <a:solidFill>
            <a:srgbClr val="2f6bff"/>
          </a:solidFill>
          <a:ln w="12700">
            <a:solidFill>
              <a:srgbClr val="2f6b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s-AR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64" name="Text 33"/>
          <p:cNvSpPr/>
          <p:nvPr/>
        </p:nvSpPr>
        <p:spPr>
          <a:xfrm>
            <a:off x="8604360" y="4096440"/>
            <a:ext cx="2587320" cy="429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50" strike="noStrike" u="none">
                <a:solidFill>
                  <a:srgbClr val="5d6b74"/>
                </a:solidFill>
                <a:effectLst/>
                <a:uFillTx/>
                <a:latin typeface="Aptos"/>
              </a:rPr>
              <a:t>QTcpSocket  → transporte TCP</a:t>
            </a:r>
            <a:endParaRPr b="0" lang="es-AR" sz="9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65" name="Text 34"/>
          <p:cNvSpPr/>
          <p:nvPr/>
        </p:nvSpPr>
        <p:spPr>
          <a:xfrm>
            <a:off x="1143000" y="6035040"/>
            <a:ext cx="987516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50" strike="noStrike" u="none">
                <a:solidFill>
                  <a:srgbClr val="123a50"/>
                </a:solidFill>
                <a:effectLst/>
                <a:uFillTx/>
                <a:latin typeface="Aptos"/>
              </a:rPr>
              <a:t>Con estos archivos alcanza para seguir el recorrido completo sin navegar por todo el árbol del proyecto.</a:t>
            </a:r>
            <a:endParaRPr b="0" lang="es-AR" sz="12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66" name="PlaceHolder 1"/>
          <p:cNvSpPr>
            <a:spLocks noGrp="1"/>
          </p:cNvSpPr>
          <p:nvPr>
            <p:ph type="sldNum" idx="19"/>
          </p:nvPr>
        </p:nvSpPr>
        <p:spPr>
          <a:xfrm>
            <a:off x="11868840" y="6556320"/>
            <a:ext cx="799560" cy="2995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en-US" sz="680" strike="noStrike" u="none">
                <a:solidFill>
                  <a:srgbClr val="87939c"/>
                </a:solidFill>
                <a:effectLst/>
                <a:uFillTx/>
                <a:latin typeface="Aptos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fld id="{E76BF8B4-00B0-4EB2-AC6C-BBE02DD0FC27}" type="slidenum">
              <a:rPr b="0" lang="en-US" sz="680" strike="noStrike" u="none">
                <a:solidFill>
                  <a:srgbClr val="87939c"/>
                </a:solidFill>
                <a:effectLst/>
                <a:uFillTx/>
                <a:latin typeface="Aptos"/>
              </a:rPr>
              <a:t>&lt;número&gt;</a:t>
            </a:fld>
            <a:endParaRPr b="0" lang="es-AR" sz="68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 pitchFamily="0" charset="1"/>
        <a:ea typeface=""/>
        <a:cs typeface=""/>
      </a:majorFont>
      <a:minorFont>
        <a:latin typeface="Aptos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Office Them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16</TotalTime>
  <Application>LibreOffice/25.2.3.2$Linux_X86_64 LibreOffice_project/520$Build-2</Application>
  <AppVersion>15.0000</AppVersion>
  <Words>0</Words>
  <Paragraphs>0</Paragraphs>
  <Company>Clase</Company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2026-09-12T11:57:57Z</dcterms:created>
  <dc:creator>OpenAI</dc:creator>
  <dc:description/>
  <dc:language>es-AR</dc:language>
  <cp:lastModifiedBy/>
  <dcterms:modified xsi:type="dcterms:W3CDTF">2026-09-12T09:34:14Z</dcterms:modified>
  <cp:revision>2</cp:revision>
  <dc:subject>Demo LPC845 + ESP32 + Qt</dc:subject>
  <dc:title>Demo extremo a extremo: LPC845 ↔ ESP32 ↔ Qt</dc:titl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Notes">
    <vt:i4>15</vt:i4>
  </property>
  <property fmtid="{D5CDD505-2E9C-101B-9397-08002B2CF9AE}" pid="3" name="PresentationFormat">
    <vt:lpwstr>On-screen Show (16:9)</vt:lpwstr>
  </property>
  <property fmtid="{D5CDD505-2E9C-101B-9397-08002B2CF9AE}" pid="4" name="Slides">
    <vt:i4>15</vt:i4>
  </property>
</Properties>
</file>