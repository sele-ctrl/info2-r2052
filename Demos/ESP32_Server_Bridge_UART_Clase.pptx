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 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par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des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plaz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ar la 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diap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ositi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va</a:t>
            </a:r>
            <a:endParaRPr b="0" lang="es-A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76CDCA-7A9A-419F-A7A9-83CEF6DF6282}" type="slidenum"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66CFDB-FE2A-46B1-8510-83BDFDABDF0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2BA810-BF4B-4481-91DF-6C55A97173B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00087F-8C01-4903-AF2C-7202EE38767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51AD48-434E-4721-BE66-29D041C1BC0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581313-4A39-492A-A325-D741B14712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6D60DB-A172-4420-A87E-24E78A9ED6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5EEBCD-980C-48E5-AB18-78CC1553F88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B273BA-8D8F-48AD-A7ED-8A10945F58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B60167-61D9-4D58-B0B6-AAE8B0C666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E03008-0E7F-4C11-92F7-108F6B3E817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375711-B2D5-4EE8-82FF-16F59FF5629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255600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502920" y="651060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ESP32 · Server_Bridge_UART</a:t>
            </a:r>
            <a:endParaRPr b="0" lang="es-A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10698480" y="651060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ESP-IDF</a:t>
            </a:r>
            <a:endParaRPr b="0" lang="es-A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3983B53-C908-4FB4-ABDE-8E69F30B9515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</a:t>
            </a: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formato del texto de título</a:t>
            </a:r>
            <a:endParaRPr b="0" lang="es-A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  <a:endParaRPr b="0" lang="es-A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  <a:endParaRPr b="0" lang="es-A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255960"/>
            <a:ext cx="12191400" cy="62359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31520" y="1143000"/>
            <a:ext cx="7589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ESP32: Bridge TCP ↔ UART</a:t>
            </a:r>
            <a:endParaRPr b="0" lang="es-A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749880" y="1874520"/>
            <a:ext cx="7131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Servidor Wi‑Fi que conecta una red TCP con un dispositivo serie</a:t>
            </a:r>
            <a:endParaRPr b="0" lang="es-A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822960" y="2880360"/>
            <a:ext cx="2239920" cy="105120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951120" y="2971800"/>
            <a:ext cx="1983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Cliente TCP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(PC / app)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4572000" y="2880360"/>
            <a:ext cx="2239920" cy="1051200"/>
          </a:xfrm>
          <a:prstGeom prst="roundRect">
            <a:avLst>
              <a:gd name="adj" fmla="val 6957"/>
            </a:avLst>
          </a:prstGeom>
          <a:solidFill>
            <a:srgbClr val="eaf8f4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4700160" y="2971800"/>
            <a:ext cx="1983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ESP32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Wi‑Fi + FreeRTOS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8321040" y="2880360"/>
            <a:ext cx="2239920" cy="1051200"/>
          </a:xfrm>
          <a:prstGeom prst="roundRect">
            <a:avLst>
              <a:gd name="adj" fmla="val 6957"/>
            </a:avLst>
          </a:prstGeom>
          <a:solidFill>
            <a:srgbClr val="fff3e8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8449200" y="2971800"/>
            <a:ext cx="1983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Dispositivo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UART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3072240" y="3401280"/>
            <a:ext cx="1426320" cy="360"/>
          </a:xfrm>
          <a:prstGeom prst="line">
            <a:avLst/>
          </a:prstGeom>
          <a:ln w="38100">
            <a:solidFill>
              <a:srgbClr val="2d6cd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6821280" y="3401280"/>
            <a:ext cx="1426320" cy="360"/>
          </a:xfrm>
          <a:prstGeom prst="line">
            <a:avLst/>
          </a:prstGeom>
          <a:ln w="38100">
            <a:solidFill>
              <a:srgbClr val="e67e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 flipH="1">
            <a:off x="3072240" y="3675600"/>
            <a:ext cx="1426320" cy="360"/>
          </a:xfrm>
          <a:prstGeom prst="line">
            <a:avLst/>
          </a:prstGeom>
          <a:ln w="38100">
            <a:solidFill>
              <a:srgbClr val="2d6cd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2"/>
          <p:cNvSpPr/>
          <p:nvPr/>
        </p:nvSpPr>
        <p:spPr>
          <a:xfrm flipH="1">
            <a:off x="6821280" y="3675600"/>
            <a:ext cx="1426320" cy="360"/>
          </a:xfrm>
          <a:prstGeom prst="line">
            <a:avLst/>
          </a:prstGeom>
          <a:ln w="38100">
            <a:solidFill>
              <a:srgbClr val="e67e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1051560" y="4709160"/>
            <a:ext cx="1828440" cy="347040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1124640" y="4763880"/>
            <a:ext cx="168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TCP puerto 10234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5"/>
          <p:cNvSpPr/>
          <p:nvPr/>
        </p:nvSpPr>
        <p:spPr>
          <a:xfrm>
            <a:off x="4800600" y="4709160"/>
            <a:ext cx="1782720" cy="34704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4873680" y="4763880"/>
            <a:ext cx="163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Modo STA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8549640" y="4709160"/>
            <a:ext cx="1782720" cy="3470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8622720" y="4763880"/>
            <a:ext cx="1636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9600 · 8N1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749880" y="55321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43d59"/>
                </a:solidFill>
                <a:effectLst/>
                <a:uFillTx/>
                <a:latin typeface="Aptos"/>
              </a:rPr>
              <a:t>Ejemplo: Server_Bridge_UART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5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52CD09-5DAC-438F-BDB8-509113FD656A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¿Qué problema resuelve?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Permite acceder por red a un equipo que originalmente solo habla UART.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685800" y="1828800"/>
            <a:ext cx="2880000" cy="105120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813960" y="1920240"/>
            <a:ext cx="2624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Red Wi‑Fi / Ethernet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Cliente TCP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4617720" y="1828800"/>
            <a:ext cx="2880000" cy="1051200"/>
          </a:xfrm>
          <a:prstGeom prst="roundRect">
            <a:avLst>
              <a:gd name="adj" fmla="val 6957"/>
            </a:avLst>
          </a:prstGeom>
          <a:solidFill>
            <a:srgbClr val="eaf8f4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4745880" y="1920240"/>
            <a:ext cx="2624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ESP32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“puente” transparente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8549640" y="1828800"/>
            <a:ext cx="2880000" cy="1051200"/>
          </a:xfrm>
          <a:prstGeom prst="roundRect">
            <a:avLst>
              <a:gd name="adj" fmla="val 6957"/>
            </a:avLst>
          </a:prstGeom>
          <a:solidFill>
            <a:srgbClr val="fff3e8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8677800" y="1920240"/>
            <a:ext cx="2624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Equipo serie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UART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3584160" y="2359080"/>
            <a:ext cx="960120" cy="360"/>
          </a:xfrm>
          <a:prstGeom prst="line">
            <a:avLst/>
          </a:prstGeom>
          <a:ln w="38100">
            <a:solidFill>
              <a:srgbClr val="2d6cd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7516080" y="2359080"/>
            <a:ext cx="960120" cy="360"/>
          </a:xfrm>
          <a:prstGeom prst="line">
            <a:avLst/>
          </a:prstGeom>
          <a:ln w="38100">
            <a:solidFill>
              <a:srgbClr val="e67e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960120" y="342900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El ESP32 no interpreta el protocolo de aplicación: transporta bytes en ambos sentidos.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1005840" y="4160520"/>
            <a:ext cx="100580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228600" indent="-22860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TCP → UART: todo lo recibido por el socket se escribe en UART1.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UART → TCP: todo byte recibido por UART1 se envía al cliente TCP conectado.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Si el cliente se desconecta, el servidor vuelve a esperar otra conexión.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sldNum" idx="6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3FC8AC6-C142-4096-B3A1-478244384A1E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Arquitectura del proyecto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Separación simple por módulos: Wi‑Fi, UART y servidor TCP.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777240" y="1600200"/>
            <a:ext cx="333720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905400" y="1691640"/>
            <a:ext cx="308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main/main.c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4316040" y="1600200"/>
            <a:ext cx="70862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4443840" y="1691640"/>
            <a:ext cx="6830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Secuencia de arranque y coordinación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777240" y="2404800"/>
            <a:ext cx="3337200" cy="6580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905400" y="2496240"/>
            <a:ext cx="308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wifi/wifi.c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8"/>
          <p:cNvSpPr/>
          <p:nvPr/>
        </p:nvSpPr>
        <p:spPr>
          <a:xfrm>
            <a:off x="4316040" y="2404800"/>
            <a:ext cx="7086240" cy="6580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4443840" y="2496240"/>
            <a:ext cx="6830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Modo estación, credenciales, eventos y reconexión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777240" y="3209400"/>
            <a:ext cx="333720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905400" y="3300840"/>
            <a:ext cx="308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uart_bridge/uart_bridge.c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4316040" y="3209400"/>
            <a:ext cx="70862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4443840" y="3300840"/>
            <a:ext cx="6830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Configuración de UART1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4"/>
          <p:cNvSpPr/>
          <p:nvPr/>
        </p:nvSpPr>
        <p:spPr>
          <a:xfrm>
            <a:off x="777240" y="4014360"/>
            <a:ext cx="3337200" cy="6580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905400" y="4105800"/>
            <a:ext cx="308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tcp_server/tcp_server.c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4316040" y="4014360"/>
            <a:ext cx="7086240" cy="6580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4443840" y="4105800"/>
            <a:ext cx="6830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Socket servidor + tareas bidireccionales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777240" y="4818960"/>
            <a:ext cx="333720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905400" y="4910400"/>
            <a:ext cx="308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CMakeLists.txt / sdkconfig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0"/>
          <p:cNvSpPr/>
          <p:nvPr/>
        </p:nvSpPr>
        <p:spPr>
          <a:xfrm>
            <a:off x="4316040" y="4818960"/>
            <a:ext cx="708624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4443840" y="4910400"/>
            <a:ext cx="6830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Construcción y configuración ESP‑IDF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2"/>
          <p:cNvSpPr/>
          <p:nvPr/>
        </p:nvSpPr>
        <p:spPr>
          <a:xfrm>
            <a:off x="960120" y="580644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6f78"/>
                </a:solidFill>
                <a:effectLst/>
                <a:uFillTx/>
                <a:latin typeface="Aptos"/>
              </a:rPr>
              <a:t>Idea didáctica: cada módulo encapsula una responsabilidad concreta.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sldNum" idx="7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97A33A2-B083-4CFF-93C4-007088F6FB4F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Secuencia de arranque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Todo comienza en app_main().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685800" y="1828800"/>
            <a:ext cx="566640" cy="566640"/>
          </a:xfrm>
          <a:prstGeom prst="ellipse">
            <a:avLst/>
          </a:prstGeom>
          <a:solidFill>
            <a:srgbClr val="143d5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685800" y="19386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475560" y="2578680"/>
            <a:ext cx="9871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603360" y="2670120"/>
            <a:ext cx="731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Inicializar NVS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1270800" y="2112120"/>
            <a:ext cx="107892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2944440" y="1828800"/>
            <a:ext cx="566640" cy="566640"/>
          </a:xfrm>
          <a:prstGeom prst="ellipse">
            <a:avLst/>
          </a:prstGeom>
          <a:solidFill>
            <a:srgbClr val="143d5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2944440" y="19386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2734200" y="2578680"/>
            <a:ext cx="9871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2862000" y="2670120"/>
            <a:ext cx="731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Inicializar Wi‑Fi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3529440" y="2112120"/>
            <a:ext cx="107892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5203080" y="1828800"/>
            <a:ext cx="566640" cy="566640"/>
          </a:xfrm>
          <a:prstGeom prst="ellipse">
            <a:avLst/>
          </a:prstGeom>
          <a:solidFill>
            <a:srgbClr val="143d5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5203080" y="19386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4"/>
          <p:cNvSpPr/>
          <p:nvPr/>
        </p:nvSpPr>
        <p:spPr>
          <a:xfrm>
            <a:off x="4992480" y="2578680"/>
            <a:ext cx="9871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5120640" y="2670120"/>
            <a:ext cx="731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Inicializar UART1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6"/>
          <p:cNvSpPr/>
          <p:nvPr/>
        </p:nvSpPr>
        <p:spPr>
          <a:xfrm>
            <a:off x="5788080" y="2112120"/>
            <a:ext cx="107892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7"/>
          <p:cNvSpPr/>
          <p:nvPr/>
        </p:nvSpPr>
        <p:spPr>
          <a:xfrm>
            <a:off x="7461360" y="1828800"/>
            <a:ext cx="566640" cy="566640"/>
          </a:xfrm>
          <a:prstGeom prst="ellipse">
            <a:avLst/>
          </a:prstGeom>
          <a:solidFill>
            <a:srgbClr val="143d5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7461360" y="19386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9"/>
          <p:cNvSpPr/>
          <p:nvPr/>
        </p:nvSpPr>
        <p:spPr>
          <a:xfrm>
            <a:off x="7251120" y="2578680"/>
            <a:ext cx="9871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7379280" y="2670120"/>
            <a:ext cx="731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GPIO de estado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1"/>
          <p:cNvSpPr/>
          <p:nvPr/>
        </p:nvSpPr>
        <p:spPr>
          <a:xfrm>
            <a:off x="8046720" y="2112120"/>
            <a:ext cx="107892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2"/>
          <p:cNvSpPr/>
          <p:nvPr/>
        </p:nvSpPr>
        <p:spPr>
          <a:xfrm>
            <a:off x="9720000" y="1828800"/>
            <a:ext cx="566640" cy="56664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9720000" y="193860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4"/>
          <p:cNvSpPr/>
          <p:nvPr/>
        </p:nvSpPr>
        <p:spPr>
          <a:xfrm>
            <a:off x="9509760" y="2578680"/>
            <a:ext cx="987120" cy="95976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9637920" y="2670120"/>
            <a:ext cx="731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Iniciar servidor TCP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6"/>
          <p:cNvSpPr/>
          <p:nvPr/>
        </p:nvSpPr>
        <p:spPr>
          <a:xfrm>
            <a:off x="3154680" y="4069080"/>
            <a:ext cx="5988960" cy="1627200"/>
          </a:xfrm>
          <a:prstGeom prst="roundRect">
            <a:avLst>
              <a:gd name="adj" fmla="val 16667"/>
            </a:avLst>
          </a:prstGeom>
          <a:solidFill>
            <a:srgbClr val="101828"/>
          </a:solidFill>
          <a:ln w="12700">
            <a:solidFill>
              <a:srgbClr val="3440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3319200" y="4197240"/>
            <a:ext cx="565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void app_main(void) {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    nvs_flash_init();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    init_wifi();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    init_uart();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    init_fail_gpio();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    start_tcp_server();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3017520" y="5897880"/>
            <a:ext cx="6309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NVS se usa también para almacenar las credenciales Wi‑Fi.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8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5B04B0D-43AE-4A0F-BB1C-38B86CD7415E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Conexión Wi‑Fi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El ESP32 trabaja como estación (STA) y se conecta a un access point.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685800" y="1572840"/>
            <a:ext cx="3017160" cy="91404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2700">
            <a:solidFill>
              <a:srgbClr val="e0b1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813960" y="1664280"/>
            <a:ext cx="276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NVS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ssid + password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4572000" y="1572840"/>
            <a:ext cx="3017160" cy="914040"/>
          </a:xfrm>
          <a:prstGeom prst="roundRect">
            <a:avLst>
              <a:gd name="adj" fmla="val 8000"/>
            </a:avLst>
          </a:prstGeom>
          <a:solidFill>
            <a:srgbClr val="eaf8f4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4700160" y="1664280"/>
            <a:ext cx="276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ESP32 Wi‑Fi STA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8458200" y="1572840"/>
            <a:ext cx="3017160" cy="91404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8586360" y="1664280"/>
            <a:ext cx="276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Router / AP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3712320" y="2029680"/>
            <a:ext cx="786240" cy="360"/>
          </a:xfrm>
          <a:prstGeom prst="line">
            <a:avLst/>
          </a:prstGeom>
          <a:ln w="3048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9"/>
          <p:cNvSpPr/>
          <p:nvPr/>
        </p:nvSpPr>
        <p:spPr>
          <a:xfrm>
            <a:off x="7607520" y="2029680"/>
            <a:ext cx="777240" cy="360"/>
          </a:xfrm>
          <a:prstGeom prst="line">
            <a:avLst/>
          </a:prstGeom>
          <a:ln w="30480">
            <a:solidFill>
              <a:srgbClr val="2d6cd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868680" y="2971800"/>
            <a:ext cx="681192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228600" indent="-22860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6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Lee SSID y contraseña desde NVS; si no existen, usa valores por defecto.</a:t>
            </a:r>
            <a:endParaRPr b="0" lang="es-AR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6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Registra un handler para IP_EVENT_STA_GOT_IP y muestra IP, gateway y máscara.</a:t>
            </a:r>
            <a:endParaRPr b="0" lang="es-AR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6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Ante WIFI_EVENT_STA_DISCONNECTED llama nuevamente a esp_wifi_connect().</a:t>
            </a:r>
            <a:endParaRPr b="0" lang="es-AR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8092440" y="3182040"/>
            <a:ext cx="3154320" cy="1096920"/>
          </a:xfrm>
          <a:prstGeom prst="roundRect">
            <a:avLst>
              <a:gd name="adj" fmla="val 6667"/>
            </a:avLst>
          </a:prstGeom>
          <a:solidFill>
            <a:srgbClr val="fff3e8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8220600" y="3273480"/>
            <a:ext cx="289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Desconexión Wi‑Fi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3"/>
          <p:cNvSpPr/>
          <p:nvPr/>
        </p:nvSpPr>
        <p:spPr>
          <a:xfrm>
            <a:off x="9674280" y="4315680"/>
            <a:ext cx="360" cy="667800"/>
          </a:xfrm>
          <a:prstGeom prst="line">
            <a:avLst/>
          </a:prstGeom>
          <a:ln w="33020">
            <a:solidFill>
              <a:srgbClr val="e67e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8092440" y="5010840"/>
            <a:ext cx="3154320" cy="840960"/>
          </a:xfrm>
          <a:prstGeom prst="roundRect">
            <a:avLst>
              <a:gd name="adj" fmla="val 8696"/>
            </a:avLst>
          </a:prstGeom>
          <a:solidFill>
            <a:srgbClr val="eaf8f4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8220600" y="5102280"/>
            <a:ext cx="2898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Reconectar automáticamente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Num" idx="9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C8E64D5-9429-4DD7-9770-A865C5BCCF2E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UART1: lado serie del bridge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Configuración fija del ejemplo.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868680" y="1508760"/>
            <a:ext cx="223992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996840" y="1600200"/>
            <a:ext cx="198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UART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3246120" y="1508760"/>
            <a:ext cx="274284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3374280" y="160020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UART1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868680" y="2221920"/>
            <a:ext cx="2239920" cy="62136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996840" y="2313360"/>
            <a:ext cx="198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Baud rate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8"/>
          <p:cNvSpPr/>
          <p:nvPr/>
        </p:nvSpPr>
        <p:spPr>
          <a:xfrm>
            <a:off x="3246120" y="2221920"/>
            <a:ext cx="2742840" cy="62136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3374280" y="231336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9600 bit/s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868680" y="2935080"/>
            <a:ext cx="223992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996840" y="3026520"/>
            <a:ext cx="198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Formato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2"/>
          <p:cNvSpPr/>
          <p:nvPr/>
        </p:nvSpPr>
        <p:spPr>
          <a:xfrm>
            <a:off x="3246120" y="2935080"/>
            <a:ext cx="274284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3374280" y="302652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8N1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868680" y="3648600"/>
            <a:ext cx="2239920" cy="62136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996840" y="3740040"/>
            <a:ext cx="198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TX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6"/>
          <p:cNvSpPr/>
          <p:nvPr/>
        </p:nvSpPr>
        <p:spPr>
          <a:xfrm>
            <a:off x="3246120" y="3648600"/>
            <a:ext cx="2742840" cy="62136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3374280" y="374004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GPIO 17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8"/>
          <p:cNvSpPr/>
          <p:nvPr/>
        </p:nvSpPr>
        <p:spPr>
          <a:xfrm>
            <a:off x="868680" y="4361760"/>
            <a:ext cx="223992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996840" y="4453200"/>
            <a:ext cx="198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RX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0"/>
          <p:cNvSpPr/>
          <p:nvPr/>
        </p:nvSpPr>
        <p:spPr>
          <a:xfrm>
            <a:off x="3246120" y="4361760"/>
            <a:ext cx="274284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1"/>
          <p:cNvSpPr/>
          <p:nvPr/>
        </p:nvSpPr>
        <p:spPr>
          <a:xfrm>
            <a:off x="3374280" y="445320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GPIO 16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2"/>
          <p:cNvSpPr/>
          <p:nvPr/>
        </p:nvSpPr>
        <p:spPr>
          <a:xfrm>
            <a:off x="868680" y="5074920"/>
            <a:ext cx="2239920" cy="62136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996840" y="5166360"/>
            <a:ext cx="198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Flow control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4"/>
          <p:cNvSpPr/>
          <p:nvPr/>
        </p:nvSpPr>
        <p:spPr>
          <a:xfrm>
            <a:off x="3246120" y="5074920"/>
            <a:ext cx="2742840" cy="62136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5"/>
          <p:cNvSpPr/>
          <p:nvPr/>
        </p:nvSpPr>
        <p:spPr>
          <a:xfrm>
            <a:off x="3374280" y="516636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Deshabilitado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6"/>
          <p:cNvSpPr/>
          <p:nvPr/>
        </p:nvSpPr>
        <p:spPr>
          <a:xfrm>
            <a:off x="6903720" y="1737360"/>
            <a:ext cx="4205880" cy="1142640"/>
          </a:xfrm>
          <a:prstGeom prst="roundRect">
            <a:avLst>
              <a:gd name="adj" fmla="val 6400"/>
            </a:avLst>
          </a:prstGeom>
          <a:solidFill>
            <a:srgbClr val="eaf8f4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7"/>
          <p:cNvSpPr/>
          <p:nvPr/>
        </p:nvSpPr>
        <p:spPr>
          <a:xfrm>
            <a:off x="7031880" y="1828800"/>
            <a:ext cx="3949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ESP32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GPIO17  →  TX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8"/>
          <p:cNvSpPr/>
          <p:nvPr/>
        </p:nvSpPr>
        <p:spPr>
          <a:xfrm>
            <a:off x="6903720" y="3657600"/>
            <a:ext cx="4205880" cy="114264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9"/>
          <p:cNvSpPr/>
          <p:nvPr/>
        </p:nvSpPr>
        <p:spPr>
          <a:xfrm>
            <a:off x="7031880" y="3749040"/>
            <a:ext cx="3949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ESP32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GPIO16  ←  RX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0"/>
          <p:cNvSpPr/>
          <p:nvPr/>
        </p:nvSpPr>
        <p:spPr>
          <a:xfrm>
            <a:off x="6720840" y="525780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0392b"/>
                </a:solidFill>
                <a:effectLst/>
                <a:uFillTx/>
                <a:latin typeface="Aptos"/>
              </a:rPr>
              <a:t>Importante: compartir GND con el dispositivo serie y respetar niveles eléctricos de 3,3 V.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sldNum" idx="10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6554686-DE70-4E4E-8577-E73EF4CFBB5D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Servidor TCP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El ESP32 escucha una conexión entrante en el puerto 10234.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594360" y="1828800"/>
            <a:ext cx="196560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722520" y="1920240"/>
            <a:ext cx="1709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socket()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Crea el socket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2578320" y="2313360"/>
            <a:ext cx="28368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2926080" y="1828800"/>
            <a:ext cx="196560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3054240" y="1920240"/>
            <a:ext cx="1709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bind()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Asocia puerto 10234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4910040" y="2313360"/>
            <a:ext cx="28368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5257800" y="1828800"/>
            <a:ext cx="196560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5385960" y="1920240"/>
            <a:ext cx="1709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listen(1)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Espera conexiones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7241760" y="2313360"/>
            <a:ext cx="28368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7589520" y="1828800"/>
            <a:ext cx="1965600" cy="95976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7717680" y="1920240"/>
            <a:ext cx="1709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accept()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Acepta un cliente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9573480" y="2313360"/>
            <a:ext cx="28368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4"/>
          <p:cNvSpPr/>
          <p:nvPr/>
        </p:nvSpPr>
        <p:spPr>
          <a:xfrm>
            <a:off x="9921240" y="1828800"/>
            <a:ext cx="196560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10049400" y="1920240"/>
            <a:ext cx="1709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FreeRTOS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Lanza 2 tareas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960120" y="3337560"/>
            <a:ext cx="10240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INADDR_ANY → acepta conexiones dirigidas a cualquiera de las interfaces/IP locales.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2880360" y="4160520"/>
            <a:ext cx="6400440" cy="1325520"/>
          </a:xfrm>
          <a:prstGeom prst="roundRect">
            <a:avLst>
              <a:gd name="adj" fmla="val 16667"/>
            </a:avLst>
          </a:prstGeom>
          <a:solidFill>
            <a:srgbClr val="101828"/>
          </a:solidFill>
          <a:ln w="12700">
            <a:solidFill>
              <a:srgbClr val="3440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3044880" y="4288680"/>
            <a:ext cx="607140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server_addr.sin_port = htons(10234);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listen(listen_sock, 1);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9fafb"/>
                </a:solidFill>
                <a:effectLst/>
                <a:uFillTx/>
                <a:latin typeface="Courier New"/>
                <a:ea typeface="Courier New"/>
              </a:rPr>
              <a:t>client_sock = accept(listen_sock, ...);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sldNum" idx="11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20380F5-2801-48BA-84A5-642C2786FACB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Bridge bidireccional con dos tareas FreeRTOS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Cada dirección de datos tiene su propio loop.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731520" y="192024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859680" y="2011680"/>
            <a:ext cx="1801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Cliente TCP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5074920" y="1417320"/>
            <a:ext cx="2148480" cy="959760"/>
          </a:xfrm>
          <a:prstGeom prst="roundRect">
            <a:avLst>
              <a:gd name="adj" fmla="val 7619"/>
            </a:avLst>
          </a:prstGeom>
          <a:solidFill>
            <a:srgbClr val="fff3e8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5203080" y="1508760"/>
            <a:ext cx="1892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tcp_to_uart_task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5074920" y="3886200"/>
            <a:ext cx="2148480" cy="959760"/>
          </a:xfrm>
          <a:prstGeom prst="roundRect">
            <a:avLst>
              <a:gd name="adj" fmla="val 7619"/>
            </a:avLst>
          </a:prstGeom>
          <a:solidFill>
            <a:srgbClr val="eaf8f4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5203080" y="3977640"/>
            <a:ext cx="1892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uart_to_tcp_task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9418320" y="192024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43d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9546480" y="2011680"/>
            <a:ext cx="1801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UART1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 flipV="1">
            <a:off x="2816280" y="1874520"/>
            <a:ext cx="2167200" cy="457200"/>
          </a:xfrm>
          <a:prstGeom prst="line">
            <a:avLst/>
          </a:prstGeom>
          <a:ln w="38100">
            <a:solidFill>
              <a:srgbClr val="e67e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1"/>
          <p:cNvSpPr/>
          <p:nvPr/>
        </p:nvSpPr>
        <p:spPr>
          <a:xfrm>
            <a:off x="7241760" y="1874520"/>
            <a:ext cx="2103120" cy="457200"/>
          </a:xfrm>
          <a:prstGeom prst="line">
            <a:avLst/>
          </a:prstGeom>
          <a:ln w="38100">
            <a:solidFill>
              <a:srgbClr val="e67e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2"/>
          <p:cNvSpPr/>
          <p:nvPr/>
        </p:nvSpPr>
        <p:spPr>
          <a:xfrm flipH="1">
            <a:off x="7241760" y="2743200"/>
            <a:ext cx="2103120" cy="1627560"/>
          </a:xfrm>
          <a:prstGeom prst="line">
            <a:avLst/>
          </a:prstGeom>
          <a:ln w="38100">
            <a:solidFill>
              <a:srgbClr val="2e8b5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 flipH="1" flipV="1">
            <a:off x="2816280" y="2743200"/>
            <a:ext cx="2167200" cy="1627560"/>
          </a:xfrm>
          <a:prstGeom prst="line">
            <a:avLst/>
          </a:prstGeom>
          <a:ln w="38100">
            <a:solidFill>
              <a:srgbClr val="2e8b5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4"/>
          <p:cNvSpPr/>
          <p:nvPr/>
        </p:nvSpPr>
        <p:spPr>
          <a:xfrm>
            <a:off x="3154680" y="1353240"/>
            <a:ext cx="1096920" cy="3470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3227760" y="140832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recv()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6"/>
          <p:cNvSpPr/>
          <p:nvPr/>
        </p:nvSpPr>
        <p:spPr>
          <a:xfrm>
            <a:off x="7973640" y="1353240"/>
            <a:ext cx="1325520" cy="3470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8046720" y="1408320"/>
            <a:ext cx="1179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uart_write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8"/>
          <p:cNvSpPr/>
          <p:nvPr/>
        </p:nvSpPr>
        <p:spPr>
          <a:xfrm>
            <a:off x="7909560" y="4892040"/>
            <a:ext cx="1416960" cy="34704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9"/>
          <p:cNvSpPr/>
          <p:nvPr/>
        </p:nvSpPr>
        <p:spPr>
          <a:xfrm>
            <a:off x="7982640" y="4946760"/>
            <a:ext cx="1270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uart_read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0"/>
          <p:cNvSpPr/>
          <p:nvPr/>
        </p:nvSpPr>
        <p:spPr>
          <a:xfrm>
            <a:off x="3246120" y="4892040"/>
            <a:ext cx="959760" cy="34704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1"/>
          <p:cNvSpPr/>
          <p:nvPr/>
        </p:nvSpPr>
        <p:spPr>
          <a:xfrm>
            <a:off x="3319200" y="4946760"/>
            <a:ext cx="813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send()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2"/>
          <p:cNvSpPr/>
          <p:nvPr/>
        </p:nvSpPr>
        <p:spPr>
          <a:xfrm>
            <a:off x="1051560" y="5623560"/>
            <a:ext cx="10103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6f78"/>
                </a:solidFill>
                <a:effectLst/>
                <a:uFillTx/>
                <a:latin typeface="Aptos"/>
              </a:rPr>
              <a:t>Resultado: un flujo full‑duplex lógico — ambos sentidos pueden trabajar de manera independiente.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sldNum" idx="12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5BD719A-EB09-4A41-B8CC-3186651F1904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¿Qué ocurre si el cliente TCP se desconecta?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El código cierra el socket y vuelve a esperar una nueva conexión.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75560" y="2057400"/>
            <a:ext cx="2057040" cy="105120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603360" y="2148840"/>
            <a:ext cx="180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Cliente conectado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"/>
          <p:cNvSpPr/>
          <p:nvPr/>
        </p:nvSpPr>
        <p:spPr>
          <a:xfrm>
            <a:off x="2550960" y="2578320"/>
            <a:ext cx="22860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2825640" y="2057400"/>
            <a:ext cx="2057040" cy="1051200"/>
          </a:xfrm>
          <a:prstGeom prst="roundRect">
            <a:avLst>
              <a:gd name="adj" fmla="val 6957"/>
            </a:avLst>
          </a:prstGeom>
          <a:solidFill>
            <a:srgbClr val="fff3e8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2953440" y="2148840"/>
            <a:ext cx="180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recv/send falla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o devuelve 0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7"/>
          <p:cNvSpPr/>
          <p:nvPr/>
        </p:nvSpPr>
        <p:spPr>
          <a:xfrm>
            <a:off x="4901040" y="2578320"/>
            <a:ext cx="22860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5175360" y="2057400"/>
            <a:ext cx="2057040" cy="1051200"/>
          </a:xfrm>
          <a:prstGeom prst="roundRect">
            <a:avLst>
              <a:gd name="adj" fmla="val 6957"/>
            </a:avLst>
          </a:prstGeom>
          <a:solidFill>
            <a:srgbClr val="fdecec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5303520" y="2148840"/>
            <a:ext cx="180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shutdown() + close()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7251120" y="2578320"/>
            <a:ext cx="22860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1"/>
          <p:cNvSpPr/>
          <p:nvPr/>
        </p:nvSpPr>
        <p:spPr>
          <a:xfrm>
            <a:off x="7525440" y="2057400"/>
            <a:ext cx="2057040" cy="1051200"/>
          </a:xfrm>
          <a:prstGeom prst="roundRect">
            <a:avLst>
              <a:gd name="adj" fmla="val 6957"/>
            </a:avLst>
          </a:prstGeom>
          <a:solidFill>
            <a:srgbClr val="f2f4f7"/>
          </a:solidFill>
          <a:ln w="12700">
            <a:solidFill>
              <a:srgbClr val="143d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7653600" y="2148840"/>
            <a:ext cx="180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client_sock = -1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3"/>
          <p:cNvSpPr/>
          <p:nvPr/>
        </p:nvSpPr>
        <p:spPr>
          <a:xfrm>
            <a:off x="9601200" y="2578320"/>
            <a:ext cx="228600" cy="360"/>
          </a:xfrm>
          <a:prstGeom prst="line">
            <a:avLst/>
          </a:prstGeom>
          <a:ln w="2286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9875520" y="2057400"/>
            <a:ext cx="2057040" cy="1051200"/>
          </a:xfrm>
          <a:prstGeom prst="roundRect">
            <a:avLst>
              <a:gd name="adj" fmla="val 6957"/>
            </a:avLst>
          </a:prstGeom>
          <a:solidFill>
            <a:srgbClr val="eaf8f4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10003680" y="2148840"/>
            <a:ext cx="180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accept() de nuevo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914400" y="3794760"/>
            <a:ext cx="10332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e8b57"/>
                </a:solidFill>
                <a:effectLst/>
                <a:uFillTx/>
                <a:latin typeface="Aptos"/>
              </a:rPr>
              <a:t>Esto permite recuperar el servicio sin reiniciar el ESP32.</a:t>
            </a:r>
            <a:endParaRPr b="0" lang="es-A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914400" y="45903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0392b"/>
                </a:solidFill>
                <a:effectLst/>
                <a:uFillTx/>
                <a:latin typeface="Aptos"/>
              </a:rPr>
              <a:t>Detalle del ejemplo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914400" y="4983480"/>
            <a:ext cx="10240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Las tareas creadas no terminan al desconectarse el cliente. Si se reconecta varias veces, se vuelven a crear dos tareas nuevas y pueden quedar varias instancias activas.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sldNum" idx="13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28015BA-B652-4E94-90D4-1D284462EC41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Demostración en clase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Una secuencia simple para mostrar que el bridge funciona.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713160" y="1454040"/>
            <a:ext cx="475200" cy="475200"/>
          </a:xfrm>
          <a:prstGeom prst="ellipse">
            <a:avLst/>
          </a:prstGeom>
          <a:solidFill>
            <a:srgbClr val="143d5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713160" y="1536120"/>
            <a:ext cx="47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1389960" y="14173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Flashear y abrir monitor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4160520" y="1417320"/>
            <a:ext cx="6857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Mostrar IP asignada por DHCP.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6"/>
          <p:cNvSpPr/>
          <p:nvPr/>
        </p:nvSpPr>
        <p:spPr>
          <a:xfrm>
            <a:off x="713160" y="2368440"/>
            <a:ext cx="475200" cy="475200"/>
          </a:xfrm>
          <a:prstGeom prst="ellipse">
            <a:avLst/>
          </a:prstGeom>
          <a:solidFill>
            <a:srgbClr val="143d5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713160" y="2450520"/>
            <a:ext cx="47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1389960" y="23317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Conectar un cliente TCP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4160520" y="2331720"/>
            <a:ext cx="6857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Por ejemplo netcat/telnet o una aplicación propia al puerto 10234.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713160" y="3282840"/>
            <a:ext cx="475200" cy="475200"/>
          </a:xfrm>
          <a:prstGeom prst="ellipse">
            <a:avLst/>
          </a:prstGeom>
          <a:solidFill>
            <a:srgbClr val="143d5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713160" y="3364920"/>
            <a:ext cx="47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1389960" y="32461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Enviar bytes desde TCP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4160520" y="3246120"/>
            <a:ext cx="6857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Verificar que aparecen por TX de UART1.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713160" y="4197240"/>
            <a:ext cx="475200" cy="475200"/>
          </a:xfrm>
          <a:prstGeom prst="ellipse">
            <a:avLst/>
          </a:prstGeom>
          <a:solidFill>
            <a:srgbClr val="143d5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713160" y="4279320"/>
            <a:ext cx="47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1389960" y="41605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Enviar bytes hacia RX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4160520" y="4160520"/>
            <a:ext cx="6857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Verificar que el cliente TCP los recibe.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8"/>
          <p:cNvSpPr/>
          <p:nvPr/>
        </p:nvSpPr>
        <p:spPr>
          <a:xfrm>
            <a:off x="713160" y="5111640"/>
            <a:ext cx="475200" cy="475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713160" y="5193720"/>
            <a:ext cx="47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1389960" y="50749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Desconectar y reconectar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4160520" y="5074920"/>
            <a:ext cx="6857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Mostrar que el servidor vuelve a aceptar un cliente.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914400" y="598932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6f78"/>
                </a:solidFill>
                <a:effectLst/>
                <a:uFillTx/>
                <a:latin typeface="Aptos"/>
              </a:rPr>
              <a:t>Tip: llevar un terminal serie o un segundo microcontrolador para generar/recibir datos UART.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sldNum" idx="14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3EBA83F-3265-4144-8A3B-09B59329E8D8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567000" y="4939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d2939"/>
                </a:solidFill>
                <a:effectLst/>
                <a:uFillTx/>
                <a:latin typeface="Aptos Display"/>
                <a:ea typeface="Aptos Display"/>
              </a:rPr>
              <a:t>Ideas de mejora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594360" y="987480"/>
            <a:ext cx="1078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Buen cierre para explicar qué haríamos en una versión de producción.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"/>
          <p:cNvSpPr/>
          <p:nvPr/>
        </p:nvSpPr>
        <p:spPr>
          <a:xfrm>
            <a:off x="731520" y="1508760"/>
            <a:ext cx="5074560" cy="1225080"/>
          </a:xfrm>
          <a:prstGeom prst="roundRect">
            <a:avLst>
              <a:gd name="adj" fmla="val 5970"/>
            </a:avLst>
          </a:prstGeom>
          <a:solidFill>
            <a:srgbClr val="fdecec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859680" y="1600200"/>
            <a:ext cx="481860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Finalizar tareas al cerrar conexión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Evitar acumular tareas tras varias reconexiones.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6400800" y="1508760"/>
            <a:ext cx="5074560" cy="1225080"/>
          </a:xfrm>
          <a:prstGeom prst="roundRect">
            <a:avLst>
              <a:gd name="adj" fmla="val 5970"/>
            </a:avLst>
          </a:prstGeom>
          <a:solidFill>
            <a:srgbClr val="fff3e8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6528960" y="1600200"/>
            <a:ext cx="481860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Sincronizar client_sock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Reducir carreras entre las dos tareas y el servidor.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6"/>
          <p:cNvSpPr/>
          <p:nvPr/>
        </p:nvSpPr>
        <p:spPr>
          <a:xfrm>
            <a:off x="731520" y="3081600"/>
            <a:ext cx="5074560" cy="1225080"/>
          </a:xfrm>
          <a:prstGeom prst="roundRect">
            <a:avLst>
              <a:gd name="adj" fmla="val 5970"/>
            </a:avLst>
          </a:prstGeom>
          <a:solidFill>
            <a:srgbClr val="eaf2ff"/>
          </a:solidFill>
          <a:ln w="12700">
            <a:solidFill>
              <a:srgbClr val="2d6c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859680" y="3173040"/>
            <a:ext cx="481860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Configurar credenciales sin compilar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Portal web, provisioning o menú de configuración.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8"/>
          <p:cNvSpPr/>
          <p:nvPr/>
        </p:nvSpPr>
        <p:spPr>
          <a:xfrm>
            <a:off x="6400800" y="3081600"/>
            <a:ext cx="5074560" cy="1225080"/>
          </a:xfrm>
          <a:prstGeom prst="roundRect">
            <a:avLst>
              <a:gd name="adj" fmla="val 5970"/>
            </a:avLst>
          </a:prstGeom>
          <a:solidFill>
            <a:srgbClr val="eaf8f4"/>
          </a:solidFill>
          <a:ln w="12700">
            <a:solidFill>
              <a:srgbClr val="2e8b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6528960" y="3173040"/>
            <a:ext cx="481860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Timeouts y keepalive TCP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Detectar clientes muertos con mayor rapidez.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0"/>
          <p:cNvSpPr/>
          <p:nvPr/>
        </p:nvSpPr>
        <p:spPr>
          <a:xfrm>
            <a:off x="731520" y="4654440"/>
            <a:ext cx="5074560" cy="1225080"/>
          </a:xfrm>
          <a:prstGeom prst="roundRect">
            <a:avLst>
              <a:gd name="adj" fmla="val 5970"/>
            </a:avLst>
          </a:prstGeom>
          <a:solidFill>
            <a:srgbClr val="eaf8f4"/>
          </a:solidFill>
          <a:ln w="12700">
            <a:solidFill>
              <a:srgbClr val="1e6f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859680" y="4745880"/>
            <a:ext cx="481860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Buffering / colas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Desacoplar velocidades TCP y UART.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2"/>
          <p:cNvSpPr/>
          <p:nvPr/>
        </p:nvSpPr>
        <p:spPr>
          <a:xfrm>
            <a:off x="6400800" y="4654440"/>
            <a:ext cx="5074560" cy="1225080"/>
          </a:xfrm>
          <a:prstGeom prst="roundRect">
            <a:avLst>
              <a:gd name="adj" fmla="val 5970"/>
            </a:avLst>
          </a:prstGeom>
          <a:solidFill>
            <a:srgbClr val="f2f4f7"/>
          </a:solidFill>
          <a:ln w="12700">
            <a:solidFill>
              <a:srgbClr val="143d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3"/>
          <p:cNvSpPr/>
          <p:nvPr/>
        </p:nvSpPr>
        <p:spPr>
          <a:xfrm>
            <a:off x="6528960" y="4745880"/>
            <a:ext cx="481860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Seguridad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d2939"/>
                </a:solidFill>
                <a:effectLst/>
                <a:uFillTx/>
                <a:latin typeface="Aptos"/>
              </a:rPr>
              <a:t>Si sale de una LAN confiable, considerar autenticación/cifrado.</a:t>
            </a:r>
            <a:endParaRPr b="0" lang="es-A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4"/>
          <p:cNvSpPr/>
          <p:nvPr/>
        </p:nvSpPr>
        <p:spPr>
          <a:xfrm>
            <a:off x="914400" y="626364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43d59"/>
                </a:solidFill>
                <a:effectLst/>
                <a:uFillTx/>
                <a:latin typeface="Aptos"/>
              </a:rPr>
              <a:t>El ejemplo es ideal para enseñar sockets, eventos Wi‑Fi, UART y concurrencia con FreeRTOS en un mismo proyecto.</a:t>
            </a:r>
            <a:endParaRPr b="0" lang="es-AR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sldNum" idx="15"/>
          </p:nvPr>
        </p:nvSpPr>
        <p:spPr>
          <a:xfrm>
            <a:off x="1170432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0CBA6B7-F783-472F-83C4-1E40BC4D59B2}" type="slidenum">
              <a:rPr b="0" lang="en-US" sz="900" strike="noStrike" u="none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b="0" lang="es-A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LibreOffice/25.2.3.2$Linux_X86_64 LibreOffice_project/520$Build-2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2026-09-08T23:57:18Z</dcterms:created>
  <dc:creator>OpenAI</dc:creator>
  <dc:description/>
  <dc:language>es-AR</dc:language>
  <cp:lastModifiedBy/>
  <dcterms:modified xsi:type="dcterms:W3CDTF">2026-09-15T15:05:48Z</dcterms:modified>
  <cp:revision>2</cp:revision>
  <dc:subject>ESP32 Server Bridge UART - presentación didáctica</dc:subject>
  <dc:title>ESP32: Bridge TCP ↔ UART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